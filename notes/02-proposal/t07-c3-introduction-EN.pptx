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49fad8f1dd49ed" /><Relationship Type="http://schemas.openxmlformats.org/officeDocument/2006/relationships/extended-properties" Target="/docProps/app.xml" Id="R6d6056b4dfe14994" /><Relationship Type="http://schemas.openxmlformats.org/officeDocument/2006/relationships/officeDocument" Target="/ppt/presentation.xml" Id="R07424aad57a245dd" /></Relationships>
</file>

<file path=ppt/presentation.xml><?xml version="1.0" encoding="utf-8"?>
<p:presentation xmlns:p="http://schemas.openxmlformats.org/presentationml/2006/main">
  <p:sldMasterIdLst>
    <p:sldMasterId xmlns:r="http://schemas.openxmlformats.org/officeDocument/2006/relationships" id="2147483648" r:id="R2550d86fb0cb49c0"/>
  </p:sldMasterIdLst>
  <p:notesMasterIdLst>
    <p:notesMasterId xmlns:r="http://schemas.openxmlformats.org/officeDocument/2006/relationships" r:id="R8ede1174d6814081"/>
  </p:notesMasterIdLst>
  <p:sldIdLst>
    <p:sldId xmlns:r="http://schemas.openxmlformats.org/officeDocument/2006/relationships" id="256" r:id="Reb893e2751ae4735"/>
    <p:sldId xmlns:r="http://schemas.openxmlformats.org/officeDocument/2006/relationships" id="257" r:id="R9bc6ad62fb6d45fe"/>
    <p:sldId xmlns:r="http://schemas.openxmlformats.org/officeDocument/2006/relationships" id="258" r:id="Ra1e3293e38b24164"/>
    <p:sldId xmlns:r="http://schemas.openxmlformats.org/officeDocument/2006/relationships" id="259" r:id="R53613950b7ed4659"/>
    <p:sldId xmlns:r="http://schemas.openxmlformats.org/officeDocument/2006/relationships" id="260" r:id="R96bd0e7063e242f5"/>
    <p:sldId xmlns:r="http://schemas.openxmlformats.org/officeDocument/2006/relationships" id="261" r:id="R76c18bb0e82a4623"/>
    <p:sldId xmlns:r="http://schemas.openxmlformats.org/officeDocument/2006/relationships" id="262" r:id="R01eb5bf641be48e3"/>
    <p:sldId xmlns:r="http://schemas.openxmlformats.org/officeDocument/2006/relationships" id="263" r:id="R377b12b1d9814d85"/>
    <p:sldId xmlns:r="http://schemas.openxmlformats.org/officeDocument/2006/relationships" id="264" r:id="R17b2d76871114190"/>
    <p:sldId xmlns:r="http://schemas.openxmlformats.org/officeDocument/2006/relationships" id="265" r:id="R4e42de715a5f409f"/>
    <p:sldId xmlns:r="http://schemas.openxmlformats.org/officeDocument/2006/relationships" id="266" r:id="R2f3c5379fb6a4c2a"/>
    <p:sldId xmlns:r="http://schemas.openxmlformats.org/officeDocument/2006/relationships" id="267" r:id="R61597f48ea2443dc"/>
    <p:sldId xmlns:r="http://schemas.openxmlformats.org/officeDocument/2006/relationships" id="268" r:id="R53db96e48bad41a9"/>
    <p:sldId xmlns:r="http://schemas.openxmlformats.org/officeDocument/2006/relationships" id="269" r:id="R28249afb1ae64526"/>
    <p:sldId xmlns:r="http://schemas.openxmlformats.org/officeDocument/2006/relationships" id="270" r:id="R4d0f56c4a80648d9"/>
    <p:sldId xmlns:r="http://schemas.openxmlformats.org/officeDocument/2006/relationships" id="271" r:id="R15834b4a5d414103"/>
    <p:sldId xmlns:r="http://schemas.openxmlformats.org/officeDocument/2006/relationships" id="272" r:id="R266c77d52d2f4fa6"/>
    <p:sldId xmlns:r="http://schemas.openxmlformats.org/officeDocument/2006/relationships" id="273" r:id="R36069364685142e4"/>
    <p:sldId xmlns:r="http://schemas.openxmlformats.org/officeDocument/2006/relationships" id="274" r:id="R8789d6d804434a14"/>
    <p:sldId xmlns:r="http://schemas.openxmlformats.org/officeDocument/2006/relationships" id="275" r:id="Ra42e7fc0b35f4f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d156f15c90648fc" /><Relationship Type="http://schemas.openxmlformats.org/officeDocument/2006/relationships/slideMaster" Target="/ppt/slideMasters/slideMaster1.xml" Id="R2550d86fb0cb49c0" /><Relationship Type="http://schemas.openxmlformats.org/officeDocument/2006/relationships/notesMaster" Target="/ppt/notesMasters/notesMaster1.xml" Id="R8ede1174d6814081" /><Relationship Type="http://schemas.openxmlformats.org/officeDocument/2006/relationships/presProps" Target="/ppt/presProps.xml" Id="Ra48a388f9b224c52" /><Relationship Type="http://schemas.openxmlformats.org/officeDocument/2006/relationships/tableStyles" Target="/ppt/tableStyles.xml" Id="Refa69511cf4c4ddd" /><Relationship Type="http://schemas.openxmlformats.org/officeDocument/2006/relationships/slide" Target="/ppt/slides/slide1.xml" Id="Reb893e2751ae4735" /><Relationship Type="http://schemas.openxmlformats.org/officeDocument/2006/relationships/slide" Target="/ppt/slides/slide2.xml" Id="R9bc6ad62fb6d45fe" /><Relationship Type="http://schemas.openxmlformats.org/officeDocument/2006/relationships/slide" Target="/ppt/slides/slide3.xml" Id="Ra1e3293e38b24164" /><Relationship Type="http://schemas.openxmlformats.org/officeDocument/2006/relationships/slide" Target="/ppt/slides/slide4.xml" Id="R53613950b7ed4659" /><Relationship Type="http://schemas.openxmlformats.org/officeDocument/2006/relationships/slide" Target="/ppt/slides/slide5.xml" Id="R96bd0e7063e242f5" /><Relationship Type="http://schemas.openxmlformats.org/officeDocument/2006/relationships/slide" Target="/ppt/slides/slide6.xml" Id="R76c18bb0e82a4623" /><Relationship Type="http://schemas.openxmlformats.org/officeDocument/2006/relationships/slide" Target="/ppt/slides/slide7.xml" Id="R01eb5bf641be48e3" /><Relationship Type="http://schemas.openxmlformats.org/officeDocument/2006/relationships/slide" Target="/ppt/slides/slide8.xml" Id="R377b12b1d9814d85" /><Relationship Type="http://schemas.openxmlformats.org/officeDocument/2006/relationships/slide" Target="/ppt/slides/slide9.xml" Id="R17b2d76871114190" /><Relationship Type="http://schemas.openxmlformats.org/officeDocument/2006/relationships/slide" Target="/ppt/slides/slide10.xml" Id="R4e42de715a5f409f" /><Relationship Type="http://schemas.openxmlformats.org/officeDocument/2006/relationships/slide" Target="/ppt/slides/slide11.xml" Id="R2f3c5379fb6a4c2a" /><Relationship Type="http://schemas.openxmlformats.org/officeDocument/2006/relationships/slide" Target="/ppt/slides/slide12.xml" Id="R61597f48ea2443dc" /><Relationship Type="http://schemas.openxmlformats.org/officeDocument/2006/relationships/slide" Target="/ppt/slides/slide13.xml" Id="R53db96e48bad41a9" /><Relationship Type="http://schemas.openxmlformats.org/officeDocument/2006/relationships/slide" Target="/ppt/slides/slide14.xml" Id="R28249afb1ae64526" /><Relationship Type="http://schemas.openxmlformats.org/officeDocument/2006/relationships/slide" Target="/ppt/slides/slide15.xml" Id="R4d0f56c4a80648d9" /><Relationship Type="http://schemas.openxmlformats.org/officeDocument/2006/relationships/slide" Target="/ppt/slides/slide16.xml" Id="R15834b4a5d414103" /><Relationship Type="http://schemas.openxmlformats.org/officeDocument/2006/relationships/slide" Target="/ppt/slides/slide17.xml" Id="R266c77d52d2f4fa6" /><Relationship Type="http://schemas.openxmlformats.org/officeDocument/2006/relationships/slide" Target="/ppt/slides/slide18.xml" Id="R36069364685142e4" /><Relationship Type="http://schemas.openxmlformats.org/officeDocument/2006/relationships/slide" Target="/ppt/slides/slide19.xml" Id="R8789d6d804434a14" /><Relationship Type="http://schemas.openxmlformats.org/officeDocument/2006/relationships/slide" Target="/ppt/slides/slide20.xml" Id="Ra42e7fc0b35f4f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4b77ecd54f04dd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d0bf4ba2f14226" /><Relationship Type="http://schemas.openxmlformats.org/officeDocument/2006/relationships/notesMaster" Target="/ppt/notesMasters/notesMaster1.xml" Id="Rb6ab4928a7194a0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26baa7441c41c2" /><Relationship Type="http://schemas.openxmlformats.org/officeDocument/2006/relationships/notesMaster" Target="/ppt/notesMasters/notesMaster1.xml" Id="R5d051bf0644a44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2b3db4434d478b" /><Relationship Type="http://schemas.openxmlformats.org/officeDocument/2006/relationships/notesMaster" Target="/ppt/notesMasters/notesMaster1.xml" Id="R69fa0e5e515c4d23"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4438a054cf4f1a" /><Relationship Type="http://schemas.openxmlformats.org/officeDocument/2006/relationships/notesMaster" Target="/ppt/notesMasters/notesMaster1.xml" Id="R18a7c0586f4147d2" /></Relationships>
</file>

<file path=ppt/notesSlides/_rels/notesSlide5.xml.rels>&#65279;<?xml version="1.0" encoding="utf-8"?><Relationships xmlns="http://schemas.openxmlformats.org/package/2006/relationships"><Relationship Type="http://schemas.openxmlformats.org/officeDocument/2006/relationships/slide" Target="/ppt/slides/slide5.xml" Id="R440aa7cf05f54b6b" /><Relationship Type="http://schemas.openxmlformats.org/officeDocument/2006/relationships/notesMaster" Target="/ppt/notesMasters/notesMaster1.xml" Id="Rbe8c1831e736491e" /></Relationships>
</file>

<file path=ppt/notesSlides/_rels/notesSlide6.xml.rels>&#65279;<?xml version="1.0" encoding="utf-8"?><Relationships xmlns="http://schemas.openxmlformats.org/package/2006/relationships"><Relationship Type="http://schemas.openxmlformats.org/officeDocument/2006/relationships/slide" Target="/ppt/slides/slide6.xml" Id="R53202c3f55cf48f7" /><Relationship Type="http://schemas.openxmlformats.org/officeDocument/2006/relationships/notesMaster" Target="/ppt/notesMasters/notesMaster1.xml" Id="Rbd3c3bf2e80f4f28" /></Relationships>
</file>

<file path=ppt/notesSlides/_rels/notesSlide7.xml.rels>&#65279;<?xml version="1.0" encoding="utf-8"?><Relationships xmlns="http://schemas.openxmlformats.org/package/2006/relationships"><Relationship Type="http://schemas.openxmlformats.org/officeDocument/2006/relationships/slide" Target="/ppt/slides/slide7.xml" Id="Rafe02834b3cf4ab6" /><Relationship Type="http://schemas.openxmlformats.org/officeDocument/2006/relationships/notesMaster" Target="/ppt/notesMasters/notesMaster1.xml" Id="R085c97f934284feb" /></Relationships>
</file>

<file path=ppt/notesSlides/_rels/notesSlide8.xml.rels>&#65279;<?xml version="1.0" encoding="utf-8"?><Relationships xmlns="http://schemas.openxmlformats.org/package/2006/relationships"><Relationship Type="http://schemas.openxmlformats.org/officeDocument/2006/relationships/slide" Target="/ppt/slides/slide8.xml" Id="R99ae1f2f236e4f3e" /><Relationship Type="http://schemas.openxmlformats.org/officeDocument/2006/relationships/notesMaster" Target="/ppt/notesMasters/notesMaster1.xml" Id="R4cfb83f5862149c9" /></Relationships>
</file>

<file path=ppt/notesSlides/_rels/notesSlide9.xml.rels>&#65279;<?xml version="1.0" encoding="utf-8"?><Relationships xmlns="http://schemas.openxmlformats.org/package/2006/relationships"><Relationship Type="http://schemas.openxmlformats.org/officeDocument/2006/relationships/slide" Target="/ppt/slides/slide9.xml" Id="Rf8bd4ce92b184662" /><Relationship Type="http://schemas.openxmlformats.org/officeDocument/2006/relationships/notesMaster" Target="/ppt/notesMasters/notesMaster1.xml" Id="R5e4aeef8e464427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010235f5cdd4b73" /><Relationship Type="http://schemas.openxmlformats.org/officeDocument/2006/relationships/notesMaster" Target="/ppt/notesMasters/notesMaster1.xml" Id="R2a97a0ff3bdd4c1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8900b901f354d8f" /><Relationship Type="http://schemas.openxmlformats.org/officeDocument/2006/relationships/notesMaster" Target="/ppt/notesMasters/notesMaster1.xml" Id="R51222dcb59af41c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c8ed6c410c64627" /><Relationship Type="http://schemas.openxmlformats.org/officeDocument/2006/relationships/notesMaster" Target="/ppt/notesMasters/notesMaster1.xml" Id="R5488b4e58f2247b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0c35fcd12954d60" /><Relationship Type="http://schemas.openxmlformats.org/officeDocument/2006/relationships/notesMaster" Target="/ppt/notesMasters/notesMaster1.xml" Id="R7cb1af7c47d243d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6ccfb0776fb49d2" /><Relationship Type="http://schemas.openxmlformats.org/officeDocument/2006/relationships/notesMaster" Target="/ppt/notesMasters/notesMaster1.xml" Id="R0498de549292419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98f87cd1e7144b7" /><Relationship Type="http://schemas.openxmlformats.org/officeDocument/2006/relationships/notesMaster" Target="/ppt/notesMasters/notesMaster1.xml" Id="Ra5bad8055198476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c7706fdeec34975" /><Relationship Type="http://schemas.openxmlformats.org/officeDocument/2006/relationships/notesMaster" Target="/ppt/notesMasters/notesMaster1.xml" Id="Rcdf3aa03739140e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d6091eb21c54139" /><Relationship Type="http://schemas.openxmlformats.org/officeDocument/2006/relationships/notesMaster" Target="/ppt/notesMasters/notesMaster1.xml" Id="Ra0cda98cf7db43a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9887588b50e439b" /><Relationship Type="http://schemas.openxmlformats.org/officeDocument/2006/relationships/notesMaster" Target="/ppt/notesMasters/notesMaster1.xml" Id="R05e72f3a0da44ef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e3f5a3c798a4a49" /><Relationship Type="http://schemas.openxmlformats.org/officeDocument/2006/relationships/notesMaster" Target="/ppt/notesMasters/notesMaster1.xml" Id="R66b934bf1bec484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6075c0b515c4c02" /><Relationship Type="http://schemas.openxmlformats.org/officeDocument/2006/relationships/notesMaster" Target="/ppt/notesMasters/notesMaster1.xml" Id="R120f68902c1548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25 seconds.</a:t>
            </a:r>
          </a:p>
          <a:p xmlns:a="http://schemas.openxmlformats.org/drawingml/2006/main">
            <a:r>
              <a:t/>
            </a:r>
          </a:p>
          <a:p xmlns:a="http://schemas.openxmlformats.org/drawingml/2006/main">
            <a:r>
              <a:t>Our project studies tiny objects in aerial images, especially objects that are rotated. We focus on how YOLO selects positions that learn an object during training. Today we introduce the problem, our proposed method and the experiments we plan to run. This is a proposal presentation, not a report of completed training results.</a:t>
            </a:r>
          </a:p>
          <a:p xmlns:a="http://schemas.openxmlformats.org/drawingml/2006/main">
            <a:r>
              <a:t/>
            </a:r>
          </a:p>
          <a:p xmlns:a="http://schemas.openxmlformats.org/drawingml/2006/main">
            <a:r>
              <a:t>Sources and asset credits:</a:t>
            </a:r>
          </a:p>
          <a:p xmlns:a="http://schemas.openxmlformats.org/drawingml/2006/main">
            <a:r>
              <a:t>Project proposal: NCKH/notes/t07-c3-proposal-v2-EN.pdf, 2026-10-08, C-10 revision of C-3. Proposed study. No model-training results have been produced.</a:t>
            </a:r>
          </a:p>
          <a:p xmlns:a="http://schemas.openxmlformats.org/drawingml/2006/main">
            <a:r>
              <a:t/>
            </a:r>
          </a:p>
          <a:p xmlns:a="http://schemas.openxmlformats.org/drawingml/2006/main">
            <a:r>
              <a:t>Team names supplied by the user in this conversation: Võ Đức Nhật, Trần Lợi Kiều Nhi, Trần Nguyễn Minh Hải, Nguyễn Tấn Tài. Group 7. Original FPT logo supplied by the user, embedded unchanged.</a:t>
            </a:r>
          </a:p>
          <a:p xmlns:a="http://schemas.openxmlformats.org/drawingml/2006/main">
            <a:r>
              <a:t/>
            </a:r>
          </a:p>
          <a:p xmlns:a="http://schemas.openxmlformats.org/drawingml/2006/main">
            <a:r>
              <a:t>Conceptual illustration generated for this presentation. It is not a dataset sample, model prediction, or experimental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20 seconds.</a:t>
            </a:r>
          </a:p>
          <a:p xmlns:a="http://schemas.openxmlformats.org/drawingml/2006/main">
            <a:r>
              <a:t/>
            </a:r>
          </a:p>
          <a:p xmlns:a="http://schemas.openxmlformats.org/drawingml/2006/main">
            <a:r>
              <a:t>We are Group 7. Introduce the four members briefly. Our project belongs to the aerial-object-detection topic and studies a specific training bottleneck in YOLO-OBB.</a:t>
            </a:r>
          </a:p>
          <a:p xmlns:a="http://schemas.openxmlformats.org/drawingml/2006/main">
            <a:r>
              <a:t/>
            </a:r>
          </a:p>
          <a:p xmlns:a="http://schemas.openxmlformats.org/drawingml/2006/main">
            <a:r>
              <a:t>Sources and asset credits:</a:t>
            </a:r>
          </a:p>
          <a:p xmlns:a="http://schemas.openxmlformats.org/drawingml/2006/main">
            <a:r>
              <a:t>Team names supplied by the user in this conversation: Võ Đức Nhật, Trần Lợi Kiều Nhi, Trần Nguyễn Minh Hải, Nguyễn Tấn Tài. Group 7. Original FPT logo supplied by the user, embedded unchanged.</a:t>
            </a:r>
          </a:p>
          <a:p xmlns:a="http://schemas.openxmlformats.org/drawingml/2006/main">
            <a:r>
              <a:t/>
            </a:r>
          </a:p>
          <a:p xmlns:a="http://schemas.openxmlformats.org/drawingml/2006/main">
            <a:r>
              <a:t>Project proposal: NCKH/notes/t07-c3-proposal-v2-EN.pdf, 2026-10-08, C-10 revision of C-3. Proposed study. No model-training results have been produced.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35 seconds.</a:t>
            </a:r>
          </a:p>
          <a:p xmlns:a="http://schemas.openxmlformats.org/drawingml/2006/main">
            <a:r>
              <a:t/>
            </a:r>
          </a:p>
          <a:p xmlns:a="http://schemas.openxmlformats.org/drawingml/2006/main">
            <a:r>
              <a:t>Aerial images provide a wide view of roads and ports. They are useful for monitoring vehicles and ships, but the wide view also makes individual objects appear very small. This motivates our study. These are possible application contexts, not systems we have deployed.</a:t>
            </a:r>
          </a:p>
          <a:p xmlns:a="http://schemas.openxmlformats.org/drawingml/2006/main">
            <a:r>
              <a:t/>
            </a:r>
          </a:p>
          <a:p xmlns:a="http://schemas.openxmlformats.org/drawingml/2006/main">
            <a:r>
              <a:t>Sources and asset credits:</a:t>
            </a:r>
          </a:p>
          <a:p xmlns:a="http://schemas.openxmlformats.org/drawingml/2006/main">
            <a:r>
              <a:t>Xu et al., Oriented Tiny Object Detection: A Dataset, Benchmark, and Dynamic Unbiased Learning. Read as arXiv:2412.11582v1, physical pp. 3–4, Table I and Section III. Publication DOI: 10.1109/TPAMI.2025.3634161. Local source: NCKH/papers/Xu2024-AI-TOD-R-oriented-tiny.pdf.</a:t>
            </a:r>
          </a:p>
          <a:p xmlns:a="http://schemas.openxmlformats.org/drawingml/2006/main">
            <a:r>
              <a:t/>
            </a:r>
          </a:p>
          <a:p xmlns:a="http://schemas.openxmlformats.org/drawingml/2006/main">
            <a:r>
              <a:t>Conceptual illustration generated for this presentation. It is not a dataset sample, model prediction, or experimental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40 seconds.</a:t>
            </a:r>
          </a:p>
          <a:p xmlns:a="http://schemas.openxmlformats.org/drawingml/2006/main">
            <a:r>
              <a:t/>
            </a:r>
          </a:p>
          <a:p xmlns:a="http://schemas.openxmlformats.org/drawingml/2006/main">
            <a:r>
              <a:t>Imagine enlarging a tiny car in an aerial image. We see only a small collection of pixels. A one-pixel shift is much more significant for this object than for a large object. Feature extraction and localization are difficult, and the object may also receive too few training samples.</a:t>
            </a:r>
          </a:p>
          <a:p xmlns:a="http://schemas.openxmlformats.org/drawingml/2006/main">
            <a:r>
              <a:t/>
            </a:r>
          </a:p>
          <a:p xmlns:a="http://schemas.openxmlformats.org/drawingml/2006/main">
            <a:r>
              <a:t>Sources and asset credits:</a:t>
            </a:r>
          </a:p>
          <a:p xmlns:a="http://schemas.openxmlformats.org/drawingml/2006/main">
            <a:r>
              <a:t>Xu et al., Oriented Tiny Object Detection: A Dataset, Benchmark, and Dynamic Unbiased Learning. Read as arXiv:2412.11582v1, physical pp. 3–4, Table I and Section III. Publication DOI: 10.1109/TPAMI.2025.3634161. Local source: NCKH/papers/Xu2024-AI-TOD-R-oriented-tiny.pdf.</a:t>
            </a:r>
          </a:p>
          <a:p xmlns:a="http://schemas.openxmlformats.org/drawingml/2006/main">
            <a:r>
              <a:t/>
            </a:r>
          </a:p>
          <a:p xmlns:a="http://schemas.openxmlformats.org/drawingml/2006/main">
            <a:r>
              <a:t>Jocher et al., Ultralytics YOLO26: Unified Real-Time End-to-End Vision Models, arXiv:2606.03748v1, pp. 7–8, equations 4–6 and Section 3.2. Local source: NCKH/papers/Jocher2026-YOLO26.pdf. Read as a preprint.</a:t>
            </a:r>
          </a:p>
          <a:p xmlns:a="http://schemas.openxmlformats.org/drawingml/2006/main">
            <a:r>
              <a:t/>
            </a:r>
          </a:p>
          <a:p xmlns:a="http://schemas.openxmlformats.org/drawingml/2006/main">
            <a:r>
              <a:t>Conceptual illustration generated for this presentation. It is not a dataset sample, model prediction, or experimental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35 seconds.</a:t>
            </a:r>
          </a:p>
          <a:p xmlns:a="http://schemas.openxmlformats.org/drawingml/2006/main">
            <a:r>
              <a:t/>
            </a:r>
          </a:p>
          <a:p xmlns:a="http://schemas.openxmlformats.org/drawingml/2006/main">
            <a:r>
              <a:t>A horizontal box stays aligned with the image. A rotated box follows the object. For a long ship, this representation can fit its footprint more tightly. OBB means oriented bounding box. Our study combines the difficulty of small size with the difficulty of arbitrary orientation.</a:t>
            </a:r>
          </a:p>
          <a:p xmlns:a="http://schemas.openxmlformats.org/drawingml/2006/main">
            <a:r>
              <a:t/>
            </a:r>
          </a:p>
          <a:p xmlns:a="http://schemas.openxmlformats.org/drawingml/2006/main">
            <a:r>
              <a:t>Sources and asset credits:</a:t>
            </a:r>
          </a:p>
          <a:p xmlns:a="http://schemas.openxmlformats.org/drawingml/2006/main">
            <a:r>
              <a:t>Xu et al., Oriented Tiny Object Detection: A Dataset, Benchmark, and Dynamic Unbiased Learning. Read as arXiv:2412.11582v1, physical pp. 3–4, Table I and Section III. Publication DOI: 10.1109/TPAMI.2025.3634161. Local source: NCKH/papers/Xu2024-AI-TOD-R-oriented-tiny.pdf.</a:t>
            </a:r>
          </a:p>
          <a:p xmlns:a="http://schemas.openxmlformats.org/drawingml/2006/main">
            <a:r>
              <a:t/>
            </a:r>
          </a:p>
          <a:p xmlns:a="http://schemas.openxmlformats.org/drawingml/2006/main">
            <a:r>
              <a:t>Conceptual illustration generated for this presentation. It is not a dataset sample, model prediction, or experimental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40 seconds.</a:t>
            </a:r>
          </a:p>
          <a:p xmlns:a="http://schemas.openxmlformats.org/drawingml/2006/main">
            <a:r>
              <a:t/>
            </a:r>
          </a:p>
          <a:p xmlns:a="http://schemas.openxmlformats.org/drawingml/2006/main">
            <a:r>
              <a:t>AI-TOD-R is designed for tiny oriented objects. It contains 28,036 images and 752,460 annotations across eight classes. The published mean object size is only 10.6 pixels, with a standard deviation of 4.9 pixels. These are statistics from the dataset paper, not outcomes of our project. The source image on the right is the Dataset panel of Figure 1, extracted without redrawing.</a:t>
            </a:r>
          </a:p>
          <a:p xmlns:a="http://schemas.openxmlformats.org/drawingml/2006/main">
            <a:r>
              <a:t/>
            </a:r>
          </a:p>
          <a:p xmlns:a="http://schemas.openxmlformats.org/drawingml/2006/main">
            <a:r>
              <a:t>Sources and asset credits:</a:t>
            </a:r>
          </a:p>
          <a:p xmlns:a="http://schemas.openxmlformats.org/drawingml/2006/main">
            <a:r>
              <a:t>Xu et al., Oriented Tiny Object Detection: A Dataset, Benchmark, and Dynamic Unbiased Learning. Read as arXiv:2412.11582v1, physical pp. 3–4, Table I and Section III. Publication DOI: 10.1109/TPAMI.2025.3634161. Local source: NCKH/papers/Xu2024-AI-TOD-R-oriented-tiny.pdf.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40 seconds.</a:t>
            </a:r>
          </a:p>
          <a:p xmlns:a="http://schemas.openxmlformats.org/drawingml/2006/main">
            <a:r>
              <a:t/>
            </a:r>
          </a:p>
          <a:p xmlns:a="http://schemas.openxmlformats.org/drawingml/2006/main">
            <a:r>
              <a:t>YOLO extracts feature maps and predicts boxes and object classes. During training, label assignment determines which prediction locations learn which labeled object. We focus on that training step. The drawing simplifies the pipeline. Assignment is a training operation, not a module that processes ground-truth labels at inference time. The proposed modification leaves the inference architecture unchanged.</a:t>
            </a:r>
          </a:p>
          <a:p xmlns:a="http://schemas.openxmlformats.org/drawingml/2006/main">
            <a:r>
              <a:t/>
            </a:r>
          </a:p>
          <a:p xmlns:a="http://schemas.openxmlformats.org/drawingml/2006/main">
            <a:r>
              <a:t>Sources and asset credits:</a:t>
            </a:r>
          </a:p>
          <a:p xmlns:a="http://schemas.openxmlformats.org/drawingml/2006/main">
            <a:r>
              <a:t>Project proposal: NCKH/notes/t07-c3-proposal-v2-EN.pdf, 2026-10-08, C-10 revision of C-3. Proposed study. No model-training results have been produced.</a:t>
            </a:r>
          </a:p>
          <a:p xmlns:a="http://schemas.openxmlformats.org/drawingml/2006/main">
            <a:r>
              <a:t/>
            </a:r>
          </a:p>
          <a:p xmlns:a="http://schemas.openxmlformats.org/drawingml/2006/main">
            <a:r>
              <a:t>Jocher et al., Ultralytics YOLO26: Unified Real-Time End-to-End Vision Models, arXiv:2606.03748v1, pp. 7–8, equations 4–6 and Section 3.2. Local source: NCKH/papers/Jocher2026-YOLO26.pdf. Read as a preprint.</a:t>
            </a:r>
          </a:p>
          <a:p xmlns:a="http://schemas.openxmlformats.org/drawingml/2006/main">
            <a:r>
              <a:t/>
            </a:r>
          </a:p>
          <a:p xmlns:a="http://schemas.openxmlformats.org/drawingml/2006/main">
            <a:r>
              <a:t>Conceptual illustration generated for this presentation. It is not a dataset sample, model prediction, or experimental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45 seconds.</a:t>
            </a:r>
          </a:p>
          <a:p xmlns:a="http://schemas.openxmlformats.org/drawingml/2006/main">
            <a:r>
              <a:t/>
            </a:r>
          </a:p>
          <a:p xmlns:a="http://schemas.openxmlformats.org/drawingml/2006/main">
            <a:r>
              <a:t>The model predicts at feature-map locations called anchor points. A point inside a candidate region is eligible to learn the object. Eligibility does not automatically make it a positive training sample. Later scoring and conflict handling choose the final assignments. Ground truth, or GT, means the object annotation.</a:t>
            </a:r>
          </a:p>
          <a:p xmlns:a="http://schemas.openxmlformats.org/drawingml/2006/main">
            <a:r>
              <a:t/>
            </a:r>
          </a:p>
          <a:p xmlns:a="http://schemas.openxmlformats.org/drawingml/2006/main">
            <a:r>
              <a:t>Sources and asset credits:</a:t>
            </a:r>
          </a:p>
          <a:p xmlns:a="http://schemas.openxmlformats.org/drawingml/2006/main">
            <a:r>
              <a:t>Jocher et al., Ultralytics YOLO26: Unified Real-Time End-to-End Vision Models, arXiv:2606.03748v1, pp. 7–8, equations 4–6 and Section 3.2. Local source: NCKH/papers/Jocher2026-YOLO26.pdf. Read as a preprint.</a:t>
            </a:r>
          </a:p>
          <a:p xmlns:a="http://schemas.openxmlformats.org/drawingml/2006/main">
            <a:r>
              <a:t/>
            </a:r>
          </a:p>
          <a:p xmlns:a="http://schemas.openxmlformats.org/drawingml/2006/main">
            <a:r>
              <a:t>Local frozen code evidence: NCKH/papers/_text/ultralytics_tal_main_2026-10-01.py, lines 365–425. Version history recorded in NCKH/notes/t07-c3-novelty-rescan.md, Section B.2. Rules in this deck are explicit experimental definitions, not a claim about future package versions.</a:t>
            </a:r>
          </a:p>
          <a:p xmlns:a="http://schemas.openxmlformats.org/drawingml/2006/main">
            <a:r>
              <a:t/>
            </a:r>
          </a:p>
          <a:p xmlns:a="http://schemas.openxmlformats.org/drawingml/2006/main">
            <a:r>
              <a:t>Conceptual illustration generated for this presentation. It is not a dataset sample, model prediction, or experimental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40 seconds.</a:t>
            </a:r>
          </a:p>
          <a:p xmlns:a="http://schemas.openxmlformats.org/drawingml/2006/main">
            <a:r>
              <a:t/>
            </a:r>
          </a:p>
          <a:p xmlns:a="http://schemas.openxmlformats.org/drawingml/2006/main">
            <a:r>
              <a:t>Here the orange box falls between anchor centers. No point lies inside it, so the initial candidate filter returns an empty set for this object. This is one possible failure mode. It does not happen to every tiny object. Whether it occurs also depends on the shape, orientation and position relative to the lattice.</a:t>
            </a:r>
          </a:p>
          <a:p xmlns:a="http://schemas.openxmlformats.org/drawingml/2006/main">
            <a:r>
              <a:t/>
            </a:r>
          </a:p>
          <a:p xmlns:a="http://schemas.openxmlformats.org/drawingml/2006/main">
            <a:r>
              <a:t>Sources and asset credits:</a:t>
            </a:r>
          </a:p>
          <a:p xmlns:a="http://schemas.openxmlformats.org/drawingml/2006/main">
            <a:r>
              <a:t>Jocher et al., Ultralytics YOLO26: Unified Real-Time End-to-End Vision Models, arXiv:2606.03748v1, pp. 7–8, equations 4–6 and Section 3.2. Local source: NCKH/papers/Jocher2026-YOLO26.pdf. Read as a preprint.</a:t>
            </a:r>
          </a:p>
          <a:p xmlns:a="http://schemas.openxmlformats.org/drawingml/2006/main">
            <a:r>
              <a:t/>
            </a:r>
          </a:p>
          <a:p xmlns:a="http://schemas.openxmlformats.org/drawingml/2006/main">
            <a:r>
              <a:t>Scope correction from proposal review, 2026-10-08: equal area implies equal expected candidate count only under a uniform lattice offset. It does not imply equal zero-candidate probability. Size sqrt(w*h) does not imply both sides fall in the same size interval. Omit the proposal's broad never-evaluated statement about STAL.</a:t>
            </a:r>
          </a:p>
          <a:p xmlns:a="http://schemas.openxmlformats.org/drawingml/2006/main">
            <a:r>
              <a:t/>
            </a:r>
          </a:p>
          <a:p xmlns:a="http://schemas.openxmlformats.org/drawingml/2006/main">
            <a:r>
              <a:t>Conceptual illustration generated for this presentation. It is not a dataset sample, model prediction, or experimental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40 seconds.</a:t>
            </a:r>
          </a:p>
          <a:p xmlns:a="http://schemas.openxmlformats.org/drawingml/2006/main">
            <a:r>
              <a:t/>
            </a:r>
          </a:p>
          <a:p xmlns:a="http://schemas.openxmlformats.org/drawingml/2006/main">
            <a:r>
              <a:t>STAL stands for Small-Target-Aware Label Assignment. It expands the region used to find candidates for a tiny object. The original annotation remains the regression target and is used in scoring. We are enlarging the area in which the model looks for training points, not pretending that the actual object is larger. This diagram is conceptual and does not reproduce the exact per-side threshold rule.</a:t>
            </a:r>
          </a:p>
          <a:p xmlns:a="http://schemas.openxmlformats.org/drawingml/2006/main">
            <a:r>
              <a:t/>
            </a:r>
          </a:p>
          <a:p xmlns:a="http://schemas.openxmlformats.org/drawingml/2006/main">
            <a:r>
              <a:t>Sources and asset credits:</a:t>
            </a:r>
          </a:p>
          <a:p xmlns:a="http://schemas.openxmlformats.org/drawingml/2006/main">
            <a:r>
              <a:t>Jocher et al., Ultralytics YOLO26: Unified Real-Time End-to-End Vision Models, arXiv:2606.03748v1, pp. 7–8, equations 4–6 and Section 3.2. Local source: NCKH/papers/Jocher2026-YOLO26.pdf. Read as a preprint.</a:t>
            </a:r>
          </a:p>
          <a:p xmlns:a="http://schemas.openxmlformats.org/drawingml/2006/main">
            <a:r>
              <a:t/>
            </a:r>
          </a:p>
          <a:p xmlns:a="http://schemas.openxmlformats.org/drawingml/2006/main">
            <a:r>
              <a:t>Local frozen code evidence: NCKH/papers/_text/ultralytics_tal_main_2026-10-01.py, lines 365–425. Version history recorded in NCKH/notes/t07-c3-novelty-rescan.md, Section B.2. Rules in this deck are explicit experimental definitions, not a claim about future package versions.</a:t>
            </a:r>
          </a:p>
          <a:p xmlns:a="http://schemas.openxmlformats.org/drawingml/2006/main">
            <a:r>
              <a:t/>
            </a:r>
          </a:p>
          <a:p xmlns:a="http://schemas.openxmlformats.org/drawingml/2006/main">
            <a:r>
              <a:t>Conceptual illustration generated for this presentation. It is not a dataset sample, model prediction, or experimental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45 seconds.</a:t>
            </a:r>
          </a:p>
          <a:p xmlns:a="http://schemas.openxmlformats.org/drawingml/2006/main">
            <a:r>
              <a:t/>
            </a:r>
          </a:p>
          <a:p xmlns:a="http://schemas.openxmlformats.org/drawingml/2006/main">
            <a:r>
              <a:t>We will compare three explicit rules in a frozen code version. The published STAL rule changes a side below eight pixels to sixteen. The later rule documented in our code review uses sixteen as the trigger as well. The threshold applies separately to width and height. A 25 by 4 pixel box changes under both rules because its short side is four pixels, even though its effective size is ten pixels. We do not assume that every object in the eight-to-sixteen size bin is unaffected by STAL-8.</a:t>
            </a:r>
          </a:p>
          <a:p xmlns:a="http://schemas.openxmlformats.org/drawingml/2006/main">
            <a:r>
              <a:t/>
            </a:r>
          </a:p>
          <a:p xmlns:a="http://schemas.openxmlformats.org/drawingml/2006/main">
            <a:r>
              <a:t>Sources and asset credits:</a:t>
            </a:r>
          </a:p>
          <a:p xmlns:a="http://schemas.openxmlformats.org/drawingml/2006/main">
            <a:r>
              <a:t>Jocher et al., Ultralytics YOLO26: Unified Real-Time End-to-End Vision Models, arXiv:2606.03748v1, pp. 7–8, equations 4–6 and Section 3.2. Local source: NCKH/papers/Jocher2026-YOLO26.pdf. Read as a preprint.</a:t>
            </a:r>
          </a:p>
          <a:p xmlns:a="http://schemas.openxmlformats.org/drawingml/2006/main">
            <a:r>
              <a:t/>
            </a:r>
          </a:p>
          <a:p xmlns:a="http://schemas.openxmlformats.org/drawingml/2006/main">
            <a:r>
              <a:t>Local frozen code evidence: NCKH/papers/_text/ultralytics_tal_main_2026-10-01.py, lines 365–425. Version history recorded in NCKH/notes/t07-c3-novelty-rescan.md, Section B.2. Rules in this deck are explicit experimental definitions, not a claim about future package versions.</a:t>
            </a:r>
          </a:p>
          <a:p xmlns:a="http://schemas.openxmlformats.org/drawingml/2006/main">
            <a:r>
              <a:t/>
            </a:r>
          </a:p>
          <a:p xmlns:a="http://schemas.openxmlformats.org/drawingml/2006/main">
            <a:r>
              <a:t>Scope correction from proposal review, 2026-10-08: equal area implies equal expected candidate count only under a uniform lattice offset. It does not imply equal zero-candidate probability. Size sqrt(w*h) does not imply both sides fall in the same size interval. Omit the proposal's broad never-evaluated statement about STAL.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40 seconds.</a:t>
            </a:r>
          </a:p>
          <a:p xmlns:a="http://schemas.openxmlformats.org/drawingml/2006/main">
            <a:r>
              <a:t/>
            </a:r>
          </a:p>
          <a:p xmlns:a="http://schemas.openxmlformats.org/drawingml/2006/main">
            <a:r>
              <a:t>Shape-aware label assignment already exists in methods such as EARL, SARFA-Net, RDCNet and DCFL. Our proposed contribution is narrower. We want a controlled account of how the STAL rules behave in YOLO-OBB on AI-TOD-R, followed by an intervention and an explanation of any change. The literature search does not justify saying that no one has ever evaluated STAL on any tiny-object dataset.</a:t>
            </a:r>
          </a:p>
          <a:p xmlns:a="http://schemas.openxmlformats.org/drawingml/2006/main">
            <a:r>
              <a:t/>
            </a:r>
          </a:p>
          <a:p xmlns:a="http://schemas.openxmlformats.org/drawingml/2006/main">
            <a:r>
              <a:t>Sources and asset credits:</a:t>
            </a:r>
          </a:p>
          <a:p xmlns:a="http://schemas.openxmlformats.org/drawingml/2006/main">
            <a:r>
              <a:t>Project proposal: NCKH/notes/t07-c3-proposal-v2-EN.pdf, 2026-10-08, C-10 revision of C-3. Proposed study. No model-training results have been produced.</a:t>
            </a:r>
          </a:p>
          <a:p xmlns:a="http://schemas.openxmlformats.org/drawingml/2006/main">
            <a:r>
              <a:t/>
            </a:r>
          </a:p>
          <a:p xmlns:a="http://schemas.openxmlformats.org/drawingml/2006/main">
            <a:r>
              <a:t>Related work: NCKH/notes/t07-c3-proposal-v2-EN.pdf, Section 3 and Table 1. EARL, SARFA-Net, RDCNet and DCFL already use shape/orientation-aware assignment. This deck makes no claim to be the first such method.</a:t>
            </a:r>
          </a:p>
          <a:p xmlns:a="http://schemas.openxmlformats.org/drawingml/2006/main">
            <a:r>
              <a:t/>
            </a:r>
          </a:p>
          <a:p xmlns:a="http://schemas.openxmlformats.org/drawingml/2006/main">
            <a:r>
              <a:t>Scope correction from proposal review, 2026-10-08: equal area implies equal expected candidate count only under a uniform lattice offset. It does not imply equal zero-candidate probability. Size sqrt(w*h) does not imply both sides fall in the same size interval. Omit the proposal's broad never-evaluated statement about STAL.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45 seconds.</a:t>
            </a:r>
          </a:p>
          <a:p xmlns:a="http://schemas.openxmlformats.org/drawingml/2006/main">
            <a:r>
              <a:t/>
            </a:r>
          </a:p>
          <a:p xmlns:a="http://schemas.openxmlformats.org/drawingml/2006/main">
            <a:r>
              <a:t>We organize the project around four questions. First, establish a benchmark. Second, diagnose the assignment process. Third, test a controlled change. Fourth, examine whether the finding transfers. Each question provides evidence for the next one. An accuracy increase alone is insufficient to prove our proposed explanation.</a:t>
            </a:r>
          </a:p>
          <a:p xmlns:a="http://schemas.openxmlformats.org/drawingml/2006/main">
            <a:r>
              <a:t/>
            </a:r>
          </a:p>
          <a:p xmlns:a="http://schemas.openxmlformats.org/drawingml/2006/main">
            <a:r>
              <a:t>Sources and asset credits:</a:t>
            </a:r>
          </a:p>
          <a:p xmlns:a="http://schemas.openxmlformats.org/drawingml/2006/main">
            <a:r>
              <a:t>Project proposal: NCKH/notes/t07-c3-proposal-v2-EN.pdf, 2026-10-08, C-10 revision of C-3. Proposed study. No model-training results have been produced.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45 seconds.</a:t>
            </a:r>
          </a:p>
          <a:p xmlns:a="http://schemas.openxmlformats.org/drawingml/2006/main">
            <a:r>
              <a:t/>
            </a:r>
          </a:p>
          <a:p xmlns:a="http://schemas.openxmlformats.org/drawingml/2006/main">
            <a:r>
              <a:t>OA-STAL v2 is our proposed orientation-aware candidate rule. It expands small regions with the aim of preserving useful shape information. A short-side floor and conditional long-side cap protect very thin objects. Exact aspect-ratio preservation applies only when those safeguards do not engage. We do not promise that it will outperform STAL. Larger or differently shaped regions may help some configurations and hurt others. The original annotation stays unchanged.</a:t>
            </a:r>
          </a:p>
          <a:p xmlns:a="http://schemas.openxmlformats.org/drawingml/2006/main">
            <a:r>
              <a:t/>
            </a:r>
          </a:p>
          <a:p xmlns:a="http://schemas.openxmlformats.org/drawingml/2006/main">
            <a:r>
              <a:t>Sources and asset credits:</a:t>
            </a:r>
          </a:p>
          <a:p xmlns:a="http://schemas.openxmlformats.org/drawingml/2006/main">
            <a:r>
              <a:t>Project proposal: NCKH/notes/t07-c3-proposal-v2-EN.pdf, 2026-10-08, C-10 revision of C-3. Proposed study. No model-training results have been produced.</a:t>
            </a:r>
          </a:p>
          <a:p xmlns:a="http://schemas.openxmlformats.org/drawingml/2006/main">
            <a:r>
              <a:t/>
            </a:r>
          </a:p>
          <a:p xmlns:a="http://schemas.openxmlformats.org/drawingml/2006/main">
            <a:r>
              <a:t>Scope correction from proposal review, 2026-10-08: equal area implies equal expected candidate count only under a uniform lattice offset. It does not imply equal zero-candidate probability. Size sqrt(w*h) does not imply both sides fall in the same size interval. Omit the proposal's broad never-evaluated statement about STAL.</a:t>
            </a:r>
          </a:p>
          <a:p xmlns:a="http://schemas.openxmlformats.org/drawingml/2006/main">
            <a:r>
              <a:t/>
            </a:r>
          </a:p>
          <a:p xmlns:a="http://schemas.openxmlformats.org/drawingml/2006/main">
            <a:r>
              <a:t>Conceptual illustration generated for this presentation. It is not a dataset sample, model prediction, or experimental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40 seconds.</a:t>
            </a:r>
          </a:p>
          <a:p xmlns:a="http://schemas.openxmlformats.org/drawingml/2006/main">
            <a:r>
              <a:t/>
            </a:r>
          </a:p>
          <a:p xmlns:a="http://schemas.openxmlformats.org/drawingml/2006/main">
            <a:r>
              <a:t>An expanded region can overlap a neighbor's region. The shared anchor must ultimately learn one object. We will first measure these conflicts, then compare the existing rule with explicit alternatives. One proposed alternative gives priority to the single original box that contains the point, when exactly one does. The other follows a smaller-object preference. A change can help side-by-side objects yet hurt end-to-end objects, so the neighborhood arrangement matters.</a:t>
            </a:r>
          </a:p>
          <a:p xmlns:a="http://schemas.openxmlformats.org/drawingml/2006/main">
            <a:r>
              <a:t/>
            </a:r>
          </a:p>
          <a:p xmlns:a="http://schemas.openxmlformats.org/drawingml/2006/main">
            <a:r>
              <a:t>Sources and asset credits:</a:t>
            </a:r>
          </a:p>
          <a:p xmlns:a="http://schemas.openxmlformats.org/drawingml/2006/main">
            <a:r>
              <a:t>Project proposal: NCKH/notes/t07-c3-proposal-v2-EN.pdf, 2026-10-08, C-10 revision of C-3. Proposed study. No model-training results have been produced.</a:t>
            </a:r>
          </a:p>
          <a:p xmlns:a="http://schemas.openxmlformats.org/drawingml/2006/main">
            <a:r>
              <a:t/>
            </a:r>
          </a:p>
          <a:p xmlns:a="http://schemas.openxmlformats.org/drawingml/2006/main">
            <a:r>
              <a:t>Local frozen code evidence: NCKH/papers/_text/ultralytics_tal_main_2026-10-01.py, lines 365–425. Version history recorded in NCKH/notes/t07-c3-novelty-rescan.md, Section B.2. Rules in this deck are explicit experimental definitions, not a claim about future package versions.</a:t>
            </a:r>
          </a:p>
          <a:p xmlns:a="http://schemas.openxmlformats.org/drawingml/2006/main">
            <a:r>
              <a:t/>
            </a:r>
          </a:p>
          <a:p xmlns:a="http://schemas.openxmlformats.org/drawingml/2006/main">
            <a:r>
              <a:t>Conceptual illustration generated for this presentation. It is not a dataset sample, model prediction, or experimental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45 seconds.</a:t>
            </a:r>
          </a:p>
          <a:p xmlns:a="http://schemas.openxmlformats.org/drawingml/2006/main">
            <a:r>
              <a:t/>
            </a:r>
          </a:p>
          <a:p xmlns:a="http://schemas.openxmlformats.org/drawingml/2006/main">
            <a:r>
              <a:t>This table summarizes the main comparisons rather than every planned arm. We will freeze one code fork and hold the model, split and training recipe fixed within each contrast. First isolate the candidate-region change, then the conflict rule. Primary comparisons use three random seeds. YOLO26n is the planned compact model for the main ablations. Larger-model benchmarking is a separate question.</a:t>
            </a:r>
          </a:p>
          <a:p xmlns:a="http://schemas.openxmlformats.org/drawingml/2006/main">
            <a:r>
              <a:t/>
            </a:r>
          </a:p>
          <a:p xmlns:a="http://schemas.openxmlformats.org/drawingml/2006/main">
            <a:r>
              <a:t>Sources and asset credits:</a:t>
            </a:r>
          </a:p>
          <a:p xmlns:a="http://schemas.openxmlformats.org/drawingml/2006/main">
            <a:r>
              <a:t>Project proposal: NCKH/notes/t07-c3-proposal-v2-EN.pdf, 2026-10-08, C-10 revision of C-3. Proposed study. No model-training results have been produced.</a:t>
            </a:r>
          </a:p>
          <a:p xmlns:a="http://schemas.openxmlformats.org/drawingml/2006/main">
            <a:r>
              <a:t/>
            </a:r>
          </a:p>
          <a:p xmlns:a="http://schemas.openxmlformats.org/drawingml/2006/main">
            <a:r>
              <a:t>Local frozen code evidence: NCKH/papers/_text/ultralytics_tal_main_2026-10-01.py, lines 365–425. Version history recorded in NCKH/notes/t07-c3-novelty-rescan.md, Section B.2. Rules in this deck are explicit experimental definitions, not a claim about future package versions.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45 seconds.</a:t>
            </a:r>
          </a:p>
          <a:p xmlns:a="http://schemas.openxmlformats.org/drawingml/2006/main">
            <a:r>
              <a:t/>
            </a:r>
          </a:p>
          <a:p xmlns:a="http://schemas.openxmlformats.org/drawingml/2006/main">
            <a:r>
              <a:t>Average precision, or AP, summarizes detection quality across precision and recall. We will report it separately for very tiny and tiny objects and for each class. We will also measure the mechanism: empty candidate sets, final positives, and conflicts. Candidate count and the probability of having no candidate are different quantities. Equal average counts do not imply equal coverage. The official evaluator uses up to 1,500 detections per image. We will repeat primary contrasts and report uncertainty, with the seed and image resampling procedure fixed before interpretation.</a:t>
            </a:r>
          </a:p>
          <a:p xmlns:a="http://schemas.openxmlformats.org/drawingml/2006/main">
            <a:r>
              <a:t/>
            </a:r>
          </a:p>
          <a:p xmlns:a="http://schemas.openxmlformats.org/drawingml/2006/main">
            <a:r>
              <a:t>Sources and asset credits:</a:t>
            </a:r>
          </a:p>
          <a:p xmlns:a="http://schemas.openxmlformats.org/drawingml/2006/main">
            <a:r>
              <a:t>Project proposal: NCKH/notes/t07-c3-proposal-v2-EN.pdf, 2026-10-08, C-10 revision of C-3. Proposed study. No model-training results have been produced.</a:t>
            </a:r>
          </a:p>
          <a:p xmlns:a="http://schemas.openxmlformats.org/drawingml/2006/main">
            <a:r>
              <a:t/>
            </a:r>
          </a:p>
          <a:p xmlns:a="http://schemas.openxmlformats.org/drawingml/2006/main">
            <a:r>
              <a:t>Xu et al., Oriented Tiny Object Detection: A Dataset, Benchmark, and Dynamic Unbiased Learning. Read as arXiv:2412.11582v1, physical pp. 3–4, Table I and Section III. Publication DOI: 10.1109/TPAMI.2025.3634161. Local source: NCKH/papers/Xu2024-AI-TOD-R-oriented-tiny.pdf.</a:t>
            </a:r>
          </a:p>
          <a:p xmlns:a="http://schemas.openxmlformats.org/drawingml/2006/main">
            <a:r>
              <a:t/>
            </a:r>
          </a:p>
          <a:p xmlns:a="http://schemas.openxmlformats.org/drawingml/2006/main">
            <a:r>
              <a:t>Scope correction from proposal review, 2026-10-08: equal area implies equal expected candidate count only under a uniform lattice offset. It does not imply equal zero-candidate probability. Size sqrt(w*h) does not imply both sides fall in the same size interval. Omit the proposal's broad never-evaluated statement about STAL.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35 seconds.</a:t>
            </a:r>
          </a:p>
          <a:p xmlns:a="http://schemas.openxmlformats.org/drawingml/2006/main">
            <a:r>
              <a:t/>
            </a:r>
          </a:p>
          <a:p xmlns:a="http://schemas.openxmlformats.org/drawingml/2006/main">
            <a:r>
              <a:t>The proposal plans fourteen weeks. The first two weeks are a feasibility gate, not full-scale training. We need to obtain the images, run the evaluator, validate the prediction conversion and measure throughput. Only after those checks will we commit to the larger experiment plan. Later phases cover diagnosis, benchmarking, interventions and analysis. The exact schedule may shrink if the pilot shows that the compute budget is insufficient.</a:t>
            </a:r>
          </a:p>
          <a:p xmlns:a="http://schemas.openxmlformats.org/drawingml/2006/main">
            <a:r>
              <a:t/>
            </a:r>
          </a:p>
          <a:p xmlns:a="http://schemas.openxmlformats.org/drawingml/2006/main">
            <a:r>
              <a:t>Sources and asset credits:</a:t>
            </a:r>
          </a:p>
          <a:p xmlns:a="http://schemas.openxmlformats.org/drawingml/2006/main">
            <a:r>
              <a:t>Project proposal: NCKH/notes/t07-c3-proposal-v2-EN.pdf, 2026-10-08, C-10 revision of C-3. Proposed study. No model-training results have been produced.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35 seconds.</a:t>
            </a:r>
          </a:p>
          <a:p xmlns:a="http://schemas.openxmlformats.org/drawingml/2006/main">
            <a:r>
              <a:t/>
            </a:r>
          </a:p>
          <a:p xmlns:a="http://schemas.openxmlformats.org/drawingml/2006/main">
            <a:r>
              <a:t>Our project is currently at the proposal stage. Data reconstruction, evaluator execution and pilot throughput are still pending. We have not trained a model or measured an AP gain. The planned deliverables are a reproducible benchmark, an assignment diagnosis and a tested intervention. If the intervention fails, a useful outcome requires a concrete mechanism-backed explanation. A plain leaderboard or an unsupported negative result is not enough.</a:t>
            </a:r>
          </a:p>
          <a:p xmlns:a="http://schemas.openxmlformats.org/drawingml/2006/main">
            <a:r>
              <a:t/>
            </a:r>
          </a:p>
          <a:p xmlns:a="http://schemas.openxmlformats.org/drawingml/2006/main">
            <a:r>
              <a:t>Sources and asset credits:</a:t>
            </a:r>
          </a:p>
          <a:p xmlns:a="http://schemas.openxmlformats.org/drawingml/2006/main">
            <a:r>
              <a:t>Project proposal: NCKH/notes/t07-c3-proposal-v2-EN.pdf, 2026-10-08, C-10 revision of C-3. Proposed study. No model-training results have been produced.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25 seconds.</a:t>
            </a:r>
          </a:p>
          <a:p xmlns:a="http://schemas.openxmlformats.org/drawingml/2006/main">
            <a:r>
              <a:t/>
            </a:r>
          </a:p>
          <a:p xmlns:a="http://schemas.openxmlformats.org/drawingml/2006/main">
            <a:r>
              <a:t>To conclude, our project asks whether selecting better training samples helps tiny oriented-object detection. The focus is the candidate region and the assignment of shared points. We will judge the idea through controlled experiments and measured failure modes. Thank the lecturer and classmates, then invite questions about the scope and experimental design.</a:t>
            </a:r>
          </a:p>
          <a:p xmlns:a="http://schemas.openxmlformats.org/drawingml/2006/main">
            <a:r>
              <a:t/>
            </a:r>
          </a:p>
          <a:p xmlns:a="http://schemas.openxmlformats.org/drawingml/2006/main">
            <a:r>
              <a:t>Sources and asset credits:</a:t>
            </a:r>
          </a:p>
          <a:p xmlns:a="http://schemas.openxmlformats.org/drawingml/2006/main">
            <a:r>
              <a:t>Project proposal: NCKH/notes/t07-c3-proposal-v2-EN.pdf, 2026-10-08, C-10 revision of C-3. Proposed study. No model-training results have been produced.</a:t>
            </a:r>
          </a:p>
          <a:p xmlns:a="http://schemas.openxmlformats.org/drawingml/2006/main">
            <a:r>
              <a:t/>
            </a:r>
          </a:p>
          <a:p xmlns:a="http://schemas.openxmlformats.org/drawingml/2006/main">
            <a:r>
              <a:t>Xu et al., Oriented Tiny Object Detection: A Dataset, Benchmark, and Dynamic Unbiased Learning. Read as arXiv:2412.11582v1, physical pp. 3–4, Table I and Section III. Publication DOI: 10.1109/TPAMI.2025.3634161. Local source: NCKH/papers/Xu2024-AI-TOD-R-oriented-tiny.pdf.</a:t>
            </a:r>
          </a:p>
          <a:p xmlns:a="http://schemas.openxmlformats.org/drawingml/2006/main">
            <a:r>
              <a:t/>
            </a:r>
          </a:p>
          <a:p xmlns:a="http://schemas.openxmlformats.org/drawingml/2006/main">
            <a:r>
              <a:t>Jocher et al., Ultralytics YOLO26: Unified Real-Time End-to-End Vision Models, arXiv:2606.03748v1, pp. 7–8, equations 4–6 and Section 3.2. Local source: NCKH/papers/Jocher2026-YOLO26.pdf. Read as a preprint.</a:t>
            </a:r>
          </a:p>
          <a:p xmlns:a="http://schemas.openxmlformats.org/drawingml/2006/main">
            <a:r>
              <a:t/>
            </a:r>
          </a:p>
          <a:p xmlns:a="http://schemas.openxmlformats.org/drawingml/2006/main">
            <a:r>
              <a:t>Related work: NCKH/notes/t07-c3-proposal-v2-EN.pdf, Section 3 and Table 1. EARL, SARFA-Net, RDCNet and DCFL already use shape/orientation-aware assignment. This deck makes no claim to be the first such method.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693108a7f6549e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b343e0adeac422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92e5cf266184d1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ffb62e5c668449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603a32696c8432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667d001e6a8405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2229AA1-B979-4E0D-896E-7F5E1900706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35942FB-938D-4B1F-9167-C64446095E1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A18824D-44B6-40F9-935D-74E9B5208D7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14607C-6FAB-48AC-A081-B5F012AFF2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1D974B6-75F0-407C-9BFD-3903ED53F53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C35E6AC-0899-48EF-8408-0239E216821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A1417DB-6A7C-4DCC-AD0B-9E4B1207EE0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6306E3F-C62A-486C-9647-7C303223371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1081A6-AB5D-4F19-84B1-21D4479E837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15E5EC0-5607-4040-A6A5-E3C0025FAAA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c491548dac40a0" /><Relationship Type="http://schemas.openxmlformats.org/officeDocument/2006/relationships/slideLayout" Target="/ppt/slideLayouts/slideLayout1.xml" Id="Rb35886d8a2794d80" /><Relationship Type="http://schemas.openxmlformats.org/officeDocument/2006/relationships/slideLayout" Target="/ppt/slideLayouts/slideLayout2.xml" Id="Rd0848433e93e4f91" /><Relationship Type="http://schemas.openxmlformats.org/officeDocument/2006/relationships/slideLayout" Target="/ppt/slideLayouts/slideLayout3.xml" Id="R4c87bcef969f44af" /><Relationship Type="http://schemas.openxmlformats.org/officeDocument/2006/relationships/slideLayout" Target="/ppt/slideLayouts/slideLayout4.xml" Id="R89b1849569b94d3c" /><Relationship Type="http://schemas.openxmlformats.org/officeDocument/2006/relationships/slideLayout" Target="/ppt/slideLayouts/slideLayout5.xml" Id="Rbcb2e2caece34d1d" /><Relationship Type="http://schemas.openxmlformats.org/officeDocument/2006/relationships/slideLayout" Target="/ppt/slideLayouts/slideLayout6.xml" Id="R1340927793dd41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5886d8a2794d80"/>
    <p:sldLayoutId xmlns:r="http://schemas.openxmlformats.org/officeDocument/2006/relationships" id="2147483650" r:id="Rd0848433e93e4f91"/>
    <p:sldLayoutId xmlns:r="http://schemas.openxmlformats.org/officeDocument/2006/relationships" id="2147483651" r:id="R4c87bcef969f44af"/>
    <p:sldLayoutId xmlns:r="http://schemas.openxmlformats.org/officeDocument/2006/relationships" id="2147483652" r:id="R89b1849569b94d3c"/>
    <p:sldLayoutId xmlns:r="http://schemas.openxmlformats.org/officeDocument/2006/relationships" id="2147483653" r:id="Rbcb2e2caece34d1d"/>
    <p:sldLayoutId xmlns:r="http://schemas.openxmlformats.org/officeDocument/2006/relationships" id="2147483654" r:id="R1340927793dd41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37c0998b2fa4826" /><Relationship Type="http://schemas.openxmlformats.org/officeDocument/2006/relationships/image" Target="/ppt/media/image.png" Id="R6755f69a138b46ce" /><Relationship Type="http://schemas.openxmlformats.org/officeDocument/2006/relationships/image" Target="/ppt/media/image2.png" Id="Refe3a67d0d7f4a09" /><Relationship Type="http://schemas.openxmlformats.org/officeDocument/2006/relationships/notesSlide" Target="/ppt/notesSlides/notesSlide1.xml" Id="Ra0fcb7dfd16b43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258686e43684e1b" /><Relationship Type="http://schemas.openxmlformats.org/officeDocument/2006/relationships/image" Target="/ppt/media/image3.png" Id="R0869d205e4034f78" /><Relationship Type="http://schemas.openxmlformats.org/officeDocument/2006/relationships/notesSlide" Target="/ppt/notesSlides/notesSlide2.xml" Id="R1d7bfa53686947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41ab5fc28164ae5" /><Relationship Type="http://schemas.openxmlformats.org/officeDocument/2006/relationships/image" Target="/ppt/media/image4.png" Id="R1234726aabd14a55" /><Relationship Type="http://schemas.openxmlformats.org/officeDocument/2006/relationships/image" Target="/ppt/media/image5.png" Id="Reec45d73beac4eca" /><Relationship Type="http://schemas.openxmlformats.org/officeDocument/2006/relationships/notesSlide" Target="/ppt/notesSlides/notesSlide3.xml" Id="R3514c455c4df4f3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d4eb0d337bd4651" /><Relationship Type="http://schemas.openxmlformats.org/officeDocument/2006/relationships/image" Target="/ppt/media/image6.png" Id="Rbd828c08f4e64ee2" /><Relationship Type="http://schemas.openxmlformats.org/officeDocument/2006/relationships/image" Target="/ppt/media/image7.png" Id="R68474386bf2543cf" /><Relationship Type="http://schemas.openxmlformats.org/officeDocument/2006/relationships/notesSlide" Target="/ppt/notesSlides/notesSlide4.xml" Id="R7d992e2eb2864c7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54785ca72c948f8" /><Relationship Type="http://schemas.openxmlformats.org/officeDocument/2006/relationships/image" Target="/ppt/media/image8.png" Id="Rde792e5f3987405f" /><Relationship Type="http://schemas.openxmlformats.org/officeDocument/2006/relationships/image" Target="/ppt/media/image9.png" Id="Rdb2c96f3d08742a6" /><Relationship Type="http://schemas.openxmlformats.org/officeDocument/2006/relationships/notesSlide" Target="/ppt/notesSlides/notesSlide5.xml" Id="Rdbcd3eaa82ec498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3a32b29f95f439d" /><Relationship Type="http://schemas.openxmlformats.org/officeDocument/2006/relationships/image" Target="/ppt/media/image10.png" Id="Rba5c53a216b949de" /><Relationship Type="http://schemas.openxmlformats.org/officeDocument/2006/relationships/image" Target="/ppt/media/image11.png" Id="R6484e739321742b6" /><Relationship Type="http://schemas.openxmlformats.org/officeDocument/2006/relationships/notesSlide" Target="/ppt/notesSlides/notesSlide6.xml" Id="R0e5bd61e015644b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27323195bd54eef" /><Relationship Type="http://schemas.openxmlformats.org/officeDocument/2006/relationships/image" Target="/ppt/media/image12.png" Id="R6d467e145f274fe1" /><Relationship Type="http://schemas.openxmlformats.org/officeDocument/2006/relationships/image" Target="/ppt/media/image13.png" Id="R3ebcf7f95d8149fb" /><Relationship Type="http://schemas.openxmlformats.org/officeDocument/2006/relationships/image" Target="/ppt/media/image14.png" Id="R015da30c1de04d0b" /><Relationship Type="http://schemas.openxmlformats.org/officeDocument/2006/relationships/image" Target="/ppt/media/image15.png" Id="R37d9d25dcb3346e0" /><Relationship Type="http://schemas.openxmlformats.org/officeDocument/2006/relationships/image" Target="/ppt/media/image16.png" Id="R1b56e653d6a24c7d" /><Relationship Type="http://schemas.openxmlformats.org/officeDocument/2006/relationships/notesSlide" Target="/ppt/notesSlides/notesSlide7.xml" Id="R22440591a727478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30d70bb69ed43fc" /><Relationship Type="http://schemas.openxmlformats.org/officeDocument/2006/relationships/image" Target="/ppt/media/image17.png" Id="Reb2ba2a7b5a84f35" /><Relationship Type="http://schemas.openxmlformats.org/officeDocument/2006/relationships/image" Target="/ppt/media/image18.png" Id="R60b0383c11bd4d2e" /><Relationship Type="http://schemas.openxmlformats.org/officeDocument/2006/relationships/notesSlide" Target="/ppt/notesSlides/notesSlide8.xml" Id="R5d0fe48166b94fa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086541586084a4b" /><Relationship Type="http://schemas.openxmlformats.org/officeDocument/2006/relationships/image" Target="/ppt/media/image19.png" Id="R30690d7952cb405c" /><Relationship Type="http://schemas.openxmlformats.org/officeDocument/2006/relationships/image" Target="/ppt/media/image20.png" Id="Rd445cb13772d4ea7" /><Relationship Type="http://schemas.openxmlformats.org/officeDocument/2006/relationships/notesSlide" Target="/ppt/notesSlides/notesSlide9.xml" Id="R5d3ae1eaa210411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7e7cc6af39a4f13" /><Relationship Type="http://schemas.openxmlformats.org/officeDocument/2006/relationships/image" Target="/ppt/media/image21.png" Id="R97bff031ac614b2d" /><Relationship Type="http://schemas.openxmlformats.org/officeDocument/2006/relationships/image" Target="/ppt/media/image22.png" Id="Rbfd38fde60ac4b41" /><Relationship Type="http://schemas.openxmlformats.org/officeDocument/2006/relationships/notesSlide" Target="/ppt/notesSlides/notesSlide10.xml" Id="R4d96750ed2c54c9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f4944a958d7454c" /><Relationship Type="http://schemas.openxmlformats.org/officeDocument/2006/relationships/image" Target="/ppt/media/image23.png" Id="R0ac947c39a9e4cb1" /><Relationship Type="http://schemas.openxmlformats.org/officeDocument/2006/relationships/notesSlide" Target="/ppt/notesSlides/notesSlide11.xml" Id="R7285d4e75849439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92b2023334a4651" /><Relationship Type="http://schemas.openxmlformats.org/officeDocument/2006/relationships/image" Target="/ppt/media/image24.png" Id="Rc88b6d4baeba43fc" /><Relationship Type="http://schemas.openxmlformats.org/officeDocument/2006/relationships/notesSlide" Target="/ppt/notesSlides/notesSlide12.xml" Id="R54431288cb2e48d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22597ef40a14cc7" /><Relationship Type="http://schemas.openxmlformats.org/officeDocument/2006/relationships/image" Target="/ppt/media/image25.png" Id="R9f8a37d0b41d4a3c" /><Relationship Type="http://schemas.openxmlformats.org/officeDocument/2006/relationships/notesSlide" Target="/ppt/notesSlides/notesSlide13.xml" Id="Rb3b82844c34946d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2b2b9e010fd416c" /><Relationship Type="http://schemas.openxmlformats.org/officeDocument/2006/relationships/image" Target="/ppt/media/image26.png" Id="R016067d495544844" /><Relationship Type="http://schemas.openxmlformats.org/officeDocument/2006/relationships/image" Target="/ppt/media/image27.png" Id="R6346c363799e4d34" /><Relationship Type="http://schemas.openxmlformats.org/officeDocument/2006/relationships/notesSlide" Target="/ppt/notesSlides/notesSlide14.xml" Id="R002aca0add3d4e6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acc0e3b63094765" /><Relationship Type="http://schemas.openxmlformats.org/officeDocument/2006/relationships/image" Target="/ppt/media/image28.png" Id="Rba60b32f30274dbc" /><Relationship Type="http://schemas.openxmlformats.org/officeDocument/2006/relationships/image" Target="/ppt/media/image29.png" Id="Rd5fa109a2e8e4fa1" /><Relationship Type="http://schemas.openxmlformats.org/officeDocument/2006/relationships/notesSlide" Target="/ppt/notesSlides/notesSlide15.xml" Id="R6d486efbe76a40d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060d967eb164919" /><Relationship Type="http://schemas.openxmlformats.org/officeDocument/2006/relationships/image" Target="/ppt/media/image30.png" Id="R58357632f2064aae" /><Relationship Type="http://schemas.openxmlformats.org/officeDocument/2006/relationships/notesSlide" Target="/ppt/notesSlides/notesSlide16.xml" Id="R8e3926ebbb8741f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e216e04707042e4" /><Relationship Type="http://schemas.openxmlformats.org/officeDocument/2006/relationships/image" Target="/ppt/media/image31.png" Id="R30bcefc733c14d60" /><Relationship Type="http://schemas.openxmlformats.org/officeDocument/2006/relationships/notesSlide" Target="/ppt/notesSlides/notesSlide17.xml" Id="R344dc70c5975464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4b81165749645f5" /><Relationship Type="http://schemas.openxmlformats.org/officeDocument/2006/relationships/image" Target="/ppt/media/image32.png" Id="R58cc2d04ba384032" /><Relationship Type="http://schemas.openxmlformats.org/officeDocument/2006/relationships/notesSlide" Target="/ppt/notesSlides/notesSlide18.xml" Id="Rde033ea0aff8479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05158b85061458c" /><Relationship Type="http://schemas.openxmlformats.org/officeDocument/2006/relationships/image" Target="/ppt/media/image33.png" Id="Rd096a7ae94da461e" /><Relationship Type="http://schemas.openxmlformats.org/officeDocument/2006/relationships/notesSlide" Target="/ppt/notesSlides/notesSlide19.xml" Id="R4f4fb090322e4b2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eb21dbabe1b4d02" /><Relationship Type="http://schemas.openxmlformats.org/officeDocument/2006/relationships/image" Target="/ppt/media/image34.png" Id="R65c0582f34c34664" /><Relationship Type="http://schemas.openxmlformats.org/officeDocument/2006/relationships/notesSlide" Target="/ppt/notesSlides/notesSlide20.xml" Id="Rfeac2d86aa6a482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DE51C975-0D26-42EB-A96D-B54351DF292C}"/>
              </a:ext>
            </a:extLst>
          </p:cNvPr>
          <p:cNvPicPr>
            <a:picLocks xmlns:a="http://schemas.openxmlformats.org/drawingml/2006/main" noChangeAspect="1"/>
          </p:cNvPicPr>
          <p:nvPr/>
        </p:nvPicPr>
        <p:blipFill>
          <a:blip xmlns:r="http://schemas.openxmlformats.org/officeDocument/2006/relationships" xmlns:a="http://schemas.openxmlformats.org/drawingml/2006/main" r:embed="R6755f69a138b46ce"/>
          <a:srcRect xmlns:a="http://schemas.openxmlformats.org/drawingml/2006/main" l="10095" t="0" r="10095" b="0"/>
          <a:stretch xmlns:a="http://schemas.openxmlformats.org/drawingml/2006/main">
            <a:fillRect l="0" t="0" r="0" b="0"/>
          </a:stretch>
        </p:blipFill>
        <p:spPr>
          <a:xfrm xmlns:a="http://schemas.openxmlformats.org/drawingml/2006/main">
            <a:off x="6762750" y="0"/>
            <a:ext cx="5429250" cy="68580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142DA35D-9B32-4D9D-A802-510F78B41581}"/>
              </a:ext>
            </a:extLst>
          </p:cNvPr>
          <p:cNvPicPr>
            <a:picLocks xmlns:a="http://schemas.openxmlformats.org/drawingml/2006/main" noChangeAspect="1"/>
          </p:cNvPicPr>
          <p:nvPr/>
        </p:nvPicPr>
        <p:blipFill>
          <a:blip xmlns:r="http://schemas.openxmlformats.org/officeDocument/2006/relationships" xmlns:a="http://schemas.openxmlformats.org/drawingml/2006/main" r:embed="Refe3a67d0d7f4a09"/>
          <a:stretch xmlns:a="http://schemas.openxmlformats.org/drawingml/2006/main"/>
        </p:blipFill>
        <p:spPr>
          <a:xfrm xmlns:a="http://schemas.openxmlformats.org/drawingml/2006/main">
            <a:off x="609600" y="459853"/>
            <a:ext cx="2428875" cy="947194"/>
          </a:xfrm>
          <a:prstGeom xmlns:a="http://schemas.openxmlformats.org/drawingml/2006/main" prst="rect">
            <a:avLst/>
          </a:prstGeom>
        </p:spPr>
      </p:pic>
      <p:sp>
        <p:nvSpPr>
          <p:cNvPr id="3" name="text-1">
            <a:extLst xmlns:a="http://schemas.openxmlformats.org/drawingml/2006/main">
              <a:ext uri="{FF2B5EF4-FFF2-40B4-BE49-F238E27FC236}">
                <a16:creationId xmlns:a16="http://schemas.microsoft.com/office/drawing/2014/main" id="{BA4CECCE-3640-47EB-BB69-58A1E6EBE454}"/>
              </a:ext>
            </a:extLst>
          </p:cNvPr>
          <p:cNvSpPr>
            <a:spLocks xmlns:a="http://schemas.openxmlformats.org/drawingml/2006/main" noGrp="1"/>
          </p:cNvSpPr>
          <p:nvPr/>
        </p:nvSpPr>
        <p:spPr>
          <a:xfrm xmlns:a="http://schemas.openxmlformats.org/drawingml/2006/main">
            <a:off x="609600" y="2105025"/>
            <a:ext cx="60007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102A43"/>
                </a:solidFill>
                <a:latin typeface="Arial"/>
                <a:ea typeface="Arial"/>
                <a:cs typeface="Arial"/>
              </a:defRPr>
            </a:defPPr>
          </a:lstStyle>
          <a:p xmlns:a="http://schemas.openxmlformats.org/drawingml/2006/main">
            <a:pPr algn="l">
              <a:defRPr sz="4500" b="1">
                <a:solidFill>
                  <a:srgbClr val="102A43"/>
                </a:solidFill>
                <a:latin typeface="Arial"/>
                <a:ea typeface="Arial"/>
                <a:cs typeface="Arial"/>
              </a:defRPr>
            </a:pPr>
            <a:r>
              <a:rPr sz="4500" b="1">
                <a:solidFill>
                  <a:srgbClr val="102A43"/>
                </a:solidFill>
                <a:latin typeface="Arial"/>
                <a:ea typeface="Arial"/>
                <a:cs typeface="Arial"/>
              </a:rPr>
              <a:t>Tiny Oriented</a:t>
            </a:r>
          </a:p>
          <a:p xmlns:a="http://schemas.openxmlformats.org/drawingml/2006/main">
            <a:pPr algn="l">
              <a:defRPr sz="4500" b="1">
                <a:solidFill>
                  <a:srgbClr val="102A43"/>
                </a:solidFill>
                <a:latin typeface="Arial"/>
                <a:ea typeface="Arial"/>
                <a:cs typeface="Arial"/>
              </a:defRPr>
            </a:pPr>
            <a:r>
              <a:rPr sz="4500" b="1">
                <a:solidFill>
                  <a:srgbClr val="102A43"/>
                </a:solidFill>
                <a:latin typeface="Arial"/>
                <a:ea typeface="Arial"/>
                <a:cs typeface="Arial"/>
              </a:rPr>
              <a:t>Object Detection</a:t>
            </a:r>
          </a:p>
        </p:txBody>
      </p:sp>
      <p:sp>
        <p:nvSpPr>
          <p:cNvPr id="4" name="text-2">
            <a:extLst xmlns:a="http://schemas.openxmlformats.org/drawingml/2006/main">
              <a:ext uri="{FF2B5EF4-FFF2-40B4-BE49-F238E27FC236}">
                <a16:creationId xmlns:a16="http://schemas.microsoft.com/office/drawing/2014/main" id="{DC6CBA65-8209-47AB-B490-3C02F1806A9D}"/>
              </a:ext>
            </a:extLst>
          </p:cNvPr>
          <p:cNvSpPr>
            <a:spLocks xmlns:a="http://schemas.openxmlformats.org/drawingml/2006/main" noGrp="1"/>
          </p:cNvSpPr>
          <p:nvPr/>
        </p:nvSpPr>
        <p:spPr>
          <a:xfrm xmlns:a="http://schemas.openxmlformats.org/drawingml/2006/main">
            <a:off x="609600" y="4162425"/>
            <a:ext cx="5762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26575"/>
                </a:solidFill>
                <a:latin typeface="Arial"/>
                <a:ea typeface="Arial"/>
                <a:cs typeface="Arial"/>
              </a:defRPr>
            </a:defPPr>
          </a:lstStyle>
          <a:p xmlns:a="http://schemas.openxmlformats.org/drawingml/2006/main">
            <a:pPr algn="l">
              <a:defRPr sz="2250" b="0">
                <a:solidFill>
                  <a:srgbClr val="526575"/>
                </a:solidFill>
                <a:latin typeface="Arial"/>
                <a:ea typeface="Arial"/>
                <a:cs typeface="Arial"/>
              </a:defRPr>
            </a:pPr>
            <a:r>
              <a:rPr sz="2250" b="0">
                <a:solidFill>
                  <a:srgbClr val="526575"/>
                </a:solidFill>
                <a:latin typeface="Arial"/>
                <a:ea typeface="Arial"/>
                <a:cs typeface="Arial"/>
              </a:rPr>
              <a:t>Candidate-region geometry</a:t>
            </a:r>
          </a:p>
          <a:p xmlns:a="http://schemas.openxmlformats.org/drawingml/2006/main">
            <a:pPr algn="l">
              <a:defRPr sz="2250" b="0">
                <a:solidFill>
                  <a:srgbClr val="526575"/>
                </a:solidFill>
                <a:latin typeface="Arial"/>
                <a:ea typeface="Arial"/>
                <a:cs typeface="Arial"/>
              </a:defRPr>
            </a:pPr>
            <a:r>
              <a:rPr sz="2250" b="0">
                <a:solidFill>
                  <a:srgbClr val="526575"/>
                </a:solidFill>
                <a:latin typeface="Arial"/>
                <a:ea typeface="Arial"/>
                <a:cs typeface="Arial"/>
              </a:rPr>
              <a:t>in YOLO-OBB detectors</a:t>
            </a:r>
          </a:p>
        </p:txBody>
      </p:sp>
      <p:sp>
        <p:nvSpPr>
          <p:cNvPr id="5" name="text-3">
            <a:extLst xmlns:a="http://schemas.openxmlformats.org/drawingml/2006/main">
              <a:ext uri="{FF2B5EF4-FFF2-40B4-BE49-F238E27FC236}">
                <a16:creationId xmlns:a16="http://schemas.microsoft.com/office/drawing/2014/main" id="{E4378AEC-2C86-4325-8290-CBD87F086E66}"/>
              </a:ext>
            </a:extLst>
          </p:cNvPr>
          <p:cNvSpPr>
            <a:spLocks xmlns:a="http://schemas.openxmlformats.org/drawingml/2006/main" noGrp="1"/>
          </p:cNvSpPr>
          <p:nvPr/>
        </p:nvSpPr>
        <p:spPr>
          <a:xfrm xmlns:a="http://schemas.openxmlformats.org/drawingml/2006/main">
            <a:off x="609600" y="5667375"/>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47920"/>
                </a:solidFill>
                <a:latin typeface="Arial"/>
                <a:ea typeface="Arial"/>
                <a:cs typeface="Arial"/>
              </a:defRPr>
            </a:defPPr>
          </a:lstStyle>
          <a:p xmlns:a="http://schemas.openxmlformats.org/drawingml/2006/main">
            <a:pPr algn="l">
              <a:defRPr sz="2400" b="1">
                <a:solidFill>
                  <a:srgbClr val="F47920"/>
                </a:solidFill>
                <a:latin typeface="Arial"/>
                <a:ea typeface="Arial"/>
                <a:cs typeface="Arial"/>
              </a:defRPr>
            </a:pPr>
            <a:r>
              <a:rPr sz="2400" b="1">
                <a:solidFill>
                  <a:srgbClr val="F47920"/>
                </a:solidFill>
                <a:latin typeface="Arial"/>
                <a:ea typeface="Arial"/>
                <a:cs typeface="Arial"/>
              </a:rPr>
              <a:t>Group 7</a:t>
            </a:r>
          </a:p>
        </p:txBody>
      </p:sp>
      <p:sp>
        <p:nvSpPr>
          <p:cNvPr id="6" name="text-4">
            <a:extLst xmlns:a="http://schemas.openxmlformats.org/drawingml/2006/main">
              <a:ext uri="{FF2B5EF4-FFF2-40B4-BE49-F238E27FC236}">
                <a16:creationId xmlns:a16="http://schemas.microsoft.com/office/drawing/2014/main" id="{F5F0ABE3-D96A-4D23-B09B-FBA8A54D722E}"/>
              </a:ext>
            </a:extLst>
          </p:cNvPr>
          <p:cNvSpPr>
            <a:spLocks xmlns:a="http://schemas.openxmlformats.org/drawingml/2006/main" noGrp="1"/>
          </p:cNvSpPr>
          <p:nvPr/>
        </p:nvSpPr>
        <p:spPr>
          <a:xfrm xmlns:a="http://schemas.openxmlformats.org/drawingml/2006/main">
            <a:off x="609600" y="613410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26575"/>
                </a:solidFill>
                <a:latin typeface="Arial"/>
                <a:ea typeface="Arial"/>
                <a:cs typeface="Arial"/>
              </a:defRPr>
            </a:defPPr>
          </a:lstStyle>
          <a:p xmlns:a="http://schemas.openxmlformats.org/drawingml/2006/main">
            <a:pPr algn="l">
              <a:defRPr sz="1650" b="0">
                <a:solidFill>
                  <a:srgbClr val="526575"/>
                </a:solidFill>
                <a:latin typeface="Arial"/>
                <a:ea typeface="Arial"/>
                <a:cs typeface="Arial"/>
              </a:defRPr>
            </a:pPr>
            <a:r>
              <a:rPr sz="1650" b="0">
                <a:solidFill>
                  <a:srgbClr val="526575"/>
                </a:solidFill>
                <a:latin typeface="Arial"/>
                <a:ea typeface="Arial"/>
                <a:cs typeface="Arial"/>
              </a:rPr>
              <a:t>DPL302m · Research proposal</a:t>
            </a:r>
          </a:p>
        </p:txBody>
      </p:sp>
    </p:spTree>
    <p:extLst>
      <p:ext uri="{BB962C8B-B14F-4D97-AF65-F5344CB8AC3E}">
        <p14:creationId xmlns:p14="http://schemas.microsoft.com/office/powerpoint/2010/main" val="179307768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1">
            <a:extLst xmlns:a="http://schemas.openxmlformats.org/drawingml/2006/main">
              <a:ext uri="{FF2B5EF4-FFF2-40B4-BE49-F238E27FC236}">
                <a16:creationId xmlns:a16="http://schemas.microsoft.com/office/drawing/2014/main" id="{BAA8A77F-047F-4370-A8D3-A1136DD1AECA}"/>
              </a:ext>
            </a:extLst>
          </p:cNvPr>
          <p:cNvSpPr>
            <a:spLocks xmlns:a="http://schemas.openxmlformats.org/drawingml/2006/main" noGrp="1"/>
          </p:cNvSpPr>
          <p:nvPr/>
        </p:nvSpPr>
        <p:spPr>
          <a:xfrm xmlns:a="http://schemas.openxmlformats.org/drawingml/2006/main">
            <a:off x="609600" y="457200"/>
            <a:ext cx="8858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Arial"/>
                <a:ea typeface="Arial"/>
                <a:cs typeface="Arial"/>
              </a:defRPr>
            </a:defPPr>
          </a:lstStyle>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Group 7</a:t>
            </a:r>
          </a:p>
        </p:txBody>
      </p:sp>
      <p:pic>
        <p:nvPicPr>
          <p:cNvPr id="2" name="">
            <a:extLst xmlns:a="http://schemas.openxmlformats.org/drawingml/2006/main">
              <a:ext uri="{FF2B5EF4-FFF2-40B4-BE49-F238E27FC236}">
                <a16:creationId xmlns:a16="http://schemas.microsoft.com/office/drawing/2014/main" id="{13A8FD9F-FC8F-4DB3-ADA1-C7C8D5686885}"/>
              </a:ext>
            </a:extLst>
          </p:cNvPr>
          <p:cNvPicPr>
            <a:picLocks xmlns:a="http://schemas.openxmlformats.org/drawingml/2006/main" noChangeAspect="1"/>
          </p:cNvPicPr>
          <p:nvPr/>
        </p:nvPicPr>
        <p:blipFill>
          <a:blip xmlns:r="http://schemas.openxmlformats.org/officeDocument/2006/relationships" xmlns:a="http://schemas.openxmlformats.org/drawingml/2006/main" r:embed="R0869d205e4034f78"/>
          <a:stretch xmlns:a="http://schemas.openxmlformats.org/drawingml/2006/main"/>
        </p:blipFill>
        <p:spPr>
          <a:xfrm xmlns:a="http://schemas.openxmlformats.org/drawingml/2006/main">
            <a:off x="9870281" y="400050"/>
            <a:ext cx="1709738" cy="666750"/>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037D64F5-C98B-4E8C-A72F-EF23E36340C5}"/>
              </a:ext>
            </a:extLst>
          </p:cNvPr>
          <p:cNvSpPr>
            <a:spLocks xmlns:a="http://schemas.openxmlformats.org/drawingml/2006/main" noGrp="1"/>
          </p:cNvSpPr>
          <p:nvPr/>
        </p:nvSpPr>
        <p:spPr>
          <a:xfrm xmlns:a="http://schemas.openxmlformats.org/drawingml/2006/main">
            <a:off x="11068050" y="6467475"/>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02</a:t>
            </a:r>
          </a:p>
        </p:txBody>
      </p:sp>
      <p:sp>
        <p:nvSpPr>
          <p:cNvPr id="4" name="text-3">
            <a:extLst xmlns:a="http://schemas.openxmlformats.org/drawingml/2006/main">
              <a:ext uri="{FF2B5EF4-FFF2-40B4-BE49-F238E27FC236}">
                <a16:creationId xmlns:a16="http://schemas.microsoft.com/office/drawing/2014/main" id="{E1595B9E-F856-4E14-98CE-B8D95A63B832}"/>
              </a:ext>
            </a:extLst>
          </p:cNvPr>
          <p:cNvSpPr>
            <a:spLocks xmlns:a="http://schemas.openxmlformats.org/drawingml/2006/main" noGrp="1"/>
          </p:cNvSpPr>
          <p:nvPr/>
        </p:nvSpPr>
        <p:spPr>
          <a:xfrm xmlns:a="http://schemas.openxmlformats.org/drawingml/2006/main">
            <a:off x="609600" y="1828800"/>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F47920"/>
                </a:solidFill>
                <a:latin typeface="Arial"/>
                <a:ea typeface="Arial"/>
                <a:cs typeface="Arial"/>
              </a:defRPr>
            </a:defPPr>
          </a:lstStyle>
          <a:p xmlns:a="http://schemas.openxmlformats.org/drawingml/2006/main">
            <a:pPr algn="l">
              <a:defRPr sz="2250" b="1">
                <a:solidFill>
                  <a:srgbClr val="F47920"/>
                </a:solidFill>
                <a:latin typeface="Arial"/>
                <a:ea typeface="Arial"/>
                <a:cs typeface="Arial"/>
              </a:defRPr>
            </a:pPr>
            <a:r>
              <a:rPr sz="2250" b="1">
                <a:solidFill>
                  <a:srgbClr val="F47920"/>
                </a:solidFill>
                <a:latin typeface="Arial"/>
                <a:ea typeface="Arial"/>
                <a:cs typeface="Arial"/>
              </a:rPr>
              <a:t>Research team</a:t>
            </a:r>
          </a:p>
        </p:txBody>
      </p:sp>
      <p:sp>
        <p:nvSpPr>
          <p:cNvPr id="5" name="text-4">
            <a:extLst xmlns:a="http://schemas.openxmlformats.org/drawingml/2006/main">
              <a:ext uri="{FF2B5EF4-FFF2-40B4-BE49-F238E27FC236}">
                <a16:creationId xmlns:a16="http://schemas.microsoft.com/office/drawing/2014/main" id="{F5A6DC82-4676-47E7-A8D8-C497C97A8ECB}"/>
              </a:ext>
            </a:extLst>
          </p:cNvPr>
          <p:cNvSpPr>
            <a:spLocks xmlns:a="http://schemas.openxmlformats.org/drawingml/2006/main" noGrp="1"/>
          </p:cNvSpPr>
          <p:nvPr/>
        </p:nvSpPr>
        <p:spPr>
          <a:xfrm xmlns:a="http://schemas.openxmlformats.org/drawingml/2006/main">
            <a:off x="609600" y="2476500"/>
            <a:ext cx="914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02A43"/>
                </a:solidFill>
                <a:latin typeface="Arial"/>
                <a:ea typeface="Arial"/>
                <a:cs typeface="Arial"/>
              </a:defRPr>
            </a:defPPr>
          </a:lstStyle>
          <a:p xmlns:a="http://schemas.openxmlformats.org/drawingml/2006/main">
            <a:pPr algn="l">
              <a:defRPr sz="2700" b="1">
                <a:solidFill>
                  <a:srgbClr val="102A43"/>
                </a:solidFill>
                <a:latin typeface="Arial"/>
                <a:ea typeface="Arial"/>
                <a:cs typeface="Arial"/>
              </a:defRPr>
            </a:pPr>
            <a:r>
              <a:rPr sz="2700" b="1">
                <a:solidFill>
                  <a:srgbClr val="102A43"/>
                </a:solidFill>
                <a:latin typeface="Arial"/>
                <a:ea typeface="Arial"/>
                <a:cs typeface="Arial"/>
              </a:rPr>
              <a:t>Võ Đức Nhật</a:t>
            </a:r>
          </a:p>
        </p:txBody>
      </p:sp>
      <p:sp>
        <p:nvSpPr>
          <p:cNvPr id="6" name="text-5">
            <a:extLst xmlns:a="http://schemas.openxmlformats.org/drawingml/2006/main">
              <a:ext uri="{FF2B5EF4-FFF2-40B4-BE49-F238E27FC236}">
                <a16:creationId xmlns:a16="http://schemas.microsoft.com/office/drawing/2014/main" id="{8FA43DA3-651D-45DB-B5F9-8F9E527B77F2}"/>
              </a:ext>
            </a:extLst>
          </p:cNvPr>
          <p:cNvSpPr>
            <a:spLocks xmlns:a="http://schemas.openxmlformats.org/drawingml/2006/main" noGrp="1"/>
          </p:cNvSpPr>
          <p:nvPr/>
        </p:nvSpPr>
        <p:spPr>
          <a:xfrm xmlns:a="http://schemas.openxmlformats.org/drawingml/2006/main">
            <a:off x="609600" y="3200400"/>
            <a:ext cx="914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02A43"/>
                </a:solidFill>
                <a:latin typeface="Arial"/>
                <a:ea typeface="Arial"/>
                <a:cs typeface="Arial"/>
              </a:defRPr>
            </a:defPPr>
          </a:lstStyle>
          <a:p xmlns:a="http://schemas.openxmlformats.org/drawingml/2006/main">
            <a:pPr algn="l">
              <a:defRPr sz="2700" b="1">
                <a:solidFill>
                  <a:srgbClr val="102A43"/>
                </a:solidFill>
                <a:latin typeface="Arial"/>
                <a:ea typeface="Arial"/>
                <a:cs typeface="Arial"/>
              </a:defRPr>
            </a:pPr>
            <a:r>
              <a:rPr sz="2700" b="1">
                <a:solidFill>
                  <a:srgbClr val="102A43"/>
                </a:solidFill>
                <a:latin typeface="Arial"/>
                <a:ea typeface="Arial"/>
                <a:cs typeface="Arial"/>
              </a:rPr>
              <a:t>Trần Lợi Kiều Nhi</a:t>
            </a:r>
          </a:p>
        </p:txBody>
      </p:sp>
      <p:sp>
        <p:nvSpPr>
          <p:cNvPr id="7" name="text-6">
            <a:extLst xmlns:a="http://schemas.openxmlformats.org/drawingml/2006/main">
              <a:ext uri="{FF2B5EF4-FFF2-40B4-BE49-F238E27FC236}">
                <a16:creationId xmlns:a16="http://schemas.microsoft.com/office/drawing/2014/main" id="{DB3C0C18-DFF5-42E7-B4AC-7BB7F71E1DD5}"/>
              </a:ext>
            </a:extLst>
          </p:cNvPr>
          <p:cNvSpPr>
            <a:spLocks xmlns:a="http://schemas.openxmlformats.org/drawingml/2006/main" noGrp="1"/>
          </p:cNvSpPr>
          <p:nvPr/>
        </p:nvSpPr>
        <p:spPr>
          <a:xfrm xmlns:a="http://schemas.openxmlformats.org/drawingml/2006/main">
            <a:off x="609600" y="3924300"/>
            <a:ext cx="914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02A43"/>
                </a:solidFill>
                <a:latin typeface="Arial"/>
                <a:ea typeface="Arial"/>
                <a:cs typeface="Arial"/>
              </a:defRPr>
            </a:defPPr>
          </a:lstStyle>
          <a:p xmlns:a="http://schemas.openxmlformats.org/drawingml/2006/main">
            <a:pPr algn="l">
              <a:defRPr sz="2700" b="1">
                <a:solidFill>
                  <a:srgbClr val="102A43"/>
                </a:solidFill>
                <a:latin typeface="Arial"/>
                <a:ea typeface="Arial"/>
                <a:cs typeface="Arial"/>
              </a:defRPr>
            </a:pPr>
            <a:r>
              <a:rPr sz="2700" b="1">
                <a:solidFill>
                  <a:srgbClr val="102A43"/>
                </a:solidFill>
                <a:latin typeface="Arial"/>
                <a:ea typeface="Arial"/>
                <a:cs typeface="Arial"/>
              </a:rPr>
              <a:t>Trần Nguyễn Minh Hải</a:t>
            </a:r>
          </a:p>
        </p:txBody>
      </p:sp>
      <p:sp>
        <p:nvSpPr>
          <p:cNvPr id="8" name="text-7">
            <a:extLst xmlns:a="http://schemas.openxmlformats.org/drawingml/2006/main">
              <a:ext uri="{FF2B5EF4-FFF2-40B4-BE49-F238E27FC236}">
                <a16:creationId xmlns:a16="http://schemas.microsoft.com/office/drawing/2014/main" id="{30253059-B99E-44C0-9E13-6CC1154638EB}"/>
              </a:ext>
            </a:extLst>
          </p:cNvPr>
          <p:cNvSpPr>
            <a:spLocks xmlns:a="http://schemas.openxmlformats.org/drawingml/2006/main" noGrp="1"/>
          </p:cNvSpPr>
          <p:nvPr/>
        </p:nvSpPr>
        <p:spPr>
          <a:xfrm xmlns:a="http://schemas.openxmlformats.org/drawingml/2006/main">
            <a:off x="609600" y="4648200"/>
            <a:ext cx="914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02A43"/>
                </a:solidFill>
                <a:latin typeface="Arial"/>
                <a:ea typeface="Arial"/>
                <a:cs typeface="Arial"/>
              </a:defRPr>
            </a:defPPr>
          </a:lstStyle>
          <a:p xmlns:a="http://schemas.openxmlformats.org/drawingml/2006/main">
            <a:pPr algn="l">
              <a:defRPr sz="2700" b="1">
                <a:solidFill>
                  <a:srgbClr val="102A43"/>
                </a:solidFill>
                <a:latin typeface="Arial"/>
                <a:ea typeface="Arial"/>
                <a:cs typeface="Arial"/>
              </a:defRPr>
            </a:pPr>
            <a:r>
              <a:rPr sz="2700" b="1">
                <a:solidFill>
                  <a:srgbClr val="102A43"/>
                </a:solidFill>
                <a:latin typeface="Arial"/>
                <a:ea typeface="Arial"/>
                <a:cs typeface="Arial"/>
              </a:rPr>
              <a:t>Nguyễn Tấn Tài</a:t>
            </a:r>
          </a:p>
        </p:txBody>
      </p:sp>
      <p:sp>
        <p:nvSpPr>
          <p:cNvPr id="9" name="text-8">
            <a:extLst xmlns:a="http://schemas.openxmlformats.org/drawingml/2006/main">
              <a:ext uri="{FF2B5EF4-FFF2-40B4-BE49-F238E27FC236}">
                <a16:creationId xmlns:a16="http://schemas.microsoft.com/office/drawing/2014/main" id="{C5F1B30D-A5F0-4DAB-A76C-5AC06BA0CD4B}"/>
              </a:ext>
            </a:extLst>
          </p:cNvPr>
          <p:cNvSpPr>
            <a:spLocks xmlns:a="http://schemas.openxmlformats.org/drawingml/2006/main" noGrp="1"/>
          </p:cNvSpPr>
          <p:nvPr/>
        </p:nvSpPr>
        <p:spPr>
          <a:xfrm xmlns:a="http://schemas.openxmlformats.org/drawingml/2006/main">
            <a:off x="609600" y="60960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575"/>
                </a:solidFill>
                <a:latin typeface="Arial"/>
                <a:ea typeface="Arial"/>
                <a:cs typeface="Arial"/>
              </a:defRPr>
            </a:defPPr>
          </a:lstStyle>
          <a:p xmlns:a="http://schemas.openxmlformats.org/drawingml/2006/main">
            <a:pPr algn="l">
              <a:defRPr sz="1350" b="0">
                <a:solidFill>
                  <a:srgbClr val="526575"/>
                </a:solidFill>
                <a:latin typeface="Arial"/>
                <a:ea typeface="Arial"/>
                <a:cs typeface="Arial"/>
              </a:defRPr>
            </a:pPr>
            <a:r>
              <a:rPr sz="1350" b="0">
                <a:solidFill>
                  <a:srgbClr val="526575"/>
                </a:solidFill>
                <a:latin typeface="Arial"/>
                <a:ea typeface="Arial"/>
                <a:cs typeface="Arial"/>
              </a:rPr>
              <a:t>FPT University · DPL302m · Deep Learning</a:t>
            </a:r>
          </a:p>
        </p:txBody>
      </p:sp>
    </p:spTree>
    <p:extLst>
      <p:ext uri="{BB962C8B-B14F-4D97-AF65-F5344CB8AC3E}">
        <p14:creationId xmlns:p14="http://schemas.microsoft.com/office/powerpoint/2010/main" val="1371297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
            <a:extLst xmlns:a="http://schemas.openxmlformats.org/drawingml/2006/main">
              <a:ext uri="{FF2B5EF4-FFF2-40B4-BE49-F238E27FC236}">
                <a16:creationId xmlns:a16="http://schemas.microsoft.com/office/drawing/2014/main" id="{CF1CBCB6-3FD0-4DEA-90F4-C0A5400D7148}"/>
              </a:ext>
            </a:extLst>
          </p:cNvPr>
          <p:cNvSpPr>
            <a:spLocks xmlns:a="http://schemas.openxmlformats.org/drawingml/2006/main" noGrp="1"/>
          </p:cNvSpPr>
          <p:nvPr/>
        </p:nvSpPr>
        <p:spPr>
          <a:xfrm xmlns:a="http://schemas.openxmlformats.org/drawingml/2006/main">
            <a:off x="609600" y="457200"/>
            <a:ext cx="8858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Arial"/>
                <a:ea typeface="Arial"/>
                <a:cs typeface="Arial"/>
              </a:defRPr>
            </a:defPPr>
          </a:lstStyle>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Why aerial object detection matters</a:t>
            </a:r>
          </a:p>
        </p:txBody>
      </p:sp>
      <p:pic>
        <p:nvPicPr>
          <p:cNvPr id="2" name="">
            <a:extLst xmlns:a="http://schemas.openxmlformats.org/drawingml/2006/main">
              <a:ext uri="{FF2B5EF4-FFF2-40B4-BE49-F238E27FC236}">
                <a16:creationId xmlns:a16="http://schemas.microsoft.com/office/drawing/2014/main" id="{1C022F75-3A77-4B8A-BD5D-FACC4975EDEC}"/>
              </a:ext>
            </a:extLst>
          </p:cNvPr>
          <p:cNvPicPr>
            <a:picLocks xmlns:a="http://schemas.openxmlformats.org/drawingml/2006/main" noChangeAspect="1"/>
          </p:cNvPicPr>
          <p:nvPr/>
        </p:nvPicPr>
        <p:blipFill>
          <a:blip xmlns:r="http://schemas.openxmlformats.org/officeDocument/2006/relationships" xmlns:a="http://schemas.openxmlformats.org/drawingml/2006/main" r:embed="R1234726aabd14a55"/>
          <a:stretch xmlns:a="http://schemas.openxmlformats.org/drawingml/2006/main"/>
        </p:blipFill>
        <p:spPr>
          <a:xfrm xmlns:a="http://schemas.openxmlformats.org/drawingml/2006/main">
            <a:off x="9870281" y="400050"/>
            <a:ext cx="1709738" cy="666750"/>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03428D2E-DFFE-4B3B-9A45-E9B6D6B7ABE5}"/>
              </a:ext>
            </a:extLst>
          </p:cNvPr>
          <p:cNvSpPr>
            <a:spLocks xmlns:a="http://schemas.openxmlformats.org/drawingml/2006/main" noGrp="1"/>
          </p:cNvSpPr>
          <p:nvPr/>
        </p:nvSpPr>
        <p:spPr>
          <a:xfrm xmlns:a="http://schemas.openxmlformats.org/drawingml/2006/main">
            <a:off x="11068050" y="6467475"/>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03</a:t>
            </a:r>
          </a:p>
        </p:txBody>
      </p:sp>
      <p:sp>
        <p:nvSpPr>
          <p:cNvPr id="4" name="text-3">
            <a:extLst xmlns:a="http://schemas.openxmlformats.org/drawingml/2006/main">
              <a:ext uri="{FF2B5EF4-FFF2-40B4-BE49-F238E27FC236}">
                <a16:creationId xmlns:a16="http://schemas.microsoft.com/office/drawing/2014/main" id="{19DE5A1F-B8A3-4104-8A2D-267D3549501F}"/>
              </a:ext>
            </a:extLst>
          </p:cNvPr>
          <p:cNvSpPr>
            <a:spLocks xmlns:a="http://schemas.openxmlformats.org/drawingml/2006/main" noGrp="1"/>
          </p:cNvSpPr>
          <p:nvPr/>
        </p:nvSpPr>
        <p:spPr>
          <a:xfrm xmlns:a="http://schemas.openxmlformats.org/drawingml/2006/main">
            <a:off x="609600" y="2114550"/>
            <a:ext cx="4191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A43"/>
                </a:solidFill>
                <a:latin typeface="Arial"/>
                <a:ea typeface="Arial"/>
                <a:cs typeface="Arial"/>
              </a:defRPr>
            </a:defPPr>
          </a:lstStyle>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Locate vehicles and ships</a:t>
            </a:r>
          </a:p>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across large scenes.</a:t>
            </a:r>
          </a:p>
        </p:txBody>
      </p:sp>
      <p:sp>
        <p:nvSpPr>
          <p:cNvPr id="5" name="text-4">
            <a:extLst xmlns:a="http://schemas.openxmlformats.org/drawingml/2006/main">
              <a:ext uri="{FF2B5EF4-FFF2-40B4-BE49-F238E27FC236}">
                <a16:creationId xmlns:a16="http://schemas.microsoft.com/office/drawing/2014/main" id="{ADD8EC64-53C7-4F94-911E-C13E28814D32}"/>
              </a:ext>
            </a:extLst>
          </p:cNvPr>
          <p:cNvSpPr>
            <a:spLocks xmlns:a="http://schemas.openxmlformats.org/drawingml/2006/main" noGrp="1"/>
          </p:cNvSpPr>
          <p:nvPr/>
        </p:nvSpPr>
        <p:spPr>
          <a:xfrm xmlns:a="http://schemas.openxmlformats.org/drawingml/2006/main">
            <a:off x="609600" y="3133725"/>
            <a:ext cx="4191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A43"/>
                </a:solidFill>
                <a:latin typeface="Arial"/>
                <a:ea typeface="Arial"/>
                <a:cs typeface="Arial"/>
              </a:defRPr>
            </a:defPPr>
          </a:lstStyle>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Support traffic monitoring</a:t>
            </a:r>
          </a:p>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and maritime analysis.</a:t>
            </a:r>
          </a:p>
        </p:txBody>
      </p:sp>
      <p:sp>
        <p:nvSpPr>
          <p:cNvPr id="6" name="text-5">
            <a:extLst xmlns:a="http://schemas.openxmlformats.org/drawingml/2006/main">
              <a:ext uri="{FF2B5EF4-FFF2-40B4-BE49-F238E27FC236}">
                <a16:creationId xmlns:a16="http://schemas.microsoft.com/office/drawing/2014/main" id="{CB61A2A2-5157-4BC3-B053-BF73FC2CDEF7}"/>
              </a:ext>
            </a:extLst>
          </p:cNvPr>
          <p:cNvSpPr>
            <a:spLocks xmlns:a="http://schemas.openxmlformats.org/drawingml/2006/main" noGrp="1"/>
          </p:cNvSpPr>
          <p:nvPr/>
        </p:nvSpPr>
        <p:spPr>
          <a:xfrm xmlns:a="http://schemas.openxmlformats.org/drawingml/2006/main">
            <a:off x="609600" y="4152900"/>
            <a:ext cx="4191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A43"/>
                </a:solidFill>
                <a:latin typeface="Arial"/>
                <a:ea typeface="Arial"/>
                <a:cs typeface="Arial"/>
              </a:defRPr>
            </a:defPPr>
          </a:lstStyle>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Tiny targets make the task</a:t>
            </a:r>
          </a:p>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difficult even in clear images.</a:t>
            </a:r>
          </a:p>
        </p:txBody>
      </p:sp>
      <p:pic>
        <p:nvPicPr>
          <p:cNvPr id="7" name="">
            <a:extLst xmlns:a="http://schemas.openxmlformats.org/drawingml/2006/main">
              <a:ext uri="{FF2B5EF4-FFF2-40B4-BE49-F238E27FC236}">
                <a16:creationId xmlns:a16="http://schemas.microsoft.com/office/drawing/2014/main" id="{B1575BA0-EEE6-41CA-8DBA-F9A0C13B138C}"/>
              </a:ext>
            </a:extLst>
          </p:cNvPr>
          <p:cNvPicPr>
            <a:picLocks xmlns:a="http://schemas.openxmlformats.org/drawingml/2006/main" noChangeAspect="1"/>
          </p:cNvPicPr>
          <p:nvPr/>
        </p:nvPicPr>
        <p:blipFill>
          <a:blip xmlns:r="http://schemas.openxmlformats.org/officeDocument/2006/relationships" xmlns:a="http://schemas.openxmlformats.org/drawingml/2006/main" r:embed="Reec45d73beac4eca"/>
          <a:stretch xmlns:a="http://schemas.openxmlformats.org/drawingml/2006/main"/>
        </p:blipFill>
        <p:spPr>
          <a:xfrm xmlns:a="http://schemas.openxmlformats.org/drawingml/2006/main">
            <a:off x="6493131" y="1762125"/>
            <a:ext cx="3968238" cy="40005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BD7912DA-835D-41E0-96ED-B68122128885}"/>
              </a:ext>
            </a:extLst>
          </p:cNvPr>
          <p:cNvSpPr>
            <a:spLocks xmlns:a="http://schemas.openxmlformats.org/drawingml/2006/main" noGrp="1"/>
          </p:cNvSpPr>
          <p:nvPr/>
        </p:nvSpPr>
        <p:spPr>
          <a:xfrm xmlns:a="http://schemas.openxmlformats.org/drawingml/2006/main">
            <a:off x="609600" y="60960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575"/>
                </a:solidFill>
                <a:latin typeface="Arial"/>
                <a:ea typeface="Arial"/>
                <a:cs typeface="Arial"/>
              </a:defRPr>
            </a:defPPr>
          </a:lstStyle>
          <a:p xmlns:a="http://schemas.openxmlformats.org/drawingml/2006/main">
            <a:pPr algn="l">
              <a:defRPr sz="1350" b="0">
                <a:solidFill>
                  <a:srgbClr val="526575"/>
                </a:solidFill>
                <a:latin typeface="Arial"/>
                <a:ea typeface="Arial"/>
                <a:cs typeface="Arial"/>
              </a:defRPr>
            </a:pPr>
            <a:r>
              <a:rPr sz="1350" b="0">
                <a:solidFill>
                  <a:srgbClr val="526575"/>
                </a:solidFill>
                <a:latin typeface="Arial"/>
                <a:ea typeface="Arial"/>
                <a:cs typeface="Arial"/>
              </a:rPr>
              <a:t>Conceptual aerial scene</a:t>
            </a:r>
          </a:p>
        </p:txBody>
      </p:sp>
    </p:spTree>
    <p:extLst>
      <p:ext uri="{BB962C8B-B14F-4D97-AF65-F5344CB8AC3E}">
        <p14:creationId xmlns:p14="http://schemas.microsoft.com/office/powerpoint/2010/main" val="56068493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
            <a:extLst xmlns:a="http://schemas.openxmlformats.org/drawingml/2006/main">
              <a:ext uri="{FF2B5EF4-FFF2-40B4-BE49-F238E27FC236}">
                <a16:creationId xmlns:a16="http://schemas.microsoft.com/office/drawing/2014/main" id="{084CB62F-438A-4D6A-B61A-54AF4DF71FE8}"/>
              </a:ext>
            </a:extLst>
          </p:cNvPr>
          <p:cNvSpPr>
            <a:spLocks xmlns:a="http://schemas.openxmlformats.org/drawingml/2006/main" noGrp="1"/>
          </p:cNvSpPr>
          <p:nvPr/>
        </p:nvSpPr>
        <p:spPr>
          <a:xfrm xmlns:a="http://schemas.openxmlformats.org/drawingml/2006/main">
            <a:off x="609600" y="457200"/>
            <a:ext cx="8858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Arial"/>
                <a:ea typeface="Arial"/>
                <a:cs typeface="Arial"/>
              </a:defRPr>
            </a:defPPr>
          </a:lstStyle>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A tiny object contains little visual detail</a:t>
            </a:r>
          </a:p>
        </p:txBody>
      </p:sp>
      <p:pic>
        <p:nvPicPr>
          <p:cNvPr id="2" name="">
            <a:extLst xmlns:a="http://schemas.openxmlformats.org/drawingml/2006/main">
              <a:ext uri="{FF2B5EF4-FFF2-40B4-BE49-F238E27FC236}">
                <a16:creationId xmlns:a16="http://schemas.microsoft.com/office/drawing/2014/main" id="{10A1B9F5-8BBF-4AC8-92FD-755DC561D2DA}"/>
              </a:ext>
            </a:extLst>
          </p:cNvPr>
          <p:cNvPicPr>
            <a:picLocks xmlns:a="http://schemas.openxmlformats.org/drawingml/2006/main" noChangeAspect="1"/>
          </p:cNvPicPr>
          <p:nvPr/>
        </p:nvPicPr>
        <p:blipFill>
          <a:blip xmlns:r="http://schemas.openxmlformats.org/officeDocument/2006/relationships" xmlns:a="http://schemas.openxmlformats.org/drawingml/2006/main" r:embed="Rbd828c08f4e64ee2"/>
          <a:stretch xmlns:a="http://schemas.openxmlformats.org/drawingml/2006/main"/>
        </p:blipFill>
        <p:spPr>
          <a:xfrm xmlns:a="http://schemas.openxmlformats.org/drawingml/2006/main">
            <a:off x="9870281" y="400050"/>
            <a:ext cx="1709738" cy="666750"/>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93D77445-DE8E-453D-A587-A2FB9C292D92}"/>
              </a:ext>
            </a:extLst>
          </p:cNvPr>
          <p:cNvSpPr>
            <a:spLocks xmlns:a="http://schemas.openxmlformats.org/drawingml/2006/main" noGrp="1"/>
          </p:cNvSpPr>
          <p:nvPr/>
        </p:nvSpPr>
        <p:spPr>
          <a:xfrm xmlns:a="http://schemas.openxmlformats.org/drawingml/2006/main">
            <a:off x="11068050" y="6467475"/>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04</a:t>
            </a:r>
          </a:p>
        </p:txBody>
      </p:sp>
      <p:sp>
        <p:nvSpPr>
          <p:cNvPr id="4" name="text-3">
            <a:extLst xmlns:a="http://schemas.openxmlformats.org/drawingml/2006/main">
              <a:ext uri="{FF2B5EF4-FFF2-40B4-BE49-F238E27FC236}">
                <a16:creationId xmlns:a16="http://schemas.microsoft.com/office/drawing/2014/main" id="{B60D0972-1A37-4C2D-8DB2-755E67ED9919}"/>
              </a:ext>
            </a:extLst>
          </p:cNvPr>
          <p:cNvSpPr>
            <a:spLocks xmlns:a="http://schemas.openxmlformats.org/drawingml/2006/main" noGrp="1"/>
          </p:cNvSpPr>
          <p:nvPr/>
        </p:nvSpPr>
        <p:spPr>
          <a:xfrm xmlns:a="http://schemas.openxmlformats.org/drawingml/2006/main">
            <a:off x="609600" y="2114550"/>
            <a:ext cx="4191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A43"/>
                </a:solidFill>
                <a:latin typeface="Arial"/>
                <a:ea typeface="Arial"/>
                <a:cs typeface="Arial"/>
              </a:defRPr>
            </a:defPPr>
          </a:lstStyle>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Only a few pixels may</a:t>
            </a:r>
          </a:p>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represent an object.</a:t>
            </a:r>
          </a:p>
        </p:txBody>
      </p:sp>
      <p:sp>
        <p:nvSpPr>
          <p:cNvPr id="5" name="text-4">
            <a:extLst xmlns:a="http://schemas.openxmlformats.org/drawingml/2006/main">
              <a:ext uri="{FF2B5EF4-FFF2-40B4-BE49-F238E27FC236}">
                <a16:creationId xmlns:a16="http://schemas.microsoft.com/office/drawing/2014/main" id="{ABD4DE74-86BA-493D-A301-B074FA32ACFD}"/>
              </a:ext>
            </a:extLst>
          </p:cNvPr>
          <p:cNvSpPr>
            <a:spLocks xmlns:a="http://schemas.openxmlformats.org/drawingml/2006/main" noGrp="1"/>
          </p:cNvSpPr>
          <p:nvPr/>
        </p:nvSpPr>
        <p:spPr>
          <a:xfrm xmlns:a="http://schemas.openxmlformats.org/drawingml/2006/main">
            <a:off x="609600" y="3133725"/>
            <a:ext cx="4191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A43"/>
                </a:solidFill>
                <a:latin typeface="Arial"/>
                <a:ea typeface="Arial"/>
                <a:cs typeface="Arial"/>
              </a:defRPr>
            </a:defPPr>
          </a:lstStyle>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Its appearance can blend</a:t>
            </a:r>
          </a:p>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into the background.</a:t>
            </a:r>
          </a:p>
        </p:txBody>
      </p:sp>
      <p:sp>
        <p:nvSpPr>
          <p:cNvPr id="6" name="text-5">
            <a:extLst xmlns:a="http://schemas.openxmlformats.org/drawingml/2006/main">
              <a:ext uri="{FF2B5EF4-FFF2-40B4-BE49-F238E27FC236}">
                <a16:creationId xmlns:a16="http://schemas.microsoft.com/office/drawing/2014/main" id="{20E720C0-C6D8-42CA-9294-CFF2C61AC333}"/>
              </a:ext>
            </a:extLst>
          </p:cNvPr>
          <p:cNvSpPr>
            <a:spLocks xmlns:a="http://schemas.openxmlformats.org/drawingml/2006/main" noGrp="1"/>
          </p:cNvSpPr>
          <p:nvPr/>
        </p:nvSpPr>
        <p:spPr>
          <a:xfrm xmlns:a="http://schemas.openxmlformats.org/drawingml/2006/main">
            <a:off x="609600" y="4152900"/>
            <a:ext cx="4191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A43"/>
                </a:solidFill>
                <a:latin typeface="Arial"/>
                <a:ea typeface="Arial"/>
                <a:cs typeface="Arial"/>
              </a:defRPr>
            </a:defPPr>
          </a:lstStyle>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Small localization errors</a:t>
            </a:r>
          </a:p>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can strongly affect overlap.</a:t>
            </a:r>
          </a:p>
        </p:txBody>
      </p:sp>
      <p:pic>
        <p:nvPicPr>
          <p:cNvPr id="7" name="">
            <a:extLst xmlns:a="http://schemas.openxmlformats.org/drawingml/2006/main">
              <a:ext uri="{FF2B5EF4-FFF2-40B4-BE49-F238E27FC236}">
                <a16:creationId xmlns:a16="http://schemas.microsoft.com/office/drawing/2014/main" id="{D2FA0906-39BD-4B25-AEC8-28EF1BF3C007}"/>
              </a:ext>
            </a:extLst>
          </p:cNvPr>
          <p:cNvPicPr>
            <a:picLocks xmlns:a="http://schemas.openxmlformats.org/drawingml/2006/main" noChangeAspect="1"/>
          </p:cNvPicPr>
          <p:nvPr/>
        </p:nvPicPr>
        <p:blipFill>
          <a:blip xmlns:r="http://schemas.openxmlformats.org/officeDocument/2006/relationships" xmlns:a="http://schemas.openxmlformats.org/drawingml/2006/main" r:embed="R68474386bf2543cf"/>
          <a:stretch xmlns:a="http://schemas.openxmlformats.org/drawingml/2006/main"/>
        </p:blipFill>
        <p:spPr>
          <a:xfrm xmlns:a="http://schemas.openxmlformats.org/drawingml/2006/main">
            <a:off x="6493131" y="1762125"/>
            <a:ext cx="3968238" cy="40005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DA9F94D0-26B9-46D8-9AD2-2DF8CFD0DBFD}"/>
              </a:ext>
            </a:extLst>
          </p:cNvPr>
          <p:cNvSpPr>
            <a:spLocks xmlns:a="http://schemas.openxmlformats.org/drawingml/2006/main" noGrp="1"/>
          </p:cNvSpPr>
          <p:nvPr/>
        </p:nvSpPr>
        <p:spPr>
          <a:xfrm xmlns:a="http://schemas.openxmlformats.org/drawingml/2006/main">
            <a:off x="609600" y="60960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575"/>
                </a:solidFill>
                <a:latin typeface="Arial"/>
                <a:ea typeface="Arial"/>
                <a:cs typeface="Arial"/>
              </a:defRPr>
            </a:defPPr>
          </a:lstStyle>
          <a:p xmlns:a="http://schemas.openxmlformats.org/drawingml/2006/main">
            <a:pPr algn="l">
              <a:defRPr sz="1350" b="0">
                <a:solidFill>
                  <a:srgbClr val="526575"/>
                </a:solidFill>
                <a:latin typeface="Arial"/>
                <a:ea typeface="Arial"/>
                <a:cs typeface="Arial"/>
              </a:defRPr>
            </a:pPr>
            <a:r>
              <a:rPr sz="1350" b="0">
                <a:solidFill>
                  <a:srgbClr val="526575"/>
                </a:solidFill>
                <a:latin typeface="Arial"/>
                <a:ea typeface="Arial"/>
                <a:cs typeface="Arial"/>
              </a:rPr>
              <a:t>Conceptual zoom, not an AI-TOD-R sample</a:t>
            </a:r>
          </a:p>
        </p:txBody>
      </p:sp>
    </p:spTree>
    <p:extLst>
      <p:ext uri="{BB962C8B-B14F-4D97-AF65-F5344CB8AC3E}">
        <p14:creationId xmlns:p14="http://schemas.microsoft.com/office/powerpoint/2010/main" val="106559671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
            <a:extLst xmlns:a="http://schemas.openxmlformats.org/drawingml/2006/main">
              <a:ext uri="{FF2B5EF4-FFF2-40B4-BE49-F238E27FC236}">
                <a16:creationId xmlns:a16="http://schemas.microsoft.com/office/drawing/2014/main" id="{D075AC78-37FC-434C-B0A9-5C38235D8957}"/>
              </a:ext>
            </a:extLst>
          </p:cNvPr>
          <p:cNvSpPr>
            <a:spLocks xmlns:a="http://schemas.openxmlformats.org/drawingml/2006/main" noGrp="1"/>
          </p:cNvSpPr>
          <p:nvPr/>
        </p:nvSpPr>
        <p:spPr>
          <a:xfrm xmlns:a="http://schemas.openxmlformats.org/drawingml/2006/main">
            <a:off x="609600" y="457200"/>
            <a:ext cx="8858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Arial"/>
                <a:ea typeface="Arial"/>
                <a:cs typeface="Arial"/>
              </a:defRPr>
            </a:defPPr>
          </a:lstStyle>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Objects also have an orientation</a:t>
            </a:r>
          </a:p>
        </p:txBody>
      </p:sp>
      <p:pic>
        <p:nvPicPr>
          <p:cNvPr id="2" name="">
            <a:extLst xmlns:a="http://schemas.openxmlformats.org/drawingml/2006/main">
              <a:ext uri="{FF2B5EF4-FFF2-40B4-BE49-F238E27FC236}">
                <a16:creationId xmlns:a16="http://schemas.microsoft.com/office/drawing/2014/main" id="{69BAFFC0-F804-48B6-9FA0-E1DA14BACC66}"/>
              </a:ext>
            </a:extLst>
          </p:cNvPr>
          <p:cNvPicPr>
            <a:picLocks xmlns:a="http://schemas.openxmlformats.org/drawingml/2006/main" noChangeAspect="1"/>
          </p:cNvPicPr>
          <p:nvPr/>
        </p:nvPicPr>
        <p:blipFill>
          <a:blip xmlns:r="http://schemas.openxmlformats.org/officeDocument/2006/relationships" xmlns:a="http://schemas.openxmlformats.org/drawingml/2006/main" r:embed="Rde792e5f3987405f"/>
          <a:stretch xmlns:a="http://schemas.openxmlformats.org/drawingml/2006/main"/>
        </p:blipFill>
        <p:spPr>
          <a:xfrm xmlns:a="http://schemas.openxmlformats.org/drawingml/2006/main">
            <a:off x="9870281" y="400050"/>
            <a:ext cx="1709738" cy="666750"/>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DCCFD5FD-933E-4117-BCD5-436499F48C3A}"/>
              </a:ext>
            </a:extLst>
          </p:cNvPr>
          <p:cNvSpPr>
            <a:spLocks xmlns:a="http://schemas.openxmlformats.org/drawingml/2006/main" noGrp="1"/>
          </p:cNvSpPr>
          <p:nvPr/>
        </p:nvSpPr>
        <p:spPr>
          <a:xfrm xmlns:a="http://schemas.openxmlformats.org/drawingml/2006/main">
            <a:off x="11068050" y="6467475"/>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05</a:t>
            </a:r>
          </a:p>
        </p:txBody>
      </p:sp>
      <p:pic>
        <p:nvPicPr>
          <p:cNvPr id="4" name="">
            <a:extLst xmlns:a="http://schemas.openxmlformats.org/drawingml/2006/main">
              <a:ext uri="{FF2B5EF4-FFF2-40B4-BE49-F238E27FC236}">
                <a16:creationId xmlns:a16="http://schemas.microsoft.com/office/drawing/2014/main" id="{BA28E49A-0025-43D1-AEB2-36C34E58A04A}"/>
              </a:ext>
            </a:extLst>
          </p:cNvPr>
          <p:cNvPicPr>
            <a:picLocks xmlns:a="http://schemas.openxmlformats.org/drawingml/2006/main" noChangeAspect="1"/>
          </p:cNvPicPr>
          <p:nvPr/>
        </p:nvPicPr>
        <p:blipFill>
          <a:blip xmlns:r="http://schemas.openxmlformats.org/officeDocument/2006/relationships" xmlns:a="http://schemas.openxmlformats.org/drawingml/2006/main" r:embed="Rdb2c96f3d08742a6"/>
          <a:stretch xmlns:a="http://schemas.openxmlformats.org/drawingml/2006/main"/>
        </p:blipFill>
        <p:spPr>
          <a:xfrm xmlns:a="http://schemas.openxmlformats.org/drawingml/2006/main">
            <a:off x="2459102" y="1781175"/>
            <a:ext cx="3920997" cy="3952875"/>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730D8E42-2783-4404-87A2-42634F131AB6}"/>
              </a:ext>
            </a:extLst>
          </p:cNvPr>
          <p:cNvSpPr>
            <a:spLocks xmlns:a="http://schemas.openxmlformats.org/drawingml/2006/main" noGrp="1"/>
          </p:cNvSpPr>
          <p:nvPr/>
        </p:nvSpPr>
        <p:spPr>
          <a:xfrm xmlns:a="http://schemas.openxmlformats.org/drawingml/2006/main">
            <a:off x="2152650" y="5619750"/>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1">
                <a:solidFill>
                  <a:srgbClr val="007CB6"/>
                </a:solidFill>
                <a:latin typeface="Arial"/>
                <a:ea typeface="Arial"/>
                <a:cs typeface="Arial"/>
              </a:defRPr>
            </a:defPPr>
          </a:lstStyle>
          <a:p xmlns:a="http://schemas.openxmlformats.org/drawingml/2006/main">
            <a:pPr algn="ctr">
              <a:defRPr sz="2100" b="1">
                <a:solidFill>
                  <a:srgbClr val="007CB6"/>
                </a:solidFill>
                <a:latin typeface="Arial"/>
                <a:ea typeface="Arial"/>
                <a:cs typeface="Arial"/>
              </a:defRPr>
            </a:pPr>
            <a:r>
              <a:rPr sz="2100" b="1">
                <a:solidFill>
                  <a:srgbClr val="007CB6"/>
                </a:solidFill>
                <a:latin typeface="Arial"/>
                <a:ea typeface="Arial"/>
                <a:cs typeface="Arial"/>
              </a:rPr>
              <a:t>Horizontal box</a:t>
            </a:r>
          </a:p>
        </p:txBody>
      </p:sp>
      <p:sp>
        <p:nvSpPr>
          <p:cNvPr id="6" name="text-4">
            <a:extLst xmlns:a="http://schemas.openxmlformats.org/drawingml/2006/main">
              <a:ext uri="{FF2B5EF4-FFF2-40B4-BE49-F238E27FC236}">
                <a16:creationId xmlns:a16="http://schemas.microsoft.com/office/drawing/2014/main" id="{1C1B65D0-448B-4654-85ED-E093B102E815}"/>
              </a:ext>
            </a:extLst>
          </p:cNvPr>
          <p:cNvSpPr>
            <a:spLocks xmlns:a="http://schemas.openxmlformats.org/drawingml/2006/main" noGrp="1"/>
          </p:cNvSpPr>
          <p:nvPr/>
        </p:nvSpPr>
        <p:spPr>
          <a:xfrm xmlns:a="http://schemas.openxmlformats.org/drawingml/2006/main">
            <a:off x="4505325" y="5619750"/>
            <a:ext cx="242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1">
                <a:solidFill>
                  <a:srgbClr val="F47920"/>
                </a:solidFill>
                <a:latin typeface="Arial"/>
                <a:ea typeface="Arial"/>
                <a:cs typeface="Arial"/>
              </a:defRPr>
            </a:defPPr>
          </a:lstStyle>
          <a:p xmlns:a="http://schemas.openxmlformats.org/drawingml/2006/main">
            <a:pPr algn="ctr">
              <a:defRPr sz="2100" b="1">
                <a:solidFill>
                  <a:srgbClr val="F47920"/>
                </a:solidFill>
                <a:latin typeface="Arial"/>
                <a:ea typeface="Arial"/>
                <a:cs typeface="Arial"/>
              </a:defRPr>
            </a:pPr>
            <a:r>
              <a:rPr sz="2100" b="1">
                <a:solidFill>
                  <a:srgbClr val="F47920"/>
                </a:solidFill>
                <a:latin typeface="Arial"/>
                <a:ea typeface="Arial"/>
                <a:cs typeface="Arial"/>
              </a:rPr>
              <a:t>Oriented box</a:t>
            </a:r>
          </a:p>
        </p:txBody>
      </p:sp>
      <p:sp>
        <p:nvSpPr>
          <p:cNvPr id="7" name="text-5">
            <a:extLst xmlns:a="http://schemas.openxmlformats.org/drawingml/2006/main">
              <a:ext uri="{FF2B5EF4-FFF2-40B4-BE49-F238E27FC236}">
                <a16:creationId xmlns:a16="http://schemas.microsoft.com/office/drawing/2014/main" id="{97C96804-84A1-44E5-AC71-A19F05B3E0B5}"/>
              </a:ext>
            </a:extLst>
          </p:cNvPr>
          <p:cNvSpPr>
            <a:spLocks xmlns:a="http://schemas.openxmlformats.org/drawingml/2006/main" noGrp="1"/>
          </p:cNvSpPr>
          <p:nvPr/>
        </p:nvSpPr>
        <p:spPr>
          <a:xfrm xmlns:a="http://schemas.openxmlformats.org/drawingml/2006/main">
            <a:off x="8772525" y="24193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02A43"/>
                </a:solidFill>
                <a:latin typeface="Arial"/>
                <a:ea typeface="Arial"/>
                <a:cs typeface="Arial"/>
              </a:defRPr>
            </a:defPPr>
          </a:lstStyle>
          <a:p xmlns:a="http://schemas.openxmlformats.org/drawingml/2006/main">
            <a:pPr algn="l">
              <a:defRPr sz="2250" b="0">
                <a:solidFill>
                  <a:srgbClr val="102A43"/>
                </a:solidFill>
                <a:latin typeface="Arial"/>
                <a:ea typeface="Arial"/>
                <a:cs typeface="Arial"/>
              </a:defRPr>
            </a:pPr>
            <a:r>
              <a:rPr sz="2250" b="0">
                <a:solidFill>
                  <a:srgbClr val="102A43"/>
                </a:solidFill>
                <a:latin typeface="Arial"/>
                <a:ea typeface="Arial"/>
                <a:cs typeface="Arial"/>
              </a:rPr>
              <a:t>An OBB follows</a:t>
            </a:r>
          </a:p>
          <a:p xmlns:a="http://schemas.openxmlformats.org/drawingml/2006/main">
            <a:pPr algn="l">
              <a:defRPr sz="2250" b="0">
                <a:solidFill>
                  <a:srgbClr val="102A43"/>
                </a:solidFill>
                <a:latin typeface="Arial"/>
                <a:ea typeface="Arial"/>
                <a:cs typeface="Arial"/>
              </a:defRPr>
            </a:pPr>
            <a:r>
              <a:rPr sz="2250" b="0">
                <a:solidFill>
                  <a:srgbClr val="102A43"/>
                </a:solidFill>
                <a:latin typeface="Arial"/>
                <a:ea typeface="Arial"/>
                <a:cs typeface="Arial"/>
              </a:rPr>
              <a:t>the object’s angle.</a:t>
            </a:r>
          </a:p>
        </p:txBody>
      </p:sp>
      <p:sp>
        <p:nvSpPr>
          <p:cNvPr id="8" name="text-6">
            <a:extLst xmlns:a="http://schemas.openxmlformats.org/drawingml/2006/main">
              <a:ext uri="{FF2B5EF4-FFF2-40B4-BE49-F238E27FC236}">
                <a16:creationId xmlns:a16="http://schemas.microsoft.com/office/drawing/2014/main" id="{D9936D7E-0DC5-4854-8DA5-A51A96E15FFB}"/>
              </a:ext>
            </a:extLst>
          </p:cNvPr>
          <p:cNvSpPr>
            <a:spLocks xmlns:a="http://schemas.openxmlformats.org/drawingml/2006/main" noGrp="1"/>
          </p:cNvSpPr>
          <p:nvPr/>
        </p:nvSpPr>
        <p:spPr>
          <a:xfrm xmlns:a="http://schemas.openxmlformats.org/drawingml/2006/main">
            <a:off x="8772525" y="4086225"/>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575"/>
                </a:solidFill>
                <a:latin typeface="Arial"/>
                <a:ea typeface="Arial"/>
                <a:cs typeface="Arial"/>
              </a:defRPr>
            </a:defPPr>
          </a:lstStyle>
          <a:p xmlns:a="http://schemas.openxmlformats.org/drawingml/2006/main">
            <a:pPr algn="l">
              <a:defRPr sz="2025" b="0">
                <a:solidFill>
                  <a:srgbClr val="526575"/>
                </a:solidFill>
                <a:latin typeface="Arial"/>
                <a:ea typeface="Arial"/>
                <a:cs typeface="Arial"/>
              </a:defRPr>
            </a:pPr>
            <a:r>
              <a:rPr sz="2025" b="0">
                <a:solidFill>
                  <a:srgbClr val="526575"/>
                </a:solidFill>
                <a:latin typeface="Arial"/>
                <a:ea typeface="Arial"/>
                <a:cs typeface="Arial"/>
              </a:rPr>
              <a:t>Useful for long</a:t>
            </a:r>
          </a:p>
          <a:p xmlns:a="http://schemas.openxmlformats.org/drawingml/2006/main">
            <a:pPr algn="l">
              <a:defRPr sz="2025" b="0">
                <a:solidFill>
                  <a:srgbClr val="526575"/>
                </a:solidFill>
                <a:latin typeface="Arial"/>
                <a:ea typeface="Arial"/>
                <a:cs typeface="Arial"/>
              </a:defRPr>
            </a:pPr>
            <a:r>
              <a:rPr sz="2025" b="0">
                <a:solidFill>
                  <a:srgbClr val="526575"/>
                </a:solidFill>
                <a:latin typeface="Arial"/>
                <a:ea typeface="Arial"/>
                <a:cs typeface="Arial"/>
              </a:rPr>
              <a:t>objects, such as ships.</a:t>
            </a:r>
          </a:p>
        </p:txBody>
      </p:sp>
    </p:spTree>
    <p:extLst>
      <p:ext uri="{BB962C8B-B14F-4D97-AF65-F5344CB8AC3E}">
        <p14:creationId xmlns:p14="http://schemas.microsoft.com/office/powerpoint/2010/main" val="11450116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1">
            <a:extLst xmlns:a="http://schemas.openxmlformats.org/drawingml/2006/main">
              <a:ext uri="{FF2B5EF4-FFF2-40B4-BE49-F238E27FC236}">
                <a16:creationId xmlns:a16="http://schemas.microsoft.com/office/drawing/2014/main" id="{2FE1F54F-1ECF-4B6D-AFAB-D0A69C22FCCF}"/>
              </a:ext>
            </a:extLst>
          </p:cNvPr>
          <p:cNvSpPr>
            <a:spLocks xmlns:a="http://schemas.openxmlformats.org/drawingml/2006/main" noGrp="1"/>
          </p:cNvSpPr>
          <p:nvPr/>
        </p:nvSpPr>
        <p:spPr>
          <a:xfrm xmlns:a="http://schemas.openxmlformats.org/drawingml/2006/main">
            <a:off x="609600" y="457200"/>
            <a:ext cx="8858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Arial"/>
                <a:ea typeface="Arial"/>
                <a:cs typeface="Arial"/>
              </a:defRPr>
            </a:defPPr>
          </a:lstStyle>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AI-TOD-R: our target benchmark</a:t>
            </a:r>
          </a:p>
        </p:txBody>
      </p:sp>
      <p:pic>
        <p:nvPicPr>
          <p:cNvPr id="2" name="">
            <a:extLst xmlns:a="http://schemas.openxmlformats.org/drawingml/2006/main">
              <a:ext uri="{FF2B5EF4-FFF2-40B4-BE49-F238E27FC236}">
                <a16:creationId xmlns:a16="http://schemas.microsoft.com/office/drawing/2014/main" id="{E2481231-7A97-4192-B5B1-3540AC9CA05E}"/>
              </a:ext>
            </a:extLst>
          </p:cNvPr>
          <p:cNvPicPr>
            <a:picLocks xmlns:a="http://schemas.openxmlformats.org/drawingml/2006/main" noChangeAspect="1"/>
          </p:cNvPicPr>
          <p:nvPr/>
        </p:nvPicPr>
        <p:blipFill>
          <a:blip xmlns:r="http://schemas.openxmlformats.org/officeDocument/2006/relationships" xmlns:a="http://schemas.openxmlformats.org/drawingml/2006/main" r:embed="Rba5c53a216b949de"/>
          <a:stretch xmlns:a="http://schemas.openxmlformats.org/drawingml/2006/main"/>
        </p:blipFill>
        <p:spPr>
          <a:xfrm xmlns:a="http://schemas.openxmlformats.org/drawingml/2006/main">
            <a:off x="9870281" y="400050"/>
            <a:ext cx="1709738" cy="666750"/>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AAF4D2B8-08E0-402C-A1E3-87EF0CBDA44F}"/>
              </a:ext>
            </a:extLst>
          </p:cNvPr>
          <p:cNvSpPr>
            <a:spLocks xmlns:a="http://schemas.openxmlformats.org/drawingml/2006/main" noGrp="1"/>
          </p:cNvSpPr>
          <p:nvPr/>
        </p:nvSpPr>
        <p:spPr>
          <a:xfrm xmlns:a="http://schemas.openxmlformats.org/drawingml/2006/main">
            <a:off x="11068050" y="6467475"/>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06</a:t>
            </a:r>
          </a:p>
        </p:txBody>
      </p:sp>
      <p:pic>
        <p:nvPicPr>
          <p:cNvPr id="4" name="">
            <a:extLst xmlns:a="http://schemas.openxmlformats.org/drawingml/2006/main">
              <a:ext uri="{FF2B5EF4-FFF2-40B4-BE49-F238E27FC236}">
                <a16:creationId xmlns:a16="http://schemas.microsoft.com/office/drawing/2014/main" id="{0E6B644B-C1D5-4809-B172-33929F9B85B3}"/>
              </a:ext>
            </a:extLst>
          </p:cNvPr>
          <p:cNvPicPr>
            <a:picLocks xmlns:a="http://schemas.openxmlformats.org/drawingml/2006/main" noChangeAspect="1"/>
          </p:cNvPicPr>
          <p:nvPr/>
        </p:nvPicPr>
        <p:blipFill>
          <a:blip xmlns:r="http://schemas.openxmlformats.org/officeDocument/2006/relationships" xmlns:a="http://schemas.openxmlformats.org/drawingml/2006/main" r:embed="R6484e739321742b6"/>
          <a:stretch xmlns:a="http://schemas.openxmlformats.org/drawingml/2006/main"/>
        </p:blipFill>
        <p:spPr>
          <a:xfrm xmlns:a="http://schemas.openxmlformats.org/drawingml/2006/main">
            <a:off x="6990013" y="1666875"/>
            <a:ext cx="4403224" cy="4048125"/>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1966EA39-00E1-41D5-962B-79D88E3ED554}"/>
              </a:ext>
            </a:extLst>
          </p:cNvPr>
          <p:cNvSpPr>
            <a:spLocks xmlns:a="http://schemas.openxmlformats.org/drawingml/2006/main" noGrp="1"/>
          </p:cNvSpPr>
          <p:nvPr/>
        </p:nvSpPr>
        <p:spPr>
          <a:xfrm xmlns:a="http://schemas.openxmlformats.org/drawingml/2006/main">
            <a:off x="609600" y="1809750"/>
            <a:ext cx="571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F47920"/>
                </a:solidFill>
                <a:latin typeface="Arial"/>
                <a:ea typeface="Arial"/>
                <a:cs typeface="Arial"/>
              </a:defRPr>
            </a:defPPr>
          </a:lstStyle>
          <a:p xmlns:a="http://schemas.openxmlformats.org/drawingml/2006/main">
            <a:pPr algn="l">
              <a:defRPr sz="4800" b="1">
                <a:solidFill>
                  <a:srgbClr val="F47920"/>
                </a:solidFill>
                <a:latin typeface="Arial"/>
                <a:ea typeface="Arial"/>
                <a:cs typeface="Arial"/>
              </a:defRPr>
            </a:pPr>
            <a:r>
              <a:rPr sz="4800" b="1">
                <a:solidFill>
                  <a:srgbClr val="F47920"/>
                </a:solidFill>
                <a:latin typeface="Arial"/>
                <a:ea typeface="Arial"/>
                <a:cs typeface="Arial"/>
              </a:rPr>
              <a:t>28,036</a:t>
            </a:r>
          </a:p>
        </p:txBody>
      </p:sp>
      <p:sp>
        <p:nvSpPr>
          <p:cNvPr id="6" name="text-4">
            <a:extLst xmlns:a="http://schemas.openxmlformats.org/drawingml/2006/main">
              <a:ext uri="{FF2B5EF4-FFF2-40B4-BE49-F238E27FC236}">
                <a16:creationId xmlns:a16="http://schemas.microsoft.com/office/drawing/2014/main" id="{1C12F636-0280-419F-8F48-C12C11834F3E}"/>
              </a:ext>
            </a:extLst>
          </p:cNvPr>
          <p:cNvSpPr>
            <a:spLocks xmlns:a="http://schemas.openxmlformats.org/drawingml/2006/main" noGrp="1"/>
          </p:cNvSpPr>
          <p:nvPr/>
        </p:nvSpPr>
        <p:spPr>
          <a:xfrm xmlns:a="http://schemas.openxmlformats.org/drawingml/2006/main">
            <a:off x="609600" y="26289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02A43"/>
                </a:solidFill>
                <a:latin typeface="Arial"/>
                <a:ea typeface="Arial"/>
                <a:cs typeface="Arial"/>
              </a:defRPr>
            </a:defPPr>
          </a:lstStyle>
          <a:p xmlns:a="http://schemas.openxmlformats.org/drawingml/2006/main">
            <a:pPr algn="l">
              <a:defRPr sz="2100" b="0">
                <a:solidFill>
                  <a:srgbClr val="102A43"/>
                </a:solidFill>
                <a:latin typeface="Arial"/>
                <a:ea typeface="Arial"/>
                <a:cs typeface="Arial"/>
              </a:defRPr>
            </a:pPr>
            <a:r>
              <a:rPr sz="2100" b="0">
                <a:solidFill>
                  <a:srgbClr val="102A43"/>
                </a:solidFill>
                <a:latin typeface="Arial"/>
                <a:ea typeface="Arial"/>
                <a:cs typeface="Arial"/>
              </a:rPr>
              <a:t>images</a:t>
            </a:r>
          </a:p>
        </p:txBody>
      </p:sp>
      <p:sp>
        <p:nvSpPr>
          <p:cNvPr id="7" name="text-5">
            <a:extLst xmlns:a="http://schemas.openxmlformats.org/drawingml/2006/main">
              <a:ext uri="{FF2B5EF4-FFF2-40B4-BE49-F238E27FC236}">
                <a16:creationId xmlns:a16="http://schemas.microsoft.com/office/drawing/2014/main" id="{917F3408-14D4-4715-9E7E-B3EDFA586070}"/>
              </a:ext>
            </a:extLst>
          </p:cNvPr>
          <p:cNvSpPr>
            <a:spLocks xmlns:a="http://schemas.openxmlformats.org/drawingml/2006/main" noGrp="1"/>
          </p:cNvSpPr>
          <p:nvPr/>
        </p:nvSpPr>
        <p:spPr>
          <a:xfrm xmlns:a="http://schemas.openxmlformats.org/drawingml/2006/main">
            <a:off x="609600" y="3286125"/>
            <a:ext cx="571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102A43"/>
                </a:solidFill>
                <a:latin typeface="Arial"/>
                <a:ea typeface="Arial"/>
                <a:cs typeface="Arial"/>
              </a:defRPr>
            </a:defPPr>
          </a:lstStyle>
          <a:p xmlns:a="http://schemas.openxmlformats.org/drawingml/2006/main">
            <a:pPr algn="l">
              <a:defRPr sz="4800" b="1">
                <a:solidFill>
                  <a:srgbClr val="102A43"/>
                </a:solidFill>
                <a:latin typeface="Arial"/>
                <a:ea typeface="Arial"/>
                <a:cs typeface="Arial"/>
              </a:defRPr>
            </a:pPr>
            <a:r>
              <a:rPr sz="4800" b="1">
                <a:solidFill>
                  <a:srgbClr val="102A43"/>
                </a:solidFill>
                <a:latin typeface="Arial"/>
                <a:ea typeface="Arial"/>
                <a:cs typeface="Arial"/>
              </a:rPr>
              <a:t>752,460</a:t>
            </a:r>
          </a:p>
        </p:txBody>
      </p:sp>
      <p:sp>
        <p:nvSpPr>
          <p:cNvPr id="8" name="text-6">
            <a:extLst xmlns:a="http://schemas.openxmlformats.org/drawingml/2006/main">
              <a:ext uri="{FF2B5EF4-FFF2-40B4-BE49-F238E27FC236}">
                <a16:creationId xmlns:a16="http://schemas.microsoft.com/office/drawing/2014/main" id="{ED8AAB1A-D2BA-403C-91EE-44BC6285C7B3}"/>
              </a:ext>
            </a:extLst>
          </p:cNvPr>
          <p:cNvSpPr>
            <a:spLocks xmlns:a="http://schemas.openxmlformats.org/drawingml/2006/main" noGrp="1"/>
          </p:cNvSpPr>
          <p:nvPr/>
        </p:nvSpPr>
        <p:spPr>
          <a:xfrm xmlns:a="http://schemas.openxmlformats.org/drawingml/2006/main">
            <a:off x="609600" y="4105275"/>
            <a:ext cx="581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02A43"/>
                </a:solidFill>
                <a:latin typeface="Arial"/>
                <a:ea typeface="Arial"/>
                <a:cs typeface="Arial"/>
              </a:defRPr>
            </a:defPPr>
          </a:lstStyle>
          <a:p xmlns:a="http://schemas.openxmlformats.org/drawingml/2006/main">
            <a:pPr algn="l">
              <a:defRPr sz="2100" b="0">
                <a:solidFill>
                  <a:srgbClr val="102A43"/>
                </a:solidFill>
                <a:latin typeface="Arial"/>
                <a:ea typeface="Arial"/>
                <a:cs typeface="Arial"/>
              </a:defRPr>
            </a:pPr>
            <a:r>
              <a:rPr sz="2100" b="0">
                <a:solidFill>
                  <a:srgbClr val="102A43"/>
                </a:solidFill>
                <a:latin typeface="Arial"/>
                <a:ea typeface="Arial"/>
                <a:cs typeface="Arial"/>
              </a:rPr>
              <a:t>oriented object annotations</a:t>
            </a:r>
          </a:p>
        </p:txBody>
      </p:sp>
      <p:sp>
        <p:nvSpPr>
          <p:cNvPr id="9" name="text-7">
            <a:extLst xmlns:a="http://schemas.openxmlformats.org/drawingml/2006/main">
              <a:ext uri="{FF2B5EF4-FFF2-40B4-BE49-F238E27FC236}">
                <a16:creationId xmlns:a16="http://schemas.microsoft.com/office/drawing/2014/main" id="{A1B12604-C84A-4CC8-A095-A859AC85D642}"/>
              </a:ext>
            </a:extLst>
          </p:cNvPr>
          <p:cNvSpPr>
            <a:spLocks xmlns:a="http://schemas.openxmlformats.org/drawingml/2006/main" noGrp="1"/>
          </p:cNvSpPr>
          <p:nvPr/>
        </p:nvSpPr>
        <p:spPr>
          <a:xfrm xmlns:a="http://schemas.openxmlformats.org/drawingml/2006/main">
            <a:off x="609600" y="4933950"/>
            <a:ext cx="581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2A43"/>
                </a:solidFill>
                <a:latin typeface="Arial"/>
                <a:ea typeface="Arial"/>
                <a:cs typeface="Arial"/>
              </a:defRPr>
            </a:defPPr>
          </a:lstStyle>
          <a:p xmlns:a="http://schemas.openxmlformats.org/drawingml/2006/main">
            <a:pPr algn="l">
              <a:defRPr sz="2400" b="1">
                <a:solidFill>
                  <a:srgbClr val="102A43"/>
                </a:solidFill>
                <a:latin typeface="Arial"/>
                <a:ea typeface="Arial"/>
                <a:cs typeface="Arial"/>
              </a:defRPr>
            </a:pPr>
            <a:r>
              <a:rPr sz="2400" b="1">
                <a:solidFill>
                  <a:srgbClr val="102A43"/>
                </a:solidFill>
                <a:latin typeface="Arial"/>
                <a:ea typeface="Arial"/>
                <a:cs typeface="Arial"/>
              </a:rPr>
              <a:t>8 classes</a:t>
            </a:r>
          </a:p>
        </p:txBody>
      </p:sp>
      <p:sp>
        <p:nvSpPr>
          <p:cNvPr id="10" name="text-8">
            <a:extLst xmlns:a="http://schemas.openxmlformats.org/drawingml/2006/main">
              <a:ext uri="{FF2B5EF4-FFF2-40B4-BE49-F238E27FC236}">
                <a16:creationId xmlns:a16="http://schemas.microsoft.com/office/drawing/2014/main" id="{A59AFB8E-9FD7-4EF8-9D35-6B062A4E9254}"/>
              </a:ext>
            </a:extLst>
          </p:cNvPr>
          <p:cNvSpPr>
            <a:spLocks xmlns:a="http://schemas.openxmlformats.org/drawingml/2006/main" noGrp="1"/>
          </p:cNvSpPr>
          <p:nvPr/>
        </p:nvSpPr>
        <p:spPr>
          <a:xfrm xmlns:a="http://schemas.openxmlformats.org/drawingml/2006/main">
            <a:off x="609600" y="5505450"/>
            <a:ext cx="609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575"/>
                </a:solidFill>
                <a:latin typeface="Arial"/>
                <a:ea typeface="Arial"/>
                <a:cs typeface="Arial"/>
              </a:defRPr>
            </a:defPPr>
          </a:lstStyle>
          <a:p xmlns:a="http://schemas.openxmlformats.org/drawingml/2006/main">
            <a:pPr algn="l">
              <a:defRPr sz="2025" b="0">
                <a:solidFill>
                  <a:srgbClr val="526575"/>
                </a:solidFill>
                <a:latin typeface="Arial"/>
                <a:ea typeface="Arial"/>
                <a:cs typeface="Arial"/>
              </a:defRPr>
            </a:pPr>
            <a:r>
              <a:rPr sz="2025" b="0">
                <a:solidFill>
                  <a:srgbClr val="526575"/>
                </a:solidFill>
                <a:latin typeface="Arial"/>
                <a:ea typeface="Arial"/>
                <a:cs typeface="Arial"/>
              </a:rPr>
              <a:t>Mean object size: 10.6 ± 4.9 px</a:t>
            </a:r>
          </a:p>
        </p:txBody>
      </p:sp>
      <p:sp>
        <p:nvSpPr>
          <p:cNvPr id="11" name="text-9">
            <a:extLst xmlns:a="http://schemas.openxmlformats.org/drawingml/2006/main">
              <a:ext uri="{FF2B5EF4-FFF2-40B4-BE49-F238E27FC236}">
                <a16:creationId xmlns:a16="http://schemas.microsoft.com/office/drawing/2014/main" id="{06C0A56C-2816-4BE3-AF45-ED168B3B2887}"/>
              </a:ext>
            </a:extLst>
          </p:cNvPr>
          <p:cNvSpPr>
            <a:spLocks xmlns:a="http://schemas.openxmlformats.org/drawingml/2006/main" noGrp="1"/>
          </p:cNvSpPr>
          <p:nvPr/>
        </p:nvSpPr>
        <p:spPr>
          <a:xfrm xmlns:a="http://schemas.openxmlformats.org/drawingml/2006/main">
            <a:off x="609600" y="60960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575"/>
                </a:solidFill>
                <a:latin typeface="Arial"/>
                <a:ea typeface="Arial"/>
                <a:cs typeface="Arial"/>
              </a:defRPr>
            </a:defPPr>
          </a:lstStyle>
          <a:p xmlns:a="http://schemas.openxmlformats.org/drawingml/2006/main">
            <a:pPr algn="l">
              <a:defRPr sz="1350" b="0">
                <a:solidFill>
                  <a:srgbClr val="526575"/>
                </a:solidFill>
                <a:latin typeface="Arial"/>
                <a:ea typeface="Arial"/>
                <a:cs typeface="Arial"/>
              </a:defRPr>
            </a:pPr>
            <a:r>
              <a:rPr sz="1350" b="0">
                <a:solidFill>
                  <a:srgbClr val="526575"/>
                </a:solidFill>
                <a:latin typeface="Arial"/>
                <a:ea typeface="Arial"/>
                <a:cs typeface="Arial"/>
              </a:rPr>
              <a:t>Published dataset statistics and image examples from Xu et al.</a:t>
            </a:r>
          </a:p>
        </p:txBody>
      </p:sp>
    </p:spTree>
    <p:extLst>
      <p:ext uri="{BB962C8B-B14F-4D97-AF65-F5344CB8AC3E}">
        <p14:creationId xmlns:p14="http://schemas.microsoft.com/office/powerpoint/2010/main" val="183149124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1">
            <a:extLst xmlns:a="http://schemas.openxmlformats.org/drawingml/2006/main">
              <a:ext uri="{FF2B5EF4-FFF2-40B4-BE49-F238E27FC236}">
                <a16:creationId xmlns:a16="http://schemas.microsoft.com/office/drawing/2014/main" id="{2CC613AE-D9C1-454B-85AF-42D52A73E95C}"/>
              </a:ext>
            </a:extLst>
          </p:cNvPr>
          <p:cNvSpPr>
            <a:spLocks xmlns:a="http://schemas.openxmlformats.org/drawingml/2006/main" noGrp="1"/>
          </p:cNvSpPr>
          <p:nvPr/>
        </p:nvSpPr>
        <p:spPr>
          <a:xfrm xmlns:a="http://schemas.openxmlformats.org/drawingml/2006/main">
            <a:off x="609600" y="457200"/>
            <a:ext cx="8858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Arial"/>
                <a:ea typeface="Arial"/>
                <a:cs typeface="Arial"/>
              </a:defRPr>
            </a:defPPr>
          </a:lstStyle>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YOLO-OBB and the training pipeline</a:t>
            </a:r>
          </a:p>
        </p:txBody>
      </p:sp>
      <p:pic>
        <p:nvPicPr>
          <p:cNvPr id="2" name="">
            <a:extLst xmlns:a="http://schemas.openxmlformats.org/drawingml/2006/main">
              <a:ext uri="{FF2B5EF4-FFF2-40B4-BE49-F238E27FC236}">
                <a16:creationId xmlns:a16="http://schemas.microsoft.com/office/drawing/2014/main" id="{2139F680-8E1A-4D1D-9E91-537D1536495E}"/>
              </a:ext>
            </a:extLst>
          </p:cNvPr>
          <p:cNvPicPr>
            <a:picLocks xmlns:a="http://schemas.openxmlformats.org/drawingml/2006/main" noChangeAspect="1"/>
          </p:cNvPicPr>
          <p:nvPr/>
        </p:nvPicPr>
        <p:blipFill>
          <a:blip xmlns:r="http://schemas.openxmlformats.org/officeDocument/2006/relationships" xmlns:a="http://schemas.openxmlformats.org/drawingml/2006/main" r:embed="R6d467e145f274fe1"/>
          <a:stretch xmlns:a="http://schemas.openxmlformats.org/drawingml/2006/main"/>
        </p:blipFill>
        <p:spPr>
          <a:xfrm xmlns:a="http://schemas.openxmlformats.org/drawingml/2006/main">
            <a:off x="9870281" y="400050"/>
            <a:ext cx="1709738" cy="666750"/>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C60C9DFA-9DDA-479E-AAAC-ACE762C0BC42}"/>
              </a:ext>
            </a:extLst>
          </p:cNvPr>
          <p:cNvSpPr>
            <a:spLocks xmlns:a="http://schemas.openxmlformats.org/drawingml/2006/main" noGrp="1"/>
          </p:cNvSpPr>
          <p:nvPr/>
        </p:nvSpPr>
        <p:spPr>
          <a:xfrm xmlns:a="http://schemas.openxmlformats.org/drawingml/2006/main">
            <a:off x="11068050" y="6467475"/>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07</a:t>
            </a:r>
          </a:p>
        </p:txBody>
      </p:sp>
      <p:pic>
        <p:nvPicPr>
          <p:cNvPr id="4" name="">
            <a:extLst xmlns:a="http://schemas.openxmlformats.org/drawingml/2006/main">
              <a:ext uri="{FF2B5EF4-FFF2-40B4-BE49-F238E27FC236}">
                <a16:creationId xmlns:a16="http://schemas.microsoft.com/office/drawing/2014/main" id="{1D645015-A4C4-4A6B-99FB-A68A19F4BC31}"/>
              </a:ext>
            </a:extLst>
          </p:cNvPr>
          <p:cNvPicPr>
            <a:picLocks xmlns:a="http://schemas.openxmlformats.org/drawingml/2006/main" noChangeAspect="1"/>
          </p:cNvPicPr>
          <p:nvPr/>
        </p:nvPicPr>
        <p:blipFill>
          <a:blip xmlns:r="http://schemas.openxmlformats.org/officeDocument/2006/relationships" xmlns:a="http://schemas.openxmlformats.org/drawingml/2006/main" r:embed="R3ebcf7f95d8149fb"/>
          <a:stretch xmlns:a="http://schemas.openxmlformats.org/drawingml/2006/main"/>
        </p:blipFill>
        <p:spPr>
          <a:xfrm xmlns:a="http://schemas.openxmlformats.org/drawingml/2006/main">
            <a:off x="1212416" y="1819275"/>
            <a:ext cx="1270867" cy="2505075"/>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39CFA20A-DE2F-4332-BC2A-528D03219061}"/>
              </a:ext>
            </a:extLst>
          </p:cNvPr>
          <p:cNvPicPr>
            <a:picLocks xmlns:a="http://schemas.openxmlformats.org/drawingml/2006/main" noChangeAspect="1"/>
          </p:cNvPicPr>
          <p:nvPr/>
        </p:nvPicPr>
        <p:blipFill>
          <a:blip xmlns:r="http://schemas.openxmlformats.org/officeDocument/2006/relationships" xmlns:a="http://schemas.openxmlformats.org/drawingml/2006/main" r:embed="R015da30c1de04d0b"/>
          <a:stretch xmlns:a="http://schemas.openxmlformats.org/drawingml/2006/main"/>
        </p:blipFill>
        <p:spPr>
          <a:xfrm xmlns:a="http://schemas.openxmlformats.org/drawingml/2006/main">
            <a:off x="3900627" y="1819275"/>
            <a:ext cx="1380846" cy="250507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7EFEDE91-9AF4-4E46-A418-4FFE7773F69B}"/>
              </a:ext>
            </a:extLst>
          </p:cNvPr>
          <p:cNvPicPr>
            <a:picLocks xmlns:a="http://schemas.openxmlformats.org/drawingml/2006/main" noChangeAspect="1"/>
          </p:cNvPicPr>
          <p:nvPr/>
        </p:nvPicPr>
        <p:blipFill>
          <a:blip xmlns:r="http://schemas.openxmlformats.org/officeDocument/2006/relationships" xmlns:a="http://schemas.openxmlformats.org/drawingml/2006/main" r:embed="R37d9d25dcb3346e0"/>
          <a:stretch xmlns:a="http://schemas.openxmlformats.org/drawingml/2006/main"/>
        </p:blipFill>
        <p:spPr>
          <a:xfrm xmlns:a="http://schemas.openxmlformats.org/drawingml/2006/main">
            <a:off x="6748825" y="1819275"/>
            <a:ext cx="1170850" cy="250507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0AA968A9-539B-40A1-BBDA-402E4CD7302B}"/>
              </a:ext>
            </a:extLst>
          </p:cNvPr>
          <p:cNvPicPr>
            <a:picLocks xmlns:a="http://schemas.openxmlformats.org/drawingml/2006/main" noChangeAspect="1"/>
          </p:cNvPicPr>
          <p:nvPr/>
        </p:nvPicPr>
        <p:blipFill>
          <a:blip xmlns:r="http://schemas.openxmlformats.org/officeDocument/2006/relationships" xmlns:a="http://schemas.openxmlformats.org/drawingml/2006/main" r:embed="R1b56e653d6a24c7d"/>
          <a:stretch xmlns:a="http://schemas.openxmlformats.org/drawingml/2006/main"/>
        </p:blipFill>
        <p:spPr>
          <a:xfrm xmlns:a="http://schemas.openxmlformats.org/drawingml/2006/main">
            <a:off x="9387027" y="1819275"/>
            <a:ext cx="1380846" cy="2505075"/>
          </a:xfrm>
          <a:prstGeom xmlns:a="http://schemas.openxmlformats.org/drawingml/2006/main" prst="rect">
            <a:avLst/>
          </a:prstGeom>
        </p:spPr>
      </p:pic>
      <p:sp>
        <p:nvSpPr>
          <p:cNvPr id="8" name="text-3">
            <a:extLst xmlns:a="http://schemas.openxmlformats.org/drawingml/2006/main">
              <a:ext uri="{FF2B5EF4-FFF2-40B4-BE49-F238E27FC236}">
                <a16:creationId xmlns:a16="http://schemas.microsoft.com/office/drawing/2014/main" id="{300BC5C0-6F26-40BD-90B1-8C13AE5920DB}"/>
              </a:ext>
            </a:extLst>
          </p:cNvPr>
          <p:cNvSpPr>
            <a:spLocks xmlns:a="http://schemas.openxmlformats.org/drawingml/2006/main" noGrp="1"/>
          </p:cNvSpPr>
          <p:nvPr/>
        </p:nvSpPr>
        <p:spPr>
          <a:xfrm xmlns:a="http://schemas.openxmlformats.org/drawingml/2006/main">
            <a:off x="609600" y="4610100"/>
            <a:ext cx="247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02A43"/>
                </a:solidFill>
                <a:latin typeface="Arial"/>
                <a:ea typeface="Arial"/>
                <a:cs typeface="Arial"/>
              </a:defRPr>
            </a:defPPr>
          </a:lstStyle>
          <a:p xmlns:a="http://schemas.openxmlformats.org/drawingml/2006/main">
            <a:pPr algn="ctr">
              <a:defRPr sz="2025" b="1">
                <a:solidFill>
                  <a:srgbClr val="102A43"/>
                </a:solidFill>
                <a:latin typeface="Arial"/>
                <a:ea typeface="Arial"/>
                <a:cs typeface="Arial"/>
              </a:defRPr>
            </a:pPr>
            <a:r>
              <a:rPr sz="2025" b="1">
                <a:solidFill>
                  <a:srgbClr val="102A43"/>
                </a:solidFill>
                <a:latin typeface="Arial"/>
                <a:ea typeface="Arial"/>
                <a:cs typeface="Arial"/>
              </a:rPr>
              <a:t>Input image</a:t>
            </a:r>
          </a:p>
        </p:txBody>
      </p:sp>
      <p:sp>
        <p:nvSpPr>
          <p:cNvPr id="9" name="text-4">
            <a:extLst xmlns:a="http://schemas.openxmlformats.org/drawingml/2006/main">
              <a:ext uri="{FF2B5EF4-FFF2-40B4-BE49-F238E27FC236}">
                <a16:creationId xmlns:a16="http://schemas.microsoft.com/office/drawing/2014/main" id="{5AA2E1F8-86BB-4F4A-985D-D0E5EBAB49B8}"/>
              </a:ext>
            </a:extLst>
          </p:cNvPr>
          <p:cNvSpPr>
            <a:spLocks xmlns:a="http://schemas.openxmlformats.org/drawingml/2006/main" noGrp="1"/>
          </p:cNvSpPr>
          <p:nvPr/>
        </p:nvSpPr>
        <p:spPr>
          <a:xfrm xmlns:a="http://schemas.openxmlformats.org/drawingml/2006/main">
            <a:off x="3352800" y="4610100"/>
            <a:ext cx="247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02A43"/>
                </a:solidFill>
                <a:latin typeface="Arial"/>
                <a:ea typeface="Arial"/>
                <a:cs typeface="Arial"/>
              </a:defRPr>
            </a:defPPr>
          </a:lstStyle>
          <a:p xmlns:a="http://schemas.openxmlformats.org/drawingml/2006/main">
            <a:pPr algn="ctr">
              <a:defRPr sz="2025" b="1">
                <a:solidFill>
                  <a:srgbClr val="102A43"/>
                </a:solidFill>
                <a:latin typeface="Arial"/>
                <a:ea typeface="Arial"/>
                <a:cs typeface="Arial"/>
              </a:defRPr>
            </a:pPr>
            <a:r>
              <a:rPr sz="2025" b="1">
                <a:solidFill>
                  <a:srgbClr val="102A43"/>
                </a:solidFill>
                <a:latin typeface="Arial"/>
                <a:ea typeface="Arial"/>
                <a:cs typeface="Arial"/>
              </a:rPr>
              <a:t>Feature maps</a:t>
            </a:r>
          </a:p>
        </p:txBody>
      </p:sp>
      <p:sp>
        <p:nvSpPr>
          <p:cNvPr id="10" name="text-5">
            <a:extLst xmlns:a="http://schemas.openxmlformats.org/drawingml/2006/main">
              <a:ext uri="{FF2B5EF4-FFF2-40B4-BE49-F238E27FC236}">
                <a16:creationId xmlns:a16="http://schemas.microsoft.com/office/drawing/2014/main" id="{A3F00E6A-EA15-48FC-A734-ADD65459C79A}"/>
              </a:ext>
            </a:extLst>
          </p:cNvPr>
          <p:cNvSpPr>
            <a:spLocks xmlns:a="http://schemas.openxmlformats.org/drawingml/2006/main" noGrp="1"/>
          </p:cNvSpPr>
          <p:nvPr/>
        </p:nvSpPr>
        <p:spPr>
          <a:xfrm xmlns:a="http://schemas.openxmlformats.org/drawingml/2006/main">
            <a:off x="6096000" y="4610100"/>
            <a:ext cx="247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02A43"/>
                </a:solidFill>
                <a:latin typeface="Arial"/>
                <a:ea typeface="Arial"/>
                <a:cs typeface="Arial"/>
              </a:defRPr>
            </a:defPPr>
          </a:lstStyle>
          <a:p xmlns:a="http://schemas.openxmlformats.org/drawingml/2006/main">
            <a:pPr algn="ctr">
              <a:defRPr sz="2025" b="1">
                <a:solidFill>
                  <a:srgbClr val="102A43"/>
                </a:solidFill>
                <a:latin typeface="Arial"/>
                <a:ea typeface="Arial"/>
                <a:cs typeface="Arial"/>
              </a:defRPr>
            </a:pPr>
            <a:r>
              <a:rPr sz="2025" b="1">
                <a:solidFill>
                  <a:srgbClr val="102A43"/>
                </a:solidFill>
                <a:latin typeface="Arial"/>
                <a:ea typeface="Arial"/>
                <a:cs typeface="Arial"/>
              </a:rPr>
              <a:t>Label assignment</a:t>
            </a:r>
          </a:p>
        </p:txBody>
      </p:sp>
      <p:sp>
        <p:nvSpPr>
          <p:cNvPr id="11" name="text-6">
            <a:extLst xmlns:a="http://schemas.openxmlformats.org/drawingml/2006/main">
              <a:ext uri="{FF2B5EF4-FFF2-40B4-BE49-F238E27FC236}">
                <a16:creationId xmlns:a16="http://schemas.microsoft.com/office/drawing/2014/main" id="{BE64E4AD-6FC6-459E-91E2-0B2455732D54}"/>
              </a:ext>
            </a:extLst>
          </p:cNvPr>
          <p:cNvSpPr>
            <a:spLocks xmlns:a="http://schemas.openxmlformats.org/drawingml/2006/main" noGrp="1"/>
          </p:cNvSpPr>
          <p:nvPr/>
        </p:nvSpPr>
        <p:spPr>
          <a:xfrm xmlns:a="http://schemas.openxmlformats.org/drawingml/2006/main">
            <a:off x="8839200" y="4610100"/>
            <a:ext cx="247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02A43"/>
                </a:solidFill>
                <a:latin typeface="Arial"/>
                <a:ea typeface="Arial"/>
                <a:cs typeface="Arial"/>
              </a:defRPr>
            </a:defPPr>
          </a:lstStyle>
          <a:p xmlns:a="http://schemas.openxmlformats.org/drawingml/2006/main">
            <a:pPr algn="ctr">
              <a:defRPr sz="2025" b="1">
                <a:solidFill>
                  <a:srgbClr val="102A43"/>
                </a:solidFill>
                <a:latin typeface="Arial"/>
                <a:ea typeface="Arial"/>
                <a:cs typeface="Arial"/>
              </a:defRPr>
            </a:pPr>
            <a:r>
              <a:rPr sz="2025" b="1">
                <a:solidFill>
                  <a:srgbClr val="102A43"/>
                </a:solidFill>
                <a:latin typeface="Arial"/>
                <a:ea typeface="Arial"/>
                <a:cs typeface="Arial"/>
              </a:rPr>
              <a:t>Box predictions</a:t>
            </a:r>
          </a:p>
        </p:txBody>
      </p:sp>
      <p:sp>
        <p:nvSpPr>
          <p:cNvPr id="12" name="text-7">
            <a:extLst xmlns:a="http://schemas.openxmlformats.org/drawingml/2006/main">
              <a:ext uri="{FF2B5EF4-FFF2-40B4-BE49-F238E27FC236}">
                <a16:creationId xmlns:a16="http://schemas.microsoft.com/office/drawing/2014/main" id="{BAD46A9B-917B-4E97-B6DF-C7FB6C51BCC0}"/>
              </a:ext>
            </a:extLst>
          </p:cNvPr>
          <p:cNvSpPr>
            <a:spLocks xmlns:a="http://schemas.openxmlformats.org/drawingml/2006/main" noGrp="1"/>
          </p:cNvSpPr>
          <p:nvPr/>
        </p:nvSpPr>
        <p:spPr>
          <a:xfrm xmlns:a="http://schemas.openxmlformats.org/drawingml/2006/main">
            <a:off x="609600" y="55054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47920"/>
                </a:solidFill>
                <a:latin typeface="Arial"/>
                <a:ea typeface="Arial"/>
                <a:cs typeface="Arial"/>
              </a:defRPr>
            </a:defPPr>
          </a:lstStyle>
          <a:p xmlns:a="http://schemas.openxmlformats.org/drawingml/2006/main">
            <a:pPr algn="l">
              <a:defRPr sz="2550" b="1">
                <a:solidFill>
                  <a:srgbClr val="F47920"/>
                </a:solidFill>
                <a:latin typeface="Arial"/>
                <a:ea typeface="Arial"/>
                <a:cs typeface="Arial"/>
              </a:defRPr>
            </a:pPr>
            <a:r>
              <a:rPr sz="2550" b="1">
                <a:solidFill>
                  <a:srgbClr val="F47920"/>
                </a:solidFill>
                <a:latin typeface="Arial"/>
                <a:ea typeface="Arial"/>
                <a:cs typeface="Arial"/>
              </a:rPr>
              <a:t>Our focus: which feature-map positions learn each object</a:t>
            </a:r>
          </a:p>
        </p:txBody>
      </p:sp>
    </p:spTree>
    <p:extLst>
      <p:ext uri="{BB962C8B-B14F-4D97-AF65-F5344CB8AC3E}">
        <p14:creationId xmlns:p14="http://schemas.microsoft.com/office/powerpoint/2010/main" val="76215361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
            <a:extLst xmlns:a="http://schemas.openxmlformats.org/drawingml/2006/main">
              <a:ext uri="{FF2B5EF4-FFF2-40B4-BE49-F238E27FC236}">
                <a16:creationId xmlns:a16="http://schemas.microsoft.com/office/drawing/2014/main" id="{139CA5B2-0F7E-4A77-BC48-5703D74CCBA5}"/>
              </a:ext>
            </a:extLst>
          </p:cNvPr>
          <p:cNvSpPr>
            <a:spLocks xmlns:a="http://schemas.openxmlformats.org/drawingml/2006/main" noGrp="1"/>
          </p:cNvSpPr>
          <p:nvPr/>
        </p:nvSpPr>
        <p:spPr>
          <a:xfrm xmlns:a="http://schemas.openxmlformats.org/drawingml/2006/main">
            <a:off x="609600" y="457200"/>
            <a:ext cx="8858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Arial"/>
                <a:ea typeface="Arial"/>
                <a:cs typeface="Arial"/>
              </a:defRPr>
            </a:defPPr>
          </a:lstStyle>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Candidate points and training samples</a:t>
            </a:r>
          </a:p>
        </p:txBody>
      </p:sp>
      <p:pic>
        <p:nvPicPr>
          <p:cNvPr id="2" name="">
            <a:extLst xmlns:a="http://schemas.openxmlformats.org/drawingml/2006/main">
              <a:ext uri="{FF2B5EF4-FFF2-40B4-BE49-F238E27FC236}">
                <a16:creationId xmlns:a16="http://schemas.microsoft.com/office/drawing/2014/main" id="{2D0BE897-64A3-404D-9661-6A328A9D76BD}"/>
              </a:ext>
            </a:extLst>
          </p:cNvPr>
          <p:cNvPicPr>
            <a:picLocks xmlns:a="http://schemas.openxmlformats.org/drawingml/2006/main" noChangeAspect="1"/>
          </p:cNvPicPr>
          <p:nvPr/>
        </p:nvPicPr>
        <p:blipFill>
          <a:blip xmlns:r="http://schemas.openxmlformats.org/officeDocument/2006/relationships" xmlns:a="http://schemas.openxmlformats.org/drawingml/2006/main" r:embed="Reb2ba2a7b5a84f35"/>
          <a:stretch xmlns:a="http://schemas.openxmlformats.org/drawingml/2006/main"/>
        </p:blipFill>
        <p:spPr>
          <a:xfrm xmlns:a="http://schemas.openxmlformats.org/drawingml/2006/main">
            <a:off x="9870281" y="400050"/>
            <a:ext cx="1709738" cy="666750"/>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C93F4E3D-0E50-4698-8A0A-78F4CDA87556}"/>
              </a:ext>
            </a:extLst>
          </p:cNvPr>
          <p:cNvSpPr>
            <a:spLocks xmlns:a="http://schemas.openxmlformats.org/drawingml/2006/main" noGrp="1"/>
          </p:cNvSpPr>
          <p:nvPr/>
        </p:nvSpPr>
        <p:spPr>
          <a:xfrm xmlns:a="http://schemas.openxmlformats.org/drawingml/2006/main">
            <a:off x="11068050" y="6467475"/>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08</a:t>
            </a:r>
          </a:p>
        </p:txBody>
      </p:sp>
      <p:sp>
        <p:nvSpPr>
          <p:cNvPr id="4" name="text-3">
            <a:extLst xmlns:a="http://schemas.openxmlformats.org/drawingml/2006/main">
              <a:ext uri="{FF2B5EF4-FFF2-40B4-BE49-F238E27FC236}">
                <a16:creationId xmlns:a16="http://schemas.microsoft.com/office/drawing/2014/main" id="{B340AAC7-0AAE-4254-968A-2A64087822C0}"/>
              </a:ext>
            </a:extLst>
          </p:cNvPr>
          <p:cNvSpPr>
            <a:spLocks xmlns:a="http://schemas.openxmlformats.org/drawingml/2006/main" noGrp="1"/>
          </p:cNvSpPr>
          <p:nvPr/>
        </p:nvSpPr>
        <p:spPr>
          <a:xfrm xmlns:a="http://schemas.openxmlformats.org/drawingml/2006/main">
            <a:off x="609600" y="2114550"/>
            <a:ext cx="4191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A43"/>
                </a:solidFill>
                <a:latin typeface="Arial"/>
                <a:ea typeface="Arial"/>
                <a:cs typeface="Arial"/>
              </a:defRPr>
            </a:defPPr>
          </a:lstStyle>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Anchor points are locations</a:t>
            </a:r>
          </a:p>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on the feature maps.</a:t>
            </a:r>
          </a:p>
        </p:txBody>
      </p:sp>
      <p:sp>
        <p:nvSpPr>
          <p:cNvPr id="5" name="text-4">
            <a:extLst xmlns:a="http://schemas.openxmlformats.org/drawingml/2006/main">
              <a:ext uri="{FF2B5EF4-FFF2-40B4-BE49-F238E27FC236}">
                <a16:creationId xmlns:a16="http://schemas.microsoft.com/office/drawing/2014/main" id="{1738EC24-DFDA-43F5-A0E3-84644ED52B89}"/>
              </a:ext>
            </a:extLst>
          </p:cNvPr>
          <p:cNvSpPr>
            <a:spLocks xmlns:a="http://schemas.openxmlformats.org/drawingml/2006/main" noGrp="1"/>
          </p:cNvSpPr>
          <p:nvPr/>
        </p:nvSpPr>
        <p:spPr>
          <a:xfrm xmlns:a="http://schemas.openxmlformats.org/drawingml/2006/main">
            <a:off x="609600" y="3133725"/>
            <a:ext cx="4191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A43"/>
                </a:solidFill>
                <a:latin typeface="Arial"/>
                <a:ea typeface="Arial"/>
                <a:cs typeface="Arial"/>
              </a:defRPr>
            </a:defPPr>
          </a:lstStyle>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A candidate region filters</a:t>
            </a:r>
          </a:p>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which points are eligible.</a:t>
            </a:r>
          </a:p>
        </p:txBody>
      </p:sp>
      <p:sp>
        <p:nvSpPr>
          <p:cNvPr id="6" name="text-5">
            <a:extLst xmlns:a="http://schemas.openxmlformats.org/drawingml/2006/main">
              <a:ext uri="{FF2B5EF4-FFF2-40B4-BE49-F238E27FC236}">
                <a16:creationId xmlns:a16="http://schemas.microsoft.com/office/drawing/2014/main" id="{AED91732-4F8F-470F-99A1-AB5F07C184BB}"/>
              </a:ext>
            </a:extLst>
          </p:cNvPr>
          <p:cNvSpPr>
            <a:spLocks xmlns:a="http://schemas.openxmlformats.org/drawingml/2006/main" noGrp="1"/>
          </p:cNvSpPr>
          <p:nvPr/>
        </p:nvSpPr>
        <p:spPr>
          <a:xfrm xmlns:a="http://schemas.openxmlformats.org/drawingml/2006/main">
            <a:off x="609600" y="4152900"/>
            <a:ext cx="4191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A43"/>
                </a:solidFill>
                <a:latin typeface="Arial"/>
                <a:ea typeface="Arial"/>
                <a:cs typeface="Arial"/>
              </a:defRPr>
            </a:defPPr>
          </a:lstStyle>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Scoring and conflict handling</a:t>
            </a:r>
          </a:p>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select the final positives.</a:t>
            </a:r>
          </a:p>
        </p:txBody>
      </p:sp>
      <p:pic>
        <p:nvPicPr>
          <p:cNvPr id="7" name="">
            <a:extLst xmlns:a="http://schemas.openxmlformats.org/drawingml/2006/main">
              <a:ext uri="{FF2B5EF4-FFF2-40B4-BE49-F238E27FC236}">
                <a16:creationId xmlns:a16="http://schemas.microsoft.com/office/drawing/2014/main" id="{C6DA1A99-A288-4F1A-8AB8-4987A8428BA2}"/>
              </a:ext>
            </a:extLst>
          </p:cNvPr>
          <p:cNvPicPr>
            <a:picLocks xmlns:a="http://schemas.openxmlformats.org/drawingml/2006/main" noChangeAspect="1"/>
          </p:cNvPicPr>
          <p:nvPr/>
        </p:nvPicPr>
        <p:blipFill>
          <a:blip xmlns:r="http://schemas.openxmlformats.org/officeDocument/2006/relationships" xmlns:a="http://schemas.openxmlformats.org/drawingml/2006/main" r:embed="R60b0383c11bd4d2e"/>
          <a:stretch xmlns:a="http://schemas.openxmlformats.org/drawingml/2006/main"/>
        </p:blipFill>
        <p:spPr>
          <a:xfrm xmlns:a="http://schemas.openxmlformats.org/drawingml/2006/main">
            <a:off x="6493131" y="1762125"/>
            <a:ext cx="3968238" cy="40005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2C84E1AD-0858-474B-9DBE-918742B18CB6}"/>
              </a:ext>
            </a:extLst>
          </p:cNvPr>
          <p:cNvSpPr>
            <a:spLocks xmlns:a="http://schemas.openxmlformats.org/drawingml/2006/main" noGrp="1"/>
          </p:cNvSpPr>
          <p:nvPr/>
        </p:nvSpPr>
        <p:spPr>
          <a:xfrm xmlns:a="http://schemas.openxmlformats.org/drawingml/2006/main">
            <a:off x="609600" y="60960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575"/>
                </a:solidFill>
                <a:latin typeface="Arial"/>
                <a:ea typeface="Arial"/>
                <a:cs typeface="Arial"/>
              </a:defRPr>
            </a:defPPr>
          </a:lstStyle>
          <a:p xmlns:a="http://schemas.openxmlformats.org/drawingml/2006/main">
            <a:pPr algn="l">
              <a:defRPr sz="1350" b="0">
                <a:solidFill>
                  <a:srgbClr val="526575"/>
                </a:solidFill>
                <a:latin typeface="Arial"/>
                <a:ea typeface="Arial"/>
                <a:cs typeface="Arial"/>
              </a:defRPr>
            </a:pPr>
            <a:r>
              <a:rPr sz="1350" b="0">
                <a:solidFill>
                  <a:srgbClr val="526575"/>
                </a:solidFill>
                <a:latin typeface="Arial"/>
                <a:ea typeface="Arial"/>
                <a:cs typeface="Arial"/>
              </a:rPr>
              <a:t>Conceptual candidate selection</a:t>
            </a:r>
          </a:p>
        </p:txBody>
      </p:sp>
    </p:spTree>
    <p:extLst>
      <p:ext uri="{BB962C8B-B14F-4D97-AF65-F5344CB8AC3E}">
        <p14:creationId xmlns:p14="http://schemas.microsoft.com/office/powerpoint/2010/main" val="91207959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
            <a:extLst xmlns:a="http://schemas.openxmlformats.org/drawingml/2006/main">
              <a:ext uri="{FF2B5EF4-FFF2-40B4-BE49-F238E27FC236}">
                <a16:creationId xmlns:a16="http://schemas.microsoft.com/office/drawing/2014/main" id="{C912CA28-68DE-4C5B-9D3B-FDE285E1AB05}"/>
              </a:ext>
            </a:extLst>
          </p:cNvPr>
          <p:cNvSpPr>
            <a:spLocks xmlns:a="http://schemas.openxmlformats.org/drawingml/2006/main" noGrp="1"/>
          </p:cNvSpPr>
          <p:nvPr/>
        </p:nvSpPr>
        <p:spPr>
          <a:xfrm xmlns:a="http://schemas.openxmlformats.org/drawingml/2006/main">
            <a:off x="609600" y="457200"/>
            <a:ext cx="8858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Arial"/>
                <a:ea typeface="Arial"/>
                <a:cs typeface="Arial"/>
              </a:defRPr>
            </a:defPPr>
          </a:lstStyle>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A tiny box can miss every anchor point</a:t>
            </a:r>
          </a:p>
        </p:txBody>
      </p:sp>
      <p:pic>
        <p:nvPicPr>
          <p:cNvPr id="2" name="">
            <a:extLst xmlns:a="http://schemas.openxmlformats.org/drawingml/2006/main">
              <a:ext uri="{FF2B5EF4-FFF2-40B4-BE49-F238E27FC236}">
                <a16:creationId xmlns:a16="http://schemas.microsoft.com/office/drawing/2014/main" id="{863179C4-1665-407D-9A66-6FECA726E5D8}"/>
              </a:ext>
            </a:extLst>
          </p:cNvPr>
          <p:cNvPicPr>
            <a:picLocks xmlns:a="http://schemas.openxmlformats.org/drawingml/2006/main" noChangeAspect="1"/>
          </p:cNvPicPr>
          <p:nvPr/>
        </p:nvPicPr>
        <p:blipFill>
          <a:blip xmlns:r="http://schemas.openxmlformats.org/officeDocument/2006/relationships" xmlns:a="http://schemas.openxmlformats.org/drawingml/2006/main" r:embed="R30690d7952cb405c"/>
          <a:stretch xmlns:a="http://schemas.openxmlformats.org/drawingml/2006/main"/>
        </p:blipFill>
        <p:spPr>
          <a:xfrm xmlns:a="http://schemas.openxmlformats.org/drawingml/2006/main">
            <a:off x="9870281" y="400050"/>
            <a:ext cx="1709738" cy="666750"/>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6AC3600D-5F6C-4C77-9B9C-D28EB4F6F031}"/>
              </a:ext>
            </a:extLst>
          </p:cNvPr>
          <p:cNvSpPr>
            <a:spLocks xmlns:a="http://schemas.openxmlformats.org/drawingml/2006/main" noGrp="1"/>
          </p:cNvSpPr>
          <p:nvPr/>
        </p:nvSpPr>
        <p:spPr>
          <a:xfrm xmlns:a="http://schemas.openxmlformats.org/drawingml/2006/main">
            <a:off x="11068050" y="6467475"/>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09</a:t>
            </a:r>
          </a:p>
        </p:txBody>
      </p:sp>
      <p:sp>
        <p:nvSpPr>
          <p:cNvPr id="4" name="text-3">
            <a:extLst xmlns:a="http://schemas.openxmlformats.org/drawingml/2006/main">
              <a:ext uri="{FF2B5EF4-FFF2-40B4-BE49-F238E27FC236}">
                <a16:creationId xmlns:a16="http://schemas.microsoft.com/office/drawing/2014/main" id="{9E1379B8-F3B6-4FBD-97BB-DDBBD5EBCB04}"/>
              </a:ext>
            </a:extLst>
          </p:cNvPr>
          <p:cNvSpPr>
            <a:spLocks xmlns:a="http://schemas.openxmlformats.org/drawingml/2006/main" noGrp="1"/>
          </p:cNvSpPr>
          <p:nvPr/>
        </p:nvSpPr>
        <p:spPr>
          <a:xfrm xmlns:a="http://schemas.openxmlformats.org/drawingml/2006/main">
            <a:off x="609600" y="2114550"/>
            <a:ext cx="4191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A43"/>
                </a:solidFill>
                <a:latin typeface="Arial"/>
                <a:ea typeface="Arial"/>
                <a:cs typeface="Arial"/>
              </a:defRPr>
            </a:defPPr>
          </a:lstStyle>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A small box may fall</a:t>
            </a:r>
          </a:p>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between neighboring points.</a:t>
            </a:r>
          </a:p>
        </p:txBody>
      </p:sp>
      <p:sp>
        <p:nvSpPr>
          <p:cNvPr id="5" name="text-4">
            <a:extLst xmlns:a="http://schemas.openxmlformats.org/drawingml/2006/main">
              <a:ext uri="{FF2B5EF4-FFF2-40B4-BE49-F238E27FC236}">
                <a16:creationId xmlns:a16="http://schemas.microsoft.com/office/drawing/2014/main" id="{61BFCE9D-F36F-40B6-ABBF-176F1B5EFAD6}"/>
              </a:ext>
            </a:extLst>
          </p:cNvPr>
          <p:cNvSpPr>
            <a:spLocks xmlns:a="http://schemas.openxmlformats.org/drawingml/2006/main" noGrp="1"/>
          </p:cNvSpPr>
          <p:nvPr/>
        </p:nvSpPr>
        <p:spPr>
          <a:xfrm xmlns:a="http://schemas.openxmlformats.org/drawingml/2006/main">
            <a:off x="609600" y="3133725"/>
            <a:ext cx="4191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A43"/>
                </a:solidFill>
                <a:latin typeface="Arial"/>
                <a:ea typeface="Arial"/>
                <a:cs typeface="Arial"/>
              </a:defRPr>
            </a:defPPr>
          </a:lstStyle>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No eligible point means</a:t>
            </a:r>
          </a:p>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no positive through this filter.</a:t>
            </a:r>
          </a:p>
        </p:txBody>
      </p:sp>
      <p:sp>
        <p:nvSpPr>
          <p:cNvPr id="6" name="text-5">
            <a:extLst xmlns:a="http://schemas.openxmlformats.org/drawingml/2006/main">
              <a:ext uri="{FF2B5EF4-FFF2-40B4-BE49-F238E27FC236}">
                <a16:creationId xmlns:a16="http://schemas.microsoft.com/office/drawing/2014/main" id="{F352473B-0DC0-4D3A-80F1-F9762A6FD588}"/>
              </a:ext>
            </a:extLst>
          </p:cNvPr>
          <p:cNvSpPr>
            <a:spLocks xmlns:a="http://schemas.openxmlformats.org/drawingml/2006/main" noGrp="1"/>
          </p:cNvSpPr>
          <p:nvPr/>
        </p:nvSpPr>
        <p:spPr>
          <a:xfrm xmlns:a="http://schemas.openxmlformats.org/drawingml/2006/main">
            <a:off x="609600" y="4152900"/>
            <a:ext cx="4191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A43"/>
                </a:solidFill>
                <a:latin typeface="Arial"/>
                <a:ea typeface="Arial"/>
                <a:cs typeface="Arial"/>
              </a:defRPr>
            </a:defPPr>
          </a:lstStyle>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The outcome depends on</a:t>
            </a:r>
          </a:p>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size, shape and position.</a:t>
            </a:r>
          </a:p>
        </p:txBody>
      </p:sp>
      <p:pic>
        <p:nvPicPr>
          <p:cNvPr id="7" name="">
            <a:extLst xmlns:a="http://schemas.openxmlformats.org/drawingml/2006/main">
              <a:ext uri="{FF2B5EF4-FFF2-40B4-BE49-F238E27FC236}">
                <a16:creationId xmlns:a16="http://schemas.microsoft.com/office/drawing/2014/main" id="{FBC70DDB-7622-4B4F-8404-CF210501E381}"/>
              </a:ext>
            </a:extLst>
          </p:cNvPr>
          <p:cNvPicPr>
            <a:picLocks xmlns:a="http://schemas.openxmlformats.org/drawingml/2006/main" noChangeAspect="1"/>
          </p:cNvPicPr>
          <p:nvPr/>
        </p:nvPicPr>
        <p:blipFill>
          <a:blip xmlns:r="http://schemas.openxmlformats.org/officeDocument/2006/relationships" xmlns:a="http://schemas.openxmlformats.org/drawingml/2006/main" r:embed="Rd445cb13772d4ea7"/>
          <a:stretch xmlns:a="http://schemas.openxmlformats.org/drawingml/2006/main"/>
        </p:blipFill>
        <p:spPr>
          <a:xfrm xmlns:a="http://schemas.openxmlformats.org/drawingml/2006/main">
            <a:off x="6493131" y="1762125"/>
            <a:ext cx="3968238" cy="40005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37FC00B6-789B-4B0A-870A-18E53C41B78B}"/>
              </a:ext>
            </a:extLst>
          </p:cNvPr>
          <p:cNvSpPr>
            <a:spLocks xmlns:a="http://schemas.openxmlformats.org/drawingml/2006/main" noGrp="1"/>
          </p:cNvSpPr>
          <p:nvPr/>
        </p:nvSpPr>
        <p:spPr>
          <a:xfrm xmlns:a="http://schemas.openxmlformats.org/drawingml/2006/main">
            <a:off x="609600" y="60960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575"/>
                </a:solidFill>
                <a:latin typeface="Arial"/>
                <a:ea typeface="Arial"/>
                <a:cs typeface="Arial"/>
              </a:defRPr>
            </a:defPPr>
          </a:lstStyle>
          <a:p xmlns:a="http://schemas.openxmlformats.org/drawingml/2006/main">
            <a:pPr algn="l">
              <a:defRPr sz="1350" b="0">
                <a:solidFill>
                  <a:srgbClr val="526575"/>
                </a:solidFill>
                <a:latin typeface="Arial"/>
                <a:ea typeface="Arial"/>
                <a:cs typeface="Arial"/>
              </a:defRPr>
            </a:pPr>
            <a:r>
              <a:rPr sz="1350" b="0">
                <a:solidFill>
                  <a:srgbClr val="526575"/>
                </a:solidFill>
                <a:latin typeface="Arial"/>
                <a:ea typeface="Arial"/>
                <a:cs typeface="Arial"/>
              </a:rPr>
              <a:t>Toy geometry showing an empty candidate region</a:t>
            </a:r>
          </a:p>
        </p:txBody>
      </p:sp>
    </p:spTree>
    <p:extLst>
      <p:ext uri="{BB962C8B-B14F-4D97-AF65-F5344CB8AC3E}">
        <p14:creationId xmlns:p14="http://schemas.microsoft.com/office/powerpoint/2010/main" val="155466510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
            <a:extLst xmlns:a="http://schemas.openxmlformats.org/drawingml/2006/main">
              <a:ext uri="{FF2B5EF4-FFF2-40B4-BE49-F238E27FC236}">
                <a16:creationId xmlns:a16="http://schemas.microsoft.com/office/drawing/2014/main" id="{CAE307CB-208A-4CDD-9E44-4BAE0771C0DF}"/>
              </a:ext>
            </a:extLst>
          </p:cNvPr>
          <p:cNvSpPr>
            <a:spLocks xmlns:a="http://schemas.openxmlformats.org/drawingml/2006/main" noGrp="1"/>
          </p:cNvSpPr>
          <p:nvPr/>
        </p:nvSpPr>
        <p:spPr>
          <a:xfrm xmlns:a="http://schemas.openxmlformats.org/drawingml/2006/main">
            <a:off x="609600" y="457200"/>
            <a:ext cx="8858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Arial"/>
                <a:ea typeface="Arial"/>
                <a:cs typeface="Arial"/>
              </a:defRPr>
            </a:defPPr>
          </a:lstStyle>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STAL enlarges the candidate region</a:t>
            </a:r>
          </a:p>
        </p:txBody>
      </p:sp>
      <p:pic>
        <p:nvPicPr>
          <p:cNvPr id="2" name="">
            <a:extLst xmlns:a="http://schemas.openxmlformats.org/drawingml/2006/main">
              <a:ext uri="{FF2B5EF4-FFF2-40B4-BE49-F238E27FC236}">
                <a16:creationId xmlns:a16="http://schemas.microsoft.com/office/drawing/2014/main" id="{A9C7FFBD-58E7-41DA-B378-02B99DCEC764}"/>
              </a:ext>
            </a:extLst>
          </p:cNvPr>
          <p:cNvPicPr>
            <a:picLocks xmlns:a="http://schemas.openxmlformats.org/drawingml/2006/main" noChangeAspect="1"/>
          </p:cNvPicPr>
          <p:nvPr/>
        </p:nvPicPr>
        <p:blipFill>
          <a:blip xmlns:r="http://schemas.openxmlformats.org/officeDocument/2006/relationships" xmlns:a="http://schemas.openxmlformats.org/drawingml/2006/main" r:embed="R97bff031ac614b2d"/>
          <a:stretch xmlns:a="http://schemas.openxmlformats.org/drawingml/2006/main"/>
        </p:blipFill>
        <p:spPr>
          <a:xfrm xmlns:a="http://schemas.openxmlformats.org/drawingml/2006/main">
            <a:off x="9870281" y="400050"/>
            <a:ext cx="1709738" cy="666750"/>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E6E0EE6D-D09D-4ED9-B6B0-CD1F3873401E}"/>
              </a:ext>
            </a:extLst>
          </p:cNvPr>
          <p:cNvSpPr>
            <a:spLocks xmlns:a="http://schemas.openxmlformats.org/drawingml/2006/main" noGrp="1"/>
          </p:cNvSpPr>
          <p:nvPr/>
        </p:nvSpPr>
        <p:spPr>
          <a:xfrm xmlns:a="http://schemas.openxmlformats.org/drawingml/2006/main">
            <a:off x="11068050" y="6467475"/>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10</a:t>
            </a:r>
          </a:p>
        </p:txBody>
      </p:sp>
      <p:sp>
        <p:nvSpPr>
          <p:cNvPr id="4" name="text-3">
            <a:extLst xmlns:a="http://schemas.openxmlformats.org/drawingml/2006/main">
              <a:ext uri="{FF2B5EF4-FFF2-40B4-BE49-F238E27FC236}">
                <a16:creationId xmlns:a16="http://schemas.microsoft.com/office/drawing/2014/main" id="{B28FC827-B027-4839-8483-9EEF09ADA3C1}"/>
              </a:ext>
            </a:extLst>
          </p:cNvPr>
          <p:cNvSpPr>
            <a:spLocks xmlns:a="http://schemas.openxmlformats.org/drawingml/2006/main" noGrp="1"/>
          </p:cNvSpPr>
          <p:nvPr/>
        </p:nvSpPr>
        <p:spPr>
          <a:xfrm xmlns:a="http://schemas.openxmlformats.org/drawingml/2006/main">
            <a:off x="609600" y="2114550"/>
            <a:ext cx="4191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A43"/>
                </a:solidFill>
                <a:latin typeface="Arial"/>
                <a:ea typeface="Arial"/>
                <a:cs typeface="Arial"/>
              </a:defRPr>
            </a:defPPr>
          </a:lstStyle>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A larger search region</a:t>
            </a:r>
          </a:p>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can include more points.</a:t>
            </a:r>
          </a:p>
        </p:txBody>
      </p:sp>
      <p:sp>
        <p:nvSpPr>
          <p:cNvPr id="5" name="text-4">
            <a:extLst xmlns:a="http://schemas.openxmlformats.org/drawingml/2006/main">
              <a:ext uri="{FF2B5EF4-FFF2-40B4-BE49-F238E27FC236}">
                <a16:creationId xmlns:a16="http://schemas.microsoft.com/office/drawing/2014/main" id="{54AE117C-71B2-4DBD-972C-8CCB84047424}"/>
              </a:ext>
            </a:extLst>
          </p:cNvPr>
          <p:cNvSpPr>
            <a:spLocks xmlns:a="http://schemas.openxmlformats.org/drawingml/2006/main" noGrp="1"/>
          </p:cNvSpPr>
          <p:nvPr/>
        </p:nvSpPr>
        <p:spPr>
          <a:xfrm xmlns:a="http://schemas.openxmlformats.org/drawingml/2006/main">
            <a:off x="609600" y="3133725"/>
            <a:ext cx="4191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A43"/>
                </a:solidFill>
                <a:latin typeface="Arial"/>
                <a:ea typeface="Arial"/>
                <a:cs typeface="Arial"/>
              </a:defRPr>
            </a:defPPr>
          </a:lstStyle>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The original object box</a:t>
            </a:r>
          </a:p>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remains the training target.</a:t>
            </a:r>
          </a:p>
        </p:txBody>
      </p:sp>
      <p:sp>
        <p:nvSpPr>
          <p:cNvPr id="6" name="text-5">
            <a:extLst xmlns:a="http://schemas.openxmlformats.org/drawingml/2006/main">
              <a:ext uri="{FF2B5EF4-FFF2-40B4-BE49-F238E27FC236}">
                <a16:creationId xmlns:a16="http://schemas.microsoft.com/office/drawing/2014/main" id="{7783563C-FFD1-4414-BA07-7ADCDCFE9FFF}"/>
              </a:ext>
            </a:extLst>
          </p:cNvPr>
          <p:cNvSpPr>
            <a:spLocks xmlns:a="http://schemas.openxmlformats.org/drawingml/2006/main" noGrp="1"/>
          </p:cNvSpPr>
          <p:nvPr/>
        </p:nvSpPr>
        <p:spPr>
          <a:xfrm xmlns:a="http://schemas.openxmlformats.org/drawingml/2006/main">
            <a:off x="609600" y="4152900"/>
            <a:ext cx="4191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A43"/>
                </a:solidFill>
                <a:latin typeface="Arial"/>
                <a:ea typeface="Arial"/>
                <a:cs typeface="Arial"/>
              </a:defRPr>
            </a:defPPr>
          </a:lstStyle>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Only the candidate-selection</a:t>
            </a:r>
          </a:p>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step uses the enlarged region.</a:t>
            </a:r>
          </a:p>
        </p:txBody>
      </p:sp>
      <p:pic>
        <p:nvPicPr>
          <p:cNvPr id="7" name="">
            <a:extLst xmlns:a="http://schemas.openxmlformats.org/drawingml/2006/main">
              <a:ext uri="{FF2B5EF4-FFF2-40B4-BE49-F238E27FC236}">
                <a16:creationId xmlns:a16="http://schemas.microsoft.com/office/drawing/2014/main" id="{7B6D4223-7185-492D-AC40-03439A6B6E39}"/>
              </a:ext>
            </a:extLst>
          </p:cNvPr>
          <p:cNvPicPr>
            <a:picLocks xmlns:a="http://schemas.openxmlformats.org/drawingml/2006/main" noChangeAspect="1"/>
          </p:cNvPicPr>
          <p:nvPr/>
        </p:nvPicPr>
        <p:blipFill>
          <a:blip xmlns:r="http://schemas.openxmlformats.org/officeDocument/2006/relationships" xmlns:a="http://schemas.openxmlformats.org/drawingml/2006/main" r:embed="Rbfd38fde60ac4b41"/>
          <a:stretch xmlns:a="http://schemas.openxmlformats.org/drawingml/2006/main"/>
        </p:blipFill>
        <p:spPr>
          <a:xfrm xmlns:a="http://schemas.openxmlformats.org/drawingml/2006/main">
            <a:off x="6493131" y="1762125"/>
            <a:ext cx="3968238" cy="40005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4086FDB1-A51F-4D34-89B3-38D8FFB69F4C}"/>
              </a:ext>
            </a:extLst>
          </p:cNvPr>
          <p:cNvSpPr>
            <a:spLocks xmlns:a="http://schemas.openxmlformats.org/drawingml/2006/main" noGrp="1"/>
          </p:cNvSpPr>
          <p:nvPr/>
        </p:nvSpPr>
        <p:spPr>
          <a:xfrm xmlns:a="http://schemas.openxmlformats.org/drawingml/2006/main">
            <a:off x="609600" y="60960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575"/>
                </a:solidFill>
                <a:latin typeface="Arial"/>
                <a:ea typeface="Arial"/>
                <a:cs typeface="Arial"/>
              </a:defRPr>
            </a:defPPr>
          </a:lstStyle>
          <a:p xmlns:a="http://schemas.openxmlformats.org/drawingml/2006/main">
            <a:pPr algn="l">
              <a:defRPr sz="1350" b="0">
                <a:solidFill>
                  <a:srgbClr val="526575"/>
                </a:solidFill>
                <a:latin typeface="Arial"/>
                <a:ea typeface="Arial"/>
                <a:cs typeface="Arial"/>
              </a:defRPr>
            </a:pPr>
            <a:r>
              <a:rPr sz="1350" b="0">
                <a:solidFill>
                  <a:srgbClr val="526575"/>
                </a:solidFill>
                <a:latin typeface="Arial"/>
                <a:ea typeface="Arial"/>
                <a:cs typeface="Arial"/>
              </a:rPr>
              <a:t>Conceptual STAL candidate region</a:t>
            </a:r>
          </a:p>
        </p:txBody>
      </p:sp>
    </p:spTree>
    <p:extLst>
      <p:ext uri="{BB962C8B-B14F-4D97-AF65-F5344CB8AC3E}">
        <p14:creationId xmlns:p14="http://schemas.microsoft.com/office/powerpoint/2010/main" val="97049770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1">
            <a:extLst xmlns:a="http://schemas.openxmlformats.org/drawingml/2006/main">
              <a:ext uri="{FF2B5EF4-FFF2-40B4-BE49-F238E27FC236}">
                <a16:creationId xmlns:a16="http://schemas.microsoft.com/office/drawing/2014/main" id="{E85DA4EB-0634-4B76-AF05-F9A1D788519E}"/>
              </a:ext>
            </a:extLst>
          </p:cNvPr>
          <p:cNvSpPr>
            <a:spLocks xmlns:a="http://schemas.openxmlformats.org/drawingml/2006/main" noGrp="1"/>
          </p:cNvSpPr>
          <p:nvPr/>
        </p:nvSpPr>
        <p:spPr>
          <a:xfrm xmlns:a="http://schemas.openxmlformats.org/drawingml/2006/main">
            <a:off x="609600" y="457200"/>
            <a:ext cx="8858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Arial"/>
                <a:ea typeface="Arial"/>
                <a:cs typeface="Arial"/>
              </a:defRPr>
            </a:defPPr>
          </a:lstStyle>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Candidate rules to compare</a:t>
            </a:r>
          </a:p>
        </p:txBody>
      </p:sp>
      <p:pic>
        <p:nvPicPr>
          <p:cNvPr id="2" name="">
            <a:extLst xmlns:a="http://schemas.openxmlformats.org/drawingml/2006/main">
              <a:ext uri="{FF2B5EF4-FFF2-40B4-BE49-F238E27FC236}">
                <a16:creationId xmlns:a16="http://schemas.microsoft.com/office/drawing/2014/main" id="{97C360CC-19D8-4340-A98D-E00CF3F4A11E}"/>
              </a:ext>
            </a:extLst>
          </p:cNvPr>
          <p:cNvPicPr>
            <a:picLocks xmlns:a="http://schemas.openxmlformats.org/drawingml/2006/main" noChangeAspect="1"/>
          </p:cNvPicPr>
          <p:nvPr/>
        </p:nvPicPr>
        <p:blipFill>
          <a:blip xmlns:r="http://schemas.openxmlformats.org/officeDocument/2006/relationships" xmlns:a="http://schemas.openxmlformats.org/drawingml/2006/main" r:embed="R0ac947c39a9e4cb1"/>
          <a:stretch xmlns:a="http://schemas.openxmlformats.org/drawingml/2006/main"/>
        </p:blipFill>
        <p:spPr>
          <a:xfrm xmlns:a="http://schemas.openxmlformats.org/drawingml/2006/main">
            <a:off x="9870281" y="400050"/>
            <a:ext cx="1709738" cy="666750"/>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FDA92169-1C46-41FF-AD84-7ED6E5CE5AC6}"/>
              </a:ext>
            </a:extLst>
          </p:cNvPr>
          <p:cNvSpPr>
            <a:spLocks xmlns:a="http://schemas.openxmlformats.org/drawingml/2006/main" noGrp="1"/>
          </p:cNvSpPr>
          <p:nvPr/>
        </p:nvSpPr>
        <p:spPr>
          <a:xfrm xmlns:a="http://schemas.openxmlformats.org/drawingml/2006/main">
            <a:off x="11068050" y="6467475"/>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11</a:t>
            </a:r>
          </a:p>
        </p:txBody>
      </p:sp>
      <p:graphicFrame>
        <p:nvGraphicFramePr>
          <p:cNvPr id="4" name="">
            <a:extLst xmlns:a="http://schemas.openxmlformats.org/drawingml/2006/main">
              <a:ext uri="{FF2B5EF4-FFF2-40B4-BE49-F238E27FC236}">
                <a16:creationId xmlns:a16="http://schemas.microsoft.com/office/drawing/2014/main" id="{DA5CFAF9-E107-4D46-A792-40BCCF8D104D}"/>
              </a:ext>
            </a:extLst>
          </p:cNvPr>
          <p:cNvGraphicFramePr/>
          <p:nvPr/>
        </p:nvGraphicFramePr>
        <p:xfrm>
          <a:off xmlns:a="http://schemas.openxmlformats.org/drawingml/2006/main" x="609600" y="1819275"/>
          <a:ext xmlns:a="http://schemas.openxmlformats.org/drawingml/2006/main" cx="10972800" cy="3095625"/>
        </p:xfrm>
        <a:graphic xmlns:a="http://schemas.openxmlformats.org/drawingml/2006/main">
          <a:graphicData uri="http://schemas.openxmlformats.org/drawingml/2006/table">
            <a:tbl>
              <a:tblPr firstRow="1" bandRow="0"/>
              <a:tblGrid>
                <a:gridCol w="2238375"/>
                <a:gridCol w="4352925"/>
                <a:gridCol w="4381500"/>
              </a:tblGrid>
              <a:tr h="773906">
                <a:tc>
                  <a:txBody>
                    <a:bodyPr lIns="152400" tIns="152400" rIns="152400" bIns="152400"/>
                    <a:lstStyle/>
                    <a:p>
                      <a:r>
                        <a:rPr sz="1875" b="1">
                          <a:solidFill>
                            <a:srgbClr val="FFFFFF"/>
                          </a:solidFill>
                          <a:latin typeface="Arial"/>
                          <a:ea typeface="Arial"/>
                          <a:cs typeface="Arial"/>
                        </a:rPr>
                        <a:t>Rule</a:t>
                      </a:r>
                    </a:p>
                  </a:txBody>
                  <a:tcPr marL="91440" marR="91440" marT="45720" marB="45720" anchor="ctr">
                    <a:solidFill>
                      <a:srgbClr val="102A43"/>
                    </a:solidFill>
                  </a:tcPr>
                </a:tc>
                <a:tc>
                  <a:txBody>
                    <a:bodyPr lIns="152400" tIns="152400" rIns="152400" bIns="152400"/>
                    <a:lstStyle/>
                    <a:p>
                      <a:r>
                        <a:rPr sz="1875" b="1">
                          <a:solidFill>
                            <a:srgbClr val="FFFFFF"/>
                          </a:solidFill>
                          <a:latin typeface="Arial"/>
                          <a:ea typeface="Arial"/>
                          <a:cs typeface="Arial"/>
                        </a:rPr>
                        <a:t>Trigger for each side d</a:t>
                      </a:r>
                    </a:p>
                  </a:txBody>
                  <a:tcPr marL="91440" marR="91440" marT="45720" marB="45720" anchor="ctr">
                    <a:solidFill>
                      <a:srgbClr val="102A43"/>
                    </a:solidFill>
                  </a:tcPr>
                </a:tc>
                <a:tc>
                  <a:txBody>
                    <a:bodyPr lIns="152400" tIns="152400" rIns="152400" bIns="152400"/>
                    <a:lstStyle/>
                    <a:p>
                      <a:r>
                        <a:rPr sz="1875" b="1">
                          <a:solidFill>
                            <a:srgbClr val="FFFFFF"/>
                          </a:solidFill>
                          <a:latin typeface="Arial"/>
                          <a:ea typeface="Arial"/>
                          <a:cs typeface="Arial"/>
                        </a:rPr>
                        <a:t>Replacement</a:t>
                      </a:r>
                    </a:p>
                  </a:txBody>
                  <a:tcPr marL="91440" marR="91440" marT="45720" marB="45720" anchor="ctr">
                    <a:solidFill>
                      <a:srgbClr val="102A43"/>
                    </a:solidFill>
                  </a:tcPr>
                </a:tc>
              </a:tr>
              <a:tr h="773906">
                <a:tc>
                  <a:txBody>
                    <a:bodyPr lIns="152400" tIns="152400" rIns="152400" bIns="152400"/>
                    <a:lstStyle/>
                    <a:p>
                      <a:r>
                        <a:rPr sz="1875" b="0">
                          <a:solidFill>
                            <a:srgbClr val="102A43"/>
                          </a:solidFill>
                          <a:latin typeface="Arial"/>
                          <a:ea typeface="Arial"/>
                          <a:cs typeface="Arial"/>
                        </a:rPr>
                        <a:t>No floor</a:t>
                      </a:r>
                    </a:p>
                  </a:txBody>
                  <a:tcPr marL="91440" marR="91440" marT="45720" marB="45720" anchor="ctr">
                    <a:solidFill>
                      <a:srgbClr val="FFFFFF"/>
                    </a:solidFill>
                  </a:tcPr>
                </a:tc>
                <a:tc>
                  <a:txBody>
                    <a:bodyPr lIns="152400" tIns="152400" rIns="152400" bIns="152400"/>
                    <a:lstStyle/>
                    <a:p>
                      <a:r>
                        <a:rPr sz="1875" b="0">
                          <a:solidFill>
                            <a:srgbClr val="102A43"/>
                          </a:solidFill>
                          <a:latin typeface="Arial"/>
                          <a:ea typeface="Arial"/>
                          <a:cs typeface="Arial"/>
                        </a:rPr>
                        <a:t>None</a:t>
                      </a:r>
                    </a:p>
                  </a:txBody>
                  <a:tcPr marL="91440" marR="91440" marT="45720" marB="45720" anchor="ctr">
                    <a:solidFill>
                      <a:srgbClr val="FFFFFF"/>
                    </a:solidFill>
                  </a:tcPr>
                </a:tc>
                <a:tc>
                  <a:txBody>
                    <a:bodyPr lIns="152400" tIns="152400" rIns="152400" bIns="152400"/>
                    <a:lstStyle/>
                    <a:p>
                      <a:r>
                        <a:rPr sz="1875" b="0">
                          <a:solidFill>
                            <a:srgbClr val="102A43"/>
                          </a:solidFill>
                          <a:latin typeface="Arial"/>
                          <a:ea typeface="Arial"/>
                          <a:cs typeface="Arial"/>
                        </a:rPr>
                        <a:t>Keep d</a:t>
                      </a:r>
                    </a:p>
                  </a:txBody>
                  <a:tcPr marL="91440" marR="91440" marT="45720" marB="45720" anchor="ctr">
                    <a:solidFill>
                      <a:srgbClr val="FFFFFF"/>
                    </a:solidFill>
                  </a:tcPr>
                </a:tc>
              </a:tr>
              <a:tr h="773906">
                <a:tc>
                  <a:txBody>
                    <a:bodyPr lIns="152400" tIns="152400" rIns="152400" bIns="152400"/>
                    <a:lstStyle/>
                    <a:p>
                      <a:r>
                        <a:rPr sz="1875" b="0">
                          <a:solidFill>
                            <a:srgbClr val="102A43"/>
                          </a:solidFill>
                          <a:latin typeface="Arial"/>
                          <a:ea typeface="Arial"/>
                          <a:cs typeface="Arial"/>
                        </a:rPr>
                        <a:t>STAL-8</a:t>
                      </a:r>
                    </a:p>
                  </a:txBody>
                  <a:tcPr marL="91440" marR="91440" marT="45720" marB="45720" anchor="ctr">
                    <a:solidFill>
                      <a:srgbClr val="F3F6F8"/>
                    </a:solidFill>
                  </a:tcPr>
                </a:tc>
                <a:tc>
                  <a:txBody>
                    <a:bodyPr lIns="152400" tIns="152400" rIns="152400" bIns="152400"/>
                    <a:lstStyle/>
                    <a:p>
                      <a:r>
                        <a:rPr sz="1875" b="0">
                          <a:solidFill>
                            <a:srgbClr val="102A43"/>
                          </a:solidFill>
                          <a:latin typeface="Arial"/>
                          <a:ea typeface="Arial"/>
                          <a:cs typeface="Arial"/>
                        </a:rPr>
                        <a:t>d &lt; 8 px</a:t>
                      </a:r>
                    </a:p>
                  </a:txBody>
                  <a:tcPr marL="91440" marR="91440" marT="45720" marB="45720" anchor="ctr">
                    <a:solidFill>
                      <a:srgbClr val="F3F6F8"/>
                    </a:solidFill>
                  </a:tcPr>
                </a:tc>
                <a:tc>
                  <a:txBody>
                    <a:bodyPr lIns="152400" tIns="152400" rIns="152400" bIns="152400"/>
                    <a:lstStyle/>
                    <a:p>
                      <a:r>
                        <a:rPr sz="1875" b="0">
                          <a:solidFill>
                            <a:srgbClr val="102A43"/>
                          </a:solidFill>
                          <a:latin typeface="Arial"/>
                          <a:ea typeface="Arial"/>
                          <a:cs typeface="Arial"/>
                        </a:rPr>
                        <a:t>Set that side to 16 px</a:t>
                      </a:r>
                    </a:p>
                  </a:txBody>
                  <a:tcPr marL="91440" marR="91440" marT="45720" marB="45720" anchor="ctr">
                    <a:solidFill>
                      <a:srgbClr val="F3F6F8"/>
                    </a:solidFill>
                  </a:tcPr>
                </a:tc>
              </a:tr>
              <a:tr h="773906">
                <a:tc>
                  <a:txBody>
                    <a:bodyPr lIns="152400" tIns="152400" rIns="152400" bIns="152400"/>
                    <a:lstStyle/>
                    <a:p>
                      <a:r>
                        <a:rPr sz="1875" b="0">
                          <a:solidFill>
                            <a:srgbClr val="102A43"/>
                          </a:solidFill>
                          <a:latin typeface="Arial"/>
                          <a:ea typeface="Arial"/>
                          <a:cs typeface="Arial"/>
                        </a:rPr>
                        <a:t>STAL-16</a:t>
                      </a:r>
                    </a:p>
                  </a:txBody>
                  <a:tcPr marL="91440" marR="91440" marT="45720" marB="45720" anchor="ctr">
                    <a:solidFill>
                      <a:srgbClr val="FFFFFF"/>
                    </a:solidFill>
                  </a:tcPr>
                </a:tc>
                <a:tc>
                  <a:txBody>
                    <a:bodyPr lIns="152400" tIns="152400" rIns="152400" bIns="152400"/>
                    <a:lstStyle/>
                    <a:p>
                      <a:r>
                        <a:rPr sz="1875" b="0">
                          <a:solidFill>
                            <a:srgbClr val="102A43"/>
                          </a:solidFill>
                          <a:latin typeface="Arial"/>
                          <a:ea typeface="Arial"/>
                          <a:cs typeface="Arial"/>
                        </a:rPr>
                        <a:t>d &lt; 16 px</a:t>
                      </a:r>
                    </a:p>
                  </a:txBody>
                  <a:tcPr marL="91440" marR="91440" marT="45720" marB="45720" anchor="ctr">
                    <a:solidFill>
                      <a:srgbClr val="FFFFFF"/>
                    </a:solidFill>
                  </a:tcPr>
                </a:tc>
                <a:tc>
                  <a:txBody>
                    <a:bodyPr lIns="152400" tIns="152400" rIns="152400" bIns="152400"/>
                    <a:lstStyle/>
                    <a:p>
                      <a:r>
                        <a:rPr sz="1875" b="0">
                          <a:solidFill>
                            <a:srgbClr val="102A43"/>
                          </a:solidFill>
                          <a:latin typeface="Arial"/>
                          <a:ea typeface="Arial"/>
                          <a:cs typeface="Arial"/>
                        </a:rPr>
                        <a:t>Set that side to 16 px</a:t>
                      </a:r>
                    </a:p>
                  </a:txBody>
                  <a:tcPr marL="91440" marR="91440" marT="45720" marB="4572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E1D451D5-5230-4F6B-8B25-3B1A39DF7A52}"/>
              </a:ext>
            </a:extLst>
          </p:cNvPr>
          <p:cNvSpPr>
            <a:spLocks xmlns:a="http://schemas.openxmlformats.org/drawingml/2006/main" noGrp="1"/>
          </p:cNvSpPr>
          <p:nvPr/>
        </p:nvSpPr>
        <p:spPr>
          <a:xfrm xmlns:a="http://schemas.openxmlformats.org/drawingml/2006/main">
            <a:off x="609600" y="53054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47920"/>
                </a:solidFill>
                <a:latin typeface="Arial"/>
                <a:ea typeface="Arial"/>
                <a:cs typeface="Arial"/>
              </a:defRPr>
            </a:defPPr>
          </a:lstStyle>
          <a:p xmlns:a="http://schemas.openxmlformats.org/drawingml/2006/main">
            <a:pPr algn="l">
              <a:defRPr sz="2175" b="1">
                <a:solidFill>
                  <a:srgbClr val="F47920"/>
                </a:solidFill>
                <a:latin typeface="Arial"/>
                <a:ea typeface="Arial"/>
                <a:cs typeface="Arial"/>
              </a:defRPr>
            </a:pPr>
            <a:r>
              <a:rPr sz="2175" b="1">
                <a:solidFill>
                  <a:srgbClr val="F47920"/>
                </a:solidFill>
                <a:latin typeface="Arial"/>
                <a:ea typeface="Arial"/>
                <a:cs typeface="Arial"/>
              </a:rPr>
              <a:t>Example: a 25 × 4 px box changes under both STAL rules</a:t>
            </a:r>
          </a:p>
        </p:txBody>
      </p:sp>
      <p:sp>
        <p:nvSpPr>
          <p:cNvPr id="6" name="text-4">
            <a:extLst xmlns:a="http://schemas.openxmlformats.org/drawingml/2006/main">
              <a:ext uri="{FF2B5EF4-FFF2-40B4-BE49-F238E27FC236}">
                <a16:creationId xmlns:a16="http://schemas.microsoft.com/office/drawing/2014/main" id="{5D1C9A73-C910-4E1E-8CB9-BC1644D93F97}"/>
              </a:ext>
            </a:extLst>
          </p:cNvPr>
          <p:cNvSpPr>
            <a:spLocks xmlns:a="http://schemas.openxmlformats.org/drawingml/2006/main" noGrp="1"/>
          </p:cNvSpPr>
          <p:nvPr/>
        </p:nvSpPr>
        <p:spPr>
          <a:xfrm xmlns:a="http://schemas.openxmlformats.org/drawingml/2006/main">
            <a:off x="609600" y="60960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575"/>
                </a:solidFill>
                <a:latin typeface="Arial"/>
                <a:ea typeface="Arial"/>
                <a:cs typeface="Arial"/>
              </a:defRPr>
            </a:defPPr>
          </a:lstStyle>
          <a:p xmlns:a="http://schemas.openxmlformats.org/drawingml/2006/main">
            <a:pPr algn="l">
              <a:defRPr sz="1350" b="0">
                <a:solidFill>
                  <a:srgbClr val="526575"/>
                </a:solidFill>
                <a:latin typeface="Arial"/>
                <a:ea typeface="Arial"/>
                <a:cs typeface="Arial"/>
              </a:defRPr>
            </a:pPr>
            <a:r>
              <a:rPr sz="1350" b="0">
                <a:solidFill>
                  <a:srgbClr val="526575"/>
                </a:solidFill>
                <a:latin typeface="Arial"/>
                <a:ea typeface="Arial"/>
                <a:cs typeface="Arial"/>
              </a:rPr>
              <a:t>The threshold applies to each side, not to √(width × height).</a:t>
            </a:r>
          </a:p>
        </p:txBody>
      </p:sp>
    </p:spTree>
    <p:extLst>
      <p:ext uri="{BB962C8B-B14F-4D97-AF65-F5344CB8AC3E}">
        <p14:creationId xmlns:p14="http://schemas.microsoft.com/office/powerpoint/2010/main" val="168804198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1">
            <a:extLst xmlns:a="http://schemas.openxmlformats.org/drawingml/2006/main">
              <a:ext uri="{FF2B5EF4-FFF2-40B4-BE49-F238E27FC236}">
                <a16:creationId xmlns:a16="http://schemas.microsoft.com/office/drawing/2014/main" id="{50E2A38C-4868-4120-9D92-F7F1FBB18C78}"/>
              </a:ext>
            </a:extLst>
          </p:cNvPr>
          <p:cNvSpPr>
            <a:spLocks xmlns:a="http://schemas.openxmlformats.org/drawingml/2006/main" noGrp="1"/>
          </p:cNvSpPr>
          <p:nvPr/>
        </p:nvSpPr>
        <p:spPr>
          <a:xfrm xmlns:a="http://schemas.openxmlformats.org/drawingml/2006/main">
            <a:off x="609600" y="457200"/>
            <a:ext cx="8858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Arial"/>
                <a:ea typeface="Arial"/>
                <a:cs typeface="Arial"/>
              </a:defRPr>
            </a:defPPr>
          </a:lstStyle>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The research gap we will test</a:t>
            </a:r>
          </a:p>
        </p:txBody>
      </p:sp>
      <p:pic>
        <p:nvPicPr>
          <p:cNvPr id="2" name="">
            <a:extLst xmlns:a="http://schemas.openxmlformats.org/drawingml/2006/main">
              <a:ext uri="{FF2B5EF4-FFF2-40B4-BE49-F238E27FC236}">
                <a16:creationId xmlns:a16="http://schemas.microsoft.com/office/drawing/2014/main" id="{4728D561-66CD-4E60-8E27-9CA2999FEA87}"/>
              </a:ext>
            </a:extLst>
          </p:cNvPr>
          <p:cNvPicPr>
            <a:picLocks xmlns:a="http://schemas.openxmlformats.org/drawingml/2006/main" noChangeAspect="1"/>
          </p:cNvPicPr>
          <p:nvPr/>
        </p:nvPicPr>
        <p:blipFill>
          <a:blip xmlns:r="http://schemas.openxmlformats.org/officeDocument/2006/relationships" xmlns:a="http://schemas.openxmlformats.org/drawingml/2006/main" r:embed="Rc88b6d4baeba43fc"/>
          <a:stretch xmlns:a="http://schemas.openxmlformats.org/drawingml/2006/main"/>
        </p:blipFill>
        <p:spPr>
          <a:xfrm xmlns:a="http://schemas.openxmlformats.org/drawingml/2006/main">
            <a:off x="9870281" y="400050"/>
            <a:ext cx="1709738" cy="666750"/>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3A669271-C2CA-4E37-848B-A3C0A6487E55}"/>
              </a:ext>
            </a:extLst>
          </p:cNvPr>
          <p:cNvSpPr>
            <a:spLocks xmlns:a="http://schemas.openxmlformats.org/drawingml/2006/main" noGrp="1"/>
          </p:cNvSpPr>
          <p:nvPr/>
        </p:nvSpPr>
        <p:spPr>
          <a:xfrm xmlns:a="http://schemas.openxmlformats.org/drawingml/2006/main">
            <a:off x="11068050" y="6467475"/>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12</a:t>
            </a:r>
          </a:p>
        </p:txBody>
      </p:sp>
      <p:sp>
        <p:nvSpPr>
          <p:cNvPr id="4" name="text-3">
            <a:extLst xmlns:a="http://schemas.openxmlformats.org/drawingml/2006/main">
              <a:ext uri="{FF2B5EF4-FFF2-40B4-BE49-F238E27FC236}">
                <a16:creationId xmlns:a16="http://schemas.microsoft.com/office/drawing/2014/main" id="{7B3FE341-4C05-4D8F-823A-ED7E7A08C6AF}"/>
              </a:ext>
            </a:extLst>
          </p:cNvPr>
          <p:cNvSpPr>
            <a:spLocks xmlns:a="http://schemas.openxmlformats.org/drawingml/2006/main" noGrp="1"/>
          </p:cNvSpPr>
          <p:nvPr/>
        </p:nvSpPr>
        <p:spPr>
          <a:xfrm xmlns:a="http://schemas.openxmlformats.org/drawingml/2006/main">
            <a:off x="609600" y="1952625"/>
            <a:ext cx="108585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47920"/>
                </a:solidFill>
                <a:latin typeface="Arial"/>
                <a:ea typeface="Arial"/>
                <a:cs typeface="Arial"/>
              </a:defRPr>
            </a:defPPr>
          </a:lstStyle>
          <a:p xmlns:a="http://schemas.openxmlformats.org/drawingml/2006/main">
            <a:pPr algn="l">
              <a:defRPr sz="3300" b="1">
                <a:solidFill>
                  <a:srgbClr val="F47920"/>
                </a:solidFill>
                <a:latin typeface="Arial"/>
                <a:ea typeface="Arial"/>
                <a:cs typeface="Arial"/>
              </a:defRPr>
            </a:pPr>
            <a:r>
              <a:rPr sz="3300" b="1">
                <a:solidFill>
                  <a:srgbClr val="F47920"/>
                </a:solidFill>
                <a:latin typeface="Arial"/>
                <a:ea typeface="Arial"/>
                <a:cs typeface="Arial"/>
              </a:rPr>
              <a:t>What does each candidate rule do</a:t>
            </a:r>
          </a:p>
          <a:p xmlns:a="http://schemas.openxmlformats.org/drawingml/2006/main">
            <a:pPr algn="l">
              <a:defRPr sz="3300" b="1">
                <a:solidFill>
                  <a:srgbClr val="F47920"/>
                </a:solidFill>
                <a:latin typeface="Arial"/>
                <a:ea typeface="Arial"/>
                <a:cs typeface="Arial"/>
              </a:defRPr>
            </a:pPr>
            <a:r>
              <a:rPr sz="3300" b="1">
                <a:solidFill>
                  <a:srgbClr val="F47920"/>
                </a:solidFill>
                <a:latin typeface="Arial"/>
                <a:ea typeface="Arial"/>
                <a:cs typeface="Arial"/>
              </a:rPr>
              <a:t>to tiny oriented objects?</a:t>
            </a:r>
          </a:p>
        </p:txBody>
      </p:sp>
      <p:sp>
        <p:nvSpPr>
          <p:cNvPr id="5" name="text-4">
            <a:extLst xmlns:a="http://schemas.openxmlformats.org/drawingml/2006/main">
              <a:ext uri="{FF2B5EF4-FFF2-40B4-BE49-F238E27FC236}">
                <a16:creationId xmlns:a16="http://schemas.microsoft.com/office/drawing/2014/main" id="{B44B3E1C-0A13-4159-A3C8-47DC31A50966}"/>
              </a:ext>
            </a:extLst>
          </p:cNvPr>
          <p:cNvSpPr>
            <a:spLocks xmlns:a="http://schemas.openxmlformats.org/drawingml/2006/main" noGrp="1"/>
          </p:cNvSpPr>
          <p:nvPr/>
        </p:nvSpPr>
        <p:spPr>
          <a:xfrm xmlns:a="http://schemas.openxmlformats.org/drawingml/2006/main">
            <a:off x="609600" y="36099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A43"/>
                </a:solidFill>
                <a:latin typeface="Arial"/>
                <a:ea typeface="Arial"/>
                <a:cs typeface="Arial"/>
              </a:defRPr>
            </a:defPPr>
          </a:lstStyle>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Existing methods already use shape-aware assignment.</a:t>
            </a:r>
          </a:p>
        </p:txBody>
      </p:sp>
      <p:sp>
        <p:nvSpPr>
          <p:cNvPr id="6" name="text-5">
            <a:extLst xmlns:a="http://schemas.openxmlformats.org/drawingml/2006/main">
              <a:ext uri="{FF2B5EF4-FFF2-40B4-BE49-F238E27FC236}">
                <a16:creationId xmlns:a16="http://schemas.microsoft.com/office/drawing/2014/main" id="{A1B7A1FD-46B3-410D-B434-9F2C71D42FEA}"/>
              </a:ext>
            </a:extLst>
          </p:cNvPr>
          <p:cNvSpPr>
            <a:spLocks xmlns:a="http://schemas.openxmlformats.org/drawingml/2006/main" noGrp="1"/>
          </p:cNvSpPr>
          <p:nvPr/>
        </p:nvSpPr>
        <p:spPr>
          <a:xfrm xmlns:a="http://schemas.openxmlformats.org/drawingml/2006/main">
            <a:off x="609600" y="44005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A43"/>
                </a:solidFill>
                <a:latin typeface="Arial"/>
                <a:ea typeface="Arial"/>
                <a:cs typeface="Arial"/>
              </a:defRPr>
            </a:defPPr>
          </a:lstStyle>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Our focus is a controlled comparison inside YOLO-OBB</a:t>
            </a:r>
          </a:p>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on AI-TOD-R, with one evaluator and explicit rules.</a:t>
            </a:r>
          </a:p>
        </p:txBody>
      </p:sp>
      <p:sp>
        <p:nvSpPr>
          <p:cNvPr id="7" name="text-6">
            <a:extLst xmlns:a="http://schemas.openxmlformats.org/drawingml/2006/main">
              <a:ext uri="{FF2B5EF4-FFF2-40B4-BE49-F238E27FC236}">
                <a16:creationId xmlns:a16="http://schemas.microsoft.com/office/drawing/2014/main" id="{DD5136AB-4029-4C4B-95BC-7D8B9646A69A}"/>
              </a:ext>
            </a:extLst>
          </p:cNvPr>
          <p:cNvSpPr>
            <a:spLocks xmlns:a="http://schemas.openxmlformats.org/drawingml/2006/main" noGrp="1"/>
          </p:cNvSpPr>
          <p:nvPr/>
        </p:nvSpPr>
        <p:spPr>
          <a:xfrm xmlns:a="http://schemas.openxmlformats.org/drawingml/2006/main">
            <a:off x="609600" y="60960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575"/>
                </a:solidFill>
                <a:latin typeface="Arial"/>
                <a:ea typeface="Arial"/>
                <a:cs typeface="Arial"/>
              </a:defRPr>
            </a:defPPr>
          </a:lstStyle>
          <a:p xmlns:a="http://schemas.openxmlformats.org/drawingml/2006/main">
            <a:pPr algn="l">
              <a:defRPr sz="1350" b="0">
                <a:solidFill>
                  <a:srgbClr val="526575"/>
                </a:solidFill>
                <a:latin typeface="Arial"/>
                <a:ea typeface="Arial"/>
                <a:cs typeface="Arial"/>
              </a:defRPr>
            </a:pPr>
            <a:r>
              <a:rPr sz="1350" b="0">
                <a:solidFill>
                  <a:srgbClr val="526575"/>
                </a:solidFill>
                <a:latin typeface="Arial"/>
                <a:ea typeface="Arial"/>
                <a:cs typeface="Arial"/>
              </a:rPr>
              <a:t>We study a specific setting. We do not claim a new mechanism class.</a:t>
            </a:r>
          </a:p>
        </p:txBody>
      </p:sp>
    </p:spTree>
    <p:extLst>
      <p:ext uri="{BB962C8B-B14F-4D97-AF65-F5344CB8AC3E}">
        <p14:creationId xmlns:p14="http://schemas.microsoft.com/office/powerpoint/2010/main" val="54010009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1">
            <a:extLst xmlns:a="http://schemas.openxmlformats.org/drawingml/2006/main">
              <a:ext uri="{FF2B5EF4-FFF2-40B4-BE49-F238E27FC236}">
                <a16:creationId xmlns:a16="http://schemas.microsoft.com/office/drawing/2014/main" id="{E627DF9C-798E-42D4-B373-1CFEF9E10D82}"/>
              </a:ext>
            </a:extLst>
          </p:cNvPr>
          <p:cNvSpPr>
            <a:spLocks xmlns:a="http://schemas.openxmlformats.org/drawingml/2006/main" noGrp="1"/>
          </p:cNvSpPr>
          <p:nvPr/>
        </p:nvSpPr>
        <p:spPr>
          <a:xfrm xmlns:a="http://schemas.openxmlformats.org/drawingml/2006/main">
            <a:off x="609600" y="457200"/>
            <a:ext cx="8858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Arial"/>
                <a:ea typeface="Arial"/>
                <a:cs typeface="Arial"/>
              </a:defRPr>
            </a:defPPr>
          </a:lstStyle>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Our research questions</a:t>
            </a:r>
          </a:p>
        </p:txBody>
      </p:sp>
      <p:pic>
        <p:nvPicPr>
          <p:cNvPr id="2" name="">
            <a:extLst xmlns:a="http://schemas.openxmlformats.org/drawingml/2006/main">
              <a:ext uri="{FF2B5EF4-FFF2-40B4-BE49-F238E27FC236}">
                <a16:creationId xmlns:a16="http://schemas.microsoft.com/office/drawing/2014/main" id="{50AC18DD-D395-47EC-9894-3738EB21B0F1}"/>
              </a:ext>
            </a:extLst>
          </p:cNvPr>
          <p:cNvPicPr>
            <a:picLocks xmlns:a="http://schemas.openxmlformats.org/drawingml/2006/main" noChangeAspect="1"/>
          </p:cNvPicPr>
          <p:nvPr/>
        </p:nvPicPr>
        <p:blipFill>
          <a:blip xmlns:r="http://schemas.openxmlformats.org/officeDocument/2006/relationships" xmlns:a="http://schemas.openxmlformats.org/drawingml/2006/main" r:embed="R9f8a37d0b41d4a3c"/>
          <a:stretch xmlns:a="http://schemas.openxmlformats.org/drawingml/2006/main"/>
        </p:blipFill>
        <p:spPr>
          <a:xfrm xmlns:a="http://schemas.openxmlformats.org/drawingml/2006/main">
            <a:off x="9870281" y="400050"/>
            <a:ext cx="1709738" cy="666750"/>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3D9A340D-8F6F-4FEA-A32D-429B7A73A27C}"/>
              </a:ext>
            </a:extLst>
          </p:cNvPr>
          <p:cNvSpPr>
            <a:spLocks xmlns:a="http://schemas.openxmlformats.org/drawingml/2006/main" noGrp="1"/>
          </p:cNvSpPr>
          <p:nvPr/>
        </p:nvSpPr>
        <p:spPr>
          <a:xfrm xmlns:a="http://schemas.openxmlformats.org/drawingml/2006/main">
            <a:off x="11068050" y="6467475"/>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13</a:t>
            </a:r>
          </a:p>
        </p:txBody>
      </p:sp>
      <p:sp>
        <p:nvSpPr>
          <p:cNvPr id="4" name="text-3">
            <a:extLst xmlns:a="http://schemas.openxmlformats.org/drawingml/2006/main">
              <a:ext uri="{FF2B5EF4-FFF2-40B4-BE49-F238E27FC236}">
                <a16:creationId xmlns:a16="http://schemas.microsoft.com/office/drawing/2014/main" id="{FC706DC0-6930-4764-89DA-FFBBE5FB264B}"/>
              </a:ext>
            </a:extLst>
          </p:cNvPr>
          <p:cNvSpPr>
            <a:spLocks xmlns:a="http://schemas.openxmlformats.org/drawingml/2006/main" noGrp="1"/>
          </p:cNvSpPr>
          <p:nvPr/>
        </p:nvSpPr>
        <p:spPr>
          <a:xfrm xmlns:a="http://schemas.openxmlformats.org/drawingml/2006/main">
            <a:off x="609600" y="1857375"/>
            <a:ext cx="704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F47920"/>
                </a:solidFill>
                <a:latin typeface="Arial"/>
                <a:ea typeface="Arial"/>
                <a:cs typeface="Arial"/>
              </a:defRPr>
            </a:defPPr>
          </a:lstStyle>
          <a:p xmlns:a="http://schemas.openxmlformats.org/drawingml/2006/main">
            <a:pPr algn="l">
              <a:defRPr sz="2925" b="1">
                <a:solidFill>
                  <a:srgbClr val="F47920"/>
                </a:solidFill>
                <a:latin typeface="Arial"/>
                <a:ea typeface="Arial"/>
                <a:cs typeface="Arial"/>
              </a:defRPr>
            </a:pPr>
            <a:r>
              <a:rPr sz="2925" b="1">
                <a:solidFill>
                  <a:srgbClr val="F47920"/>
                </a:solidFill>
                <a:latin typeface="Arial"/>
                <a:ea typeface="Arial"/>
                <a:cs typeface="Arial"/>
              </a:rPr>
              <a:t>01</a:t>
            </a:r>
          </a:p>
        </p:txBody>
      </p:sp>
      <p:sp>
        <p:nvSpPr>
          <p:cNvPr id="5" name="text-4">
            <a:extLst xmlns:a="http://schemas.openxmlformats.org/drawingml/2006/main">
              <a:ext uri="{FF2B5EF4-FFF2-40B4-BE49-F238E27FC236}">
                <a16:creationId xmlns:a16="http://schemas.microsoft.com/office/drawing/2014/main" id="{8188E9B3-B23A-44E3-9F72-D36678605A68}"/>
              </a:ext>
            </a:extLst>
          </p:cNvPr>
          <p:cNvSpPr>
            <a:spLocks xmlns:a="http://schemas.openxmlformats.org/drawingml/2006/main" noGrp="1"/>
          </p:cNvSpPr>
          <p:nvPr/>
        </p:nvSpPr>
        <p:spPr>
          <a:xfrm xmlns:a="http://schemas.openxmlformats.org/drawingml/2006/main">
            <a:off x="1571625" y="1857375"/>
            <a:ext cx="9382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2A43"/>
                </a:solidFill>
                <a:latin typeface="Arial"/>
                <a:ea typeface="Arial"/>
                <a:cs typeface="Arial"/>
              </a:defRPr>
            </a:defPPr>
          </a:lstStyle>
          <a:p xmlns:a="http://schemas.openxmlformats.org/drawingml/2006/main">
            <a:pPr algn="l">
              <a:defRPr sz="2175" b="1">
                <a:solidFill>
                  <a:srgbClr val="102A43"/>
                </a:solidFill>
                <a:latin typeface="Arial"/>
                <a:ea typeface="Arial"/>
                <a:cs typeface="Arial"/>
              </a:defRPr>
            </a:pPr>
            <a:r>
              <a:rPr sz="2175" b="1">
                <a:solidFill>
                  <a:srgbClr val="102A43"/>
                </a:solidFill>
                <a:latin typeface="Arial"/>
                <a:ea typeface="Arial"/>
                <a:cs typeface="Arial"/>
              </a:rPr>
              <a:t>Benchmark</a:t>
            </a:r>
          </a:p>
        </p:txBody>
      </p:sp>
      <p:sp>
        <p:nvSpPr>
          <p:cNvPr id="6" name="text-5">
            <a:extLst xmlns:a="http://schemas.openxmlformats.org/drawingml/2006/main">
              <a:ext uri="{FF2B5EF4-FFF2-40B4-BE49-F238E27FC236}">
                <a16:creationId xmlns:a16="http://schemas.microsoft.com/office/drawing/2014/main" id="{A722D25E-B8DF-4C6D-BAD5-D5FC9227E5B1}"/>
              </a:ext>
            </a:extLst>
          </p:cNvPr>
          <p:cNvSpPr>
            <a:spLocks xmlns:a="http://schemas.openxmlformats.org/drawingml/2006/main" noGrp="1"/>
          </p:cNvSpPr>
          <p:nvPr/>
        </p:nvSpPr>
        <p:spPr>
          <a:xfrm xmlns:a="http://schemas.openxmlformats.org/drawingml/2006/main">
            <a:off x="1571625" y="2266950"/>
            <a:ext cx="9906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575"/>
                </a:solidFill>
                <a:latin typeface="Arial"/>
                <a:ea typeface="Arial"/>
                <a:cs typeface="Arial"/>
              </a:defRPr>
            </a:defPPr>
          </a:lstStyle>
          <a:p xmlns:a="http://schemas.openxmlformats.org/drawingml/2006/main">
            <a:pPr algn="l">
              <a:defRPr sz="1950" b="0">
                <a:solidFill>
                  <a:srgbClr val="526575"/>
                </a:solidFill>
                <a:latin typeface="Arial"/>
                <a:ea typeface="Arial"/>
                <a:cs typeface="Arial"/>
              </a:defRPr>
            </a:pPr>
            <a:r>
              <a:rPr sz="1950" b="0">
                <a:solidFill>
                  <a:srgbClr val="526575"/>
                </a:solidFill>
                <a:latin typeface="Arial"/>
                <a:ea typeface="Arial"/>
                <a:cs typeface="Arial"/>
              </a:rPr>
              <a:t>How do YOLO-OBB models perform by object size?</a:t>
            </a:r>
          </a:p>
        </p:txBody>
      </p:sp>
      <p:sp>
        <p:nvSpPr>
          <p:cNvPr id="7" name="text-6">
            <a:extLst xmlns:a="http://schemas.openxmlformats.org/drawingml/2006/main">
              <a:ext uri="{FF2B5EF4-FFF2-40B4-BE49-F238E27FC236}">
                <a16:creationId xmlns:a16="http://schemas.microsoft.com/office/drawing/2014/main" id="{504FF48F-A5BF-4F8E-9AC4-5B759674FC94}"/>
              </a:ext>
            </a:extLst>
          </p:cNvPr>
          <p:cNvSpPr>
            <a:spLocks xmlns:a="http://schemas.openxmlformats.org/drawingml/2006/main" noGrp="1"/>
          </p:cNvSpPr>
          <p:nvPr/>
        </p:nvSpPr>
        <p:spPr>
          <a:xfrm xmlns:a="http://schemas.openxmlformats.org/drawingml/2006/main">
            <a:off x="609600" y="2886075"/>
            <a:ext cx="704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F47920"/>
                </a:solidFill>
                <a:latin typeface="Arial"/>
                <a:ea typeface="Arial"/>
                <a:cs typeface="Arial"/>
              </a:defRPr>
            </a:defPPr>
          </a:lstStyle>
          <a:p xmlns:a="http://schemas.openxmlformats.org/drawingml/2006/main">
            <a:pPr algn="l">
              <a:defRPr sz="2925" b="1">
                <a:solidFill>
                  <a:srgbClr val="F47920"/>
                </a:solidFill>
                <a:latin typeface="Arial"/>
                <a:ea typeface="Arial"/>
                <a:cs typeface="Arial"/>
              </a:defRPr>
            </a:pPr>
            <a:r>
              <a:rPr sz="2925" b="1">
                <a:solidFill>
                  <a:srgbClr val="F47920"/>
                </a:solidFill>
                <a:latin typeface="Arial"/>
                <a:ea typeface="Arial"/>
                <a:cs typeface="Arial"/>
              </a:rPr>
              <a:t>02</a:t>
            </a:r>
          </a:p>
        </p:txBody>
      </p:sp>
      <p:sp>
        <p:nvSpPr>
          <p:cNvPr id="8" name="text-7">
            <a:extLst xmlns:a="http://schemas.openxmlformats.org/drawingml/2006/main">
              <a:ext uri="{FF2B5EF4-FFF2-40B4-BE49-F238E27FC236}">
                <a16:creationId xmlns:a16="http://schemas.microsoft.com/office/drawing/2014/main" id="{18437CDD-9EED-4601-A1DD-6DE2E602E5EC}"/>
              </a:ext>
            </a:extLst>
          </p:cNvPr>
          <p:cNvSpPr>
            <a:spLocks xmlns:a="http://schemas.openxmlformats.org/drawingml/2006/main" noGrp="1"/>
          </p:cNvSpPr>
          <p:nvPr/>
        </p:nvSpPr>
        <p:spPr>
          <a:xfrm xmlns:a="http://schemas.openxmlformats.org/drawingml/2006/main">
            <a:off x="1571625" y="2886075"/>
            <a:ext cx="9382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2A43"/>
                </a:solidFill>
                <a:latin typeface="Arial"/>
                <a:ea typeface="Arial"/>
                <a:cs typeface="Arial"/>
              </a:defRPr>
            </a:defPPr>
          </a:lstStyle>
          <a:p xmlns:a="http://schemas.openxmlformats.org/drawingml/2006/main">
            <a:pPr algn="l">
              <a:defRPr sz="2175" b="1">
                <a:solidFill>
                  <a:srgbClr val="102A43"/>
                </a:solidFill>
                <a:latin typeface="Arial"/>
                <a:ea typeface="Arial"/>
                <a:cs typeface="Arial"/>
              </a:defRPr>
            </a:pPr>
            <a:r>
              <a:rPr sz="2175" b="1">
                <a:solidFill>
                  <a:srgbClr val="102A43"/>
                </a:solidFill>
                <a:latin typeface="Arial"/>
                <a:ea typeface="Arial"/>
                <a:cs typeface="Arial"/>
              </a:rPr>
              <a:t>Diagnosis</a:t>
            </a:r>
          </a:p>
        </p:txBody>
      </p:sp>
      <p:sp>
        <p:nvSpPr>
          <p:cNvPr id="9" name="text-8">
            <a:extLst xmlns:a="http://schemas.openxmlformats.org/drawingml/2006/main">
              <a:ext uri="{FF2B5EF4-FFF2-40B4-BE49-F238E27FC236}">
                <a16:creationId xmlns:a16="http://schemas.microsoft.com/office/drawing/2014/main" id="{B1646EF7-6D69-4F71-92EE-4DB6595FDD2B}"/>
              </a:ext>
            </a:extLst>
          </p:cNvPr>
          <p:cNvSpPr>
            <a:spLocks xmlns:a="http://schemas.openxmlformats.org/drawingml/2006/main" noGrp="1"/>
          </p:cNvSpPr>
          <p:nvPr/>
        </p:nvSpPr>
        <p:spPr>
          <a:xfrm xmlns:a="http://schemas.openxmlformats.org/drawingml/2006/main">
            <a:off x="1571625" y="3295650"/>
            <a:ext cx="9906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575"/>
                </a:solidFill>
                <a:latin typeface="Arial"/>
                <a:ea typeface="Arial"/>
                <a:cs typeface="Arial"/>
              </a:defRPr>
            </a:defPPr>
          </a:lstStyle>
          <a:p xmlns:a="http://schemas.openxmlformats.org/drawingml/2006/main">
            <a:pPr algn="l">
              <a:defRPr sz="1950" b="0">
                <a:solidFill>
                  <a:srgbClr val="526575"/>
                </a:solidFill>
                <a:latin typeface="Arial"/>
                <a:ea typeface="Arial"/>
                <a:cs typeface="Arial"/>
              </a:defRPr>
            </a:pPr>
            <a:r>
              <a:rPr sz="1950" b="0">
                <a:solidFill>
                  <a:srgbClr val="526575"/>
                </a:solidFill>
                <a:latin typeface="Arial"/>
                <a:ea typeface="Arial"/>
                <a:cs typeface="Arial"/>
              </a:rPr>
              <a:t>Where do candidates and final positives disappear?</a:t>
            </a:r>
          </a:p>
        </p:txBody>
      </p:sp>
      <p:sp>
        <p:nvSpPr>
          <p:cNvPr id="10" name="text-9">
            <a:extLst xmlns:a="http://schemas.openxmlformats.org/drawingml/2006/main">
              <a:ext uri="{FF2B5EF4-FFF2-40B4-BE49-F238E27FC236}">
                <a16:creationId xmlns:a16="http://schemas.microsoft.com/office/drawing/2014/main" id="{1F314038-193A-4BD2-9C02-9264AD38B34E}"/>
              </a:ext>
            </a:extLst>
          </p:cNvPr>
          <p:cNvSpPr>
            <a:spLocks xmlns:a="http://schemas.openxmlformats.org/drawingml/2006/main" noGrp="1"/>
          </p:cNvSpPr>
          <p:nvPr/>
        </p:nvSpPr>
        <p:spPr>
          <a:xfrm xmlns:a="http://schemas.openxmlformats.org/drawingml/2006/main">
            <a:off x="609600" y="3914775"/>
            <a:ext cx="704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F47920"/>
                </a:solidFill>
                <a:latin typeface="Arial"/>
                <a:ea typeface="Arial"/>
                <a:cs typeface="Arial"/>
              </a:defRPr>
            </a:defPPr>
          </a:lstStyle>
          <a:p xmlns:a="http://schemas.openxmlformats.org/drawingml/2006/main">
            <a:pPr algn="l">
              <a:defRPr sz="2925" b="1">
                <a:solidFill>
                  <a:srgbClr val="F47920"/>
                </a:solidFill>
                <a:latin typeface="Arial"/>
                <a:ea typeface="Arial"/>
                <a:cs typeface="Arial"/>
              </a:defRPr>
            </a:pPr>
            <a:r>
              <a:rPr sz="2925" b="1">
                <a:solidFill>
                  <a:srgbClr val="F47920"/>
                </a:solidFill>
                <a:latin typeface="Arial"/>
                <a:ea typeface="Arial"/>
                <a:cs typeface="Arial"/>
              </a:rPr>
              <a:t>03</a:t>
            </a:r>
          </a:p>
        </p:txBody>
      </p:sp>
      <p:sp>
        <p:nvSpPr>
          <p:cNvPr id="11" name="text-10">
            <a:extLst xmlns:a="http://schemas.openxmlformats.org/drawingml/2006/main">
              <a:ext uri="{FF2B5EF4-FFF2-40B4-BE49-F238E27FC236}">
                <a16:creationId xmlns:a16="http://schemas.microsoft.com/office/drawing/2014/main" id="{C39B9E81-F496-4AB1-9DFB-57677BDA751C}"/>
              </a:ext>
            </a:extLst>
          </p:cNvPr>
          <p:cNvSpPr>
            <a:spLocks xmlns:a="http://schemas.openxmlformats.org/drawingml/2006/main" noGrp="1"/>
          </p:cNvSpPr>
          <p:nvPr/>
        </p:nvSpPr>
        <p:spPr>
          <a:xfrm xmlns:a="http://schemas.openxmlformats.org/drawingml/2006/main">
            <a:off x="1571625" y="3914775"/>
            <a:ext cx="9382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2A43"/>
                </a:solidFill>
                <a:latin typeface="Arial"/>
                <a:ea typeface="Arial"/>
                <a:cs typeface="Arial"/>
              </a:defRPr>
            </a:defPPr>
          </a:lstStyle>
          <a:p xmlns:a="http://schemas.openxmlformats.org/drawingml/2006/main">
            <a:pPr algn="l">
              <a:defRPr sz="2175" b="1">
                <a:solidFill>
                  <a:srgbClr val="102A43"/>
                </a:solidFill>
                <a:latin typeface="Arial"/>
                <a:ea typeface="Arial"/>
                <a:cs typeface="Arial"/>
              </a:defRPr>
            </a:pPr>
            <a:r>
              <a:rPr sz="2175" b="1">
                <a:solidFill>
                  <a:srgbClr val="102A43"/>
                </a:solidFill>
                <a:latin typeface="Arial"/>
                <a:ea typeface="Arial"/>
                <a:cs typeface="Arial"/>
              </a:rPr>
              <a:t>Intervention</a:t>
            </a:r>
          </a:p>
        </p:txBody>
      </p:sp>
      <p:sp>
        <p:nvSpPr>
          <p:cNvPr id="12" name="text-11">
            <a:extLst xmlns:a="http://schemas.openxmlformats.org/drawingml/2006/main">
              <a:ext uri="{FF2B5EF4-FFF2-40B4-BE49-F238E27FC236}">
                <a16:creationId xmlns:a16="http://schemas.microsoft.com/office/drawing/2014/main" id="{8B8258E5-D0D8-40C2-9678-14028D3D93D8}"/>
              </a:ext>
            </a:extLst>
          </p:cNvPr>
          <p:cNvSpPr>
            <a:spLocks xmlns:a="http://schemas.openxmlformats.org/drawingml/2006/main" noGrp="1"/>
          </p:cNvSpPr>
          <p:nvPr/>
        </p:nvSpPr>
        <p:spPr>
          <a:xfrm xmlns:a="http://schemas.openxmlformats.org/drawingml/2006/main">
            <a:off x="1571625" y="4324350"/>
            <a:ext cx="9906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575"/>
                </a:solidFill>
                <a:latin typeface="Arial"/>
                <a:ea typeface="Arial"/>
                <a:cs typeface="Arial"/>
              </a:defRPr>
            </a:defPPr>
          </a:lstStyle>
          <a:p xmlns:a="http://schemas.openxmlformats.org/drawingml/2006/main">
            <a:pPr algn="l">
              <a:defRPr sz="1950" b="0">
                <a:solidFill>
                  <a:srgbClr val="526575"/>
                </a:solidFill>
                <a:latin typeface="Arial"/>
                <a:ea typeface="Arial"/>
                <a:cs typeface="Arial"/>
              </a:defRPr>
            </a:pPr>
            <a:r>
              <a:rPr sz="1950" b="0">
                <a:solidFill>
                  <a:srgbClr val="526575"/>
                </a:solidFill>
                <a:latin typeface="Arial"/>
                <a:ea typeface="Arial"/>
                <a:cs typeface="Arial"/>
              </a:rPr>
              <a:t>Can a different region or conflict rule improve detection?</a:t>
            </a:r>
          </a:p>
        </p:txBody>
      </p:sp>
      <p:sp>
        <p:nvSpPr>
          <p:cNvPr id="13" name="text-12">
            <a:extLst xmlns:a="http://schemas.openxmlformats.org/drawingml/2006/main">
              <a:ext uri="{FF2B5EF4-FFF2-40B4-BE49-F238E27FC236}">
                <a16:creationId xmlns:a16="http://schemas.microsoft.com/office/drawing/2014/main" id="{B503FE1E-7A37-42B5-B722-D24B87E90044}"/>
              </a:ext>
            </a:extLst>
          </p:cNvPr>
          <p:cNvSpPr>
            <a:spLocks xmlns:a="http://schemas.openxmlformats.org/drawingml/2006/main" noGrp="1"/>
          </p:cNvSpPr>
          <p:nvPr/>
        </p:nvSpPr>
        <p:spPr>
          <a:xfrm xmlns:a="http://schemas.openxmlformats.org/drawingml/2006/main">
            <a:off x="609600" y="4943475"/>
            <a:ext cx="704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F47920"/>
                </a:solidFill>
                <a:latin typeface="Arial"/>
                <a:ea typeface="Arial"/>
                <a:cs typeface="Arial"/>
              </a:defRPr>
            </a:defPPr>
          </a:lstStyle>
          <a:p xmlns:a="http://schemas.openxmlformats.org/drawingml/2006/main">
            <a:pPr algn="l">
              <a:defRPr sz="2925" b="1">
                <a:solidFill>
                  <a:srgbClr val="F47920"/>
                </a:solidFill>
                <a:latin typeface="Arial"/>
                <a:ea typeface="Arial"/>
                <a:cs typeface="Arial"/>
              </a:defRPr>
            </a:pPr>
            <a:r>
              <a:rPr sz="2925" b="1">
                <a:solidFill>
                  <a:srgbClr val="F47920"/>
                </a:solidFill>
                <a:latin typeface="Arial"/>
                <a:ea typeface="Arial"/>
                <a:cs typeface="Arial"/>
              </a:rPr>
              <a:t>04</a:t>
            </a:r>
          </a:p>
        </p:txBody>
      </p:sp>
      <p:sp>
        <p:nvSpPr>
          <p:cNvPr id="14" name="text-13">
            <a:extLst xmlns:a="http://schemas.openxmlformats.org/drawingml/2006/main">
              <a:ext uri="{FF2B5EF4-FFF2-40B4-BE49-F238E27FC236}">
                <a16:creationId xmlns:a16="http://schemas.microsoft.com/office/drawing/2014/main" id="{69CDB6EF-32E2-4115-85F8-A7EFE4B1AEF8}"/>
              </a:ext>
            </a:extLst>
          </p:cNvPr>
          <p:cNvSpPr>
            <a:spLocks xmlns:a="http://schemas.openxmlformats.org/drawingml/2006/main" noGrp="1"/>
          </p:cNvSpPr>
          <p:nvPr/>
        </p:nvSpPr>
        <p:spPr>
          <a:xfrm xmlns:a="http://schemas.openxmlformats.org/drawingml/2006/main">
            <a:off x="1571625" y="4943475"/>
            <a:ext cx="9382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2A43"/>
                </a:solidFill>
                <a:latin typeface="Arial"/>
                <a:ea typeface="Arial"/>
                <a:cs typeface="Arial"/>
              </a:defRPr>
            </a:defPPr>
          </a:lstStyle>
          <a:p xmlns:a="http://schemas.openxmlformats.org/drawingml/2006/main">
            <a:pPr algn="l">
              <a:defRPr sz="2175" b="1">
                <a:solidFill>
                  <a:srgbClr val="102A43"/>
                </a:solidFill>
                <a:latin typeface="Arial"/>
                <a:ea typeface="Arial"/>
                <a:cs typeface="Arial"/>
              </a:defRPr>
            </a:pPr>
            <a:r>
              <a:rPr sz="2175" b="1">
                <a:solidFill>
                  <a:srgbClr val="102A43"/>
                </a:solidFill>
                <a:latin typeface="Arial"/>
                <a:ea typeface="Arial"/>
                <a:cs typeface="Arial"/>
              </a:rPr>
              <a:t>Generalization</a:t>
            </a:r>
          </a:p>
        </p:txBody>
      </p:sp>
      <p:sp>
        <p:nvSpPr>
          <p:cNvPr id="15" name="text-14">
            <a:extLst xmlns:a="http://schemas.openxmlformats.org/drawingml/2006/main">
              <a:ext uri="{FF2B5EF4-FFF2-40B4-BE49-F238E27FC236}">
                <a16:creationId xmlns:a16="http://schemas.microsoft.com/office/drawing/2014/main" id="{A9F7D7DE-1EA0-4F24-B5BA-91283B42151C}"/>
              </a:ext>
            </a:extLst>
          </p:cNvPr>
          <p:cNvSpPr>
            <a:spLocks xmlns:a="http://schemas.openxmlformats.org/drawingml/2006/main" noGrp="1"/>
          </p:cNvSpPr>
          <p:nvPr/>
        </p:nvSpPr>
        <p:spPr>
          <a:xfrm xmlns:a="http://schemas.openxmlformats.org/drawingml/2006/main">
            <a:off x="1571625" y="5353050"/>
            <a:ext cx="9906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575"/>
                </a:solidFill>
                <a:latin typeface="Arial"/>
                <a:ea typeface="Arial"/>
                <a:cs typeface="Arial"/>
              </a:defRPr>
            </a:defPPr>
          </a:lstStyle>
          <a:p xmlns:a="http://schemas.openxmlformats.org/drawingml/2006/main">
            <a:pPr algn="l">
              <a:defRPr sz="1950" b="0">
                <a:solidFill>
                  <a:srgbClr val="526575"/>
                </a:solidFill>
                <a:latin typeface="Arial"/>
                <a:ea typeface="Arial"/>
                <a:cs typeface="Arial"/>
              </a:defRPr>
            </a:pPr>
            <a:r>
              <a:rPr sz="1950" b="0">
                <a:solidFill>
                  <a:srgbClr val="526575"/>
                </a:solidFill>
                <a:latin typeface="Arial"/>
                <a:ea typeface="Arial"/>
                <a:cs typeface="Arial"/>
              </a:rPr>
              <a:t>Do the findings hold on a second dataset?</a:t>
            </a:r>
          </a:p>
        </p:txBody>
      </p:sp>
    </p:spTree>
    <p:extLst>
      <p:ext uri="{BB962C8B-B14F-4D97-AF65-F5344CB8AC3E}">
        <p14:creationId xmlns:p14="http://schemas.microsoft.com/office/powerpoint/2010/main" val="31048798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
            <a:extLst xmlns:a="http://schemas.openxmlformats.org/drawingml/2006/main">
              <a:ext uri="{FF2B5EF4-FFF2-40B4-BE49-F238E27FC236}">
                <a16:creationId xmlns:a16="http://schemas.microsoft.com/office/drawing/2014/main" id="{3BDAF7FA-AAE0-4A9A-9AB4-A5C1642D70CE}"/>
              </a:ext>
            </a:extLst>
          </p:cNvPr>
          <p:cNvSpPr>
            <a:spLocks xmlns:a="http://schemas.openxmlformats.org/drawingml/2006/main" noGrp="1"/>
          </p:cNvSpPr>
          <p:nvPr/>
        </p:nvSpPr>
        <p:spPr>
          <a:xfrm xmlns:a="http://schemas.openxmlformats.org/drawingml/2006/main">
            <a:off x="609600" y="457200"/>
            <a:ext cx="8858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Arial"/>
                <a:ea typeface="Arial"/>
                <a:cs typeface="Arial"/>
              </a:defRPr>
            </a:defPPr>
          </a:lstStyle>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Proposed idea: OA-STAL v2</a:t>
            </a:r>
          </a:p>
        </p:txBody>
      </p:sp>
      <p:pic>
        <p:nvPicPr>
          <p:cNvPr id="2" name="">
            <a:extLst xmlns:a="http://schemas.openxmlformats.org/drawingml/2006/main">
              <a:ext uri="{FF2B5EF4-FFF2-40B4-BE49-F238E27FC236}">
                <a16:creationId xmlns:a16="http://schemas.microsoft.com/office/drawing/2014/main" id="{73A69DE2-93F6-41DC-B9A6-3048EEDCE43F}"/>
              </a:ext>
            </a:extLst>
          </p:cNvPr>
          <p:cNvPicPr>
            <a:picLocks xmlns:a="http://schemas.openxmlformats.org/drawingml/2006/main" noChangeAspect="1"/>
          </p:cNvPicPr>
          <p:nvPr/>
        </p:nvPicPr>
        <p:blipFill>
          <a:blip xmlns:r="http://schemas.openxmlformats.org/officeDocument/2006/relationships" xmlns:a="http://schemas.openxmlformats.org/drawingml/2006/main" r:embed="R016067d495544844"/>
          <a:stretch xmlns:a="http://schemas.openxmlformats.org/drawingml/2006/main"/>
        </p:blipFill>
        <p:spPr>
          <a:xfrm xmlns:a="http://schemas.openxmlformats.org/drawingml/2006/main">
            <a:off x="9870281" y="400050"/>
            <a:ext cx="1709738" cy="666750"/>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BECC161A-8DAB-405B-B43F-249AEEBA9F36}"/>
              </a:ext>
            </a:extLst>
          </p:cNvPr>
          <p:cNvSpPr>
            <a:spLocks xmlns:a="http://schemas.openxmlformats.org/drawingml/2006/main" noGrp="1"/>
          </p:cNvSpPr>
          <p:nvPr/>
        </p:nvSpPr>
        <p:spPr>
          <a:xfrm xmlns:a="http://schemas.openxmlformats.org/drawingml/2006/main">
            <a:off x="11068050" y="6467475"/>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14</a:t>
            </a:r>
          </a:p>
        </p:txBody>
      </p:sp>
      <p:sp>
        <p:nvSpPr>
          <p:cNvPr id="4" name="text-3">
            <a:extLst xmlns:a="http://schemas.openxmlformats.org/drawingml/2006/main">
              <a:ext uri="{FF2B5EF4-FFF2-40B4-BE49-F238E27FC236}">
                <a16:creationId xmlns:a16="http://schemas.microsoft.com/office/drawing/2014/main" id="{3086C7AC-0FBC-4D51-BE26-0526EEF144D7}"/>
              </a:ext>
            </a:extLst>
          </p:cNvPr>
          <p:cNvSpPr>
            <a:spLocks xmlns:a="http://schemas.openxmlformats.org/drawingml/2006/main" noGrp="1"/>
          </p:cNvSpPr>
          <p:nvPr/>
        </p:nvSpPr>
        <p:spPr>
          <a:xfrm xmlns:a="http://schemas.openxmlformats.org/drawingml/2006/main">
            <a:off x="609600" y="2114550"/>
            <a:ext cx="4191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A43"/>
                </a:solidFill>
                <a:latin typeface="Arial"/>
                <a:ea typeface="Arial"/>
                <a:cs typeface="Arial"/>
              </a:defRPr>
            </a:defPPr>
          </a:lstStyle>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Enlarge a small region while</a:t>
            </a:r>
          </a:p>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retaining its orientation.</a:t>
            </a:r>
          </a:p>
        </p:txBody>
      </p:sp>
      <p:sp>
        <p:nvSpPr>
          <p:cNvPr id="5" name="text-4">
            <a:extLst xmlns:a="http://schemas.openxmlformats.org/drawingml/2006/main">
              <a:ext uri="{FF2B5EF4-FFF2-40B4-BE49-F238E27FC236}">
                <a16:creationId xmlns:a16="http://schemas.microsoft.com/office/drawing/2014/main" id="{6FF391C0-5849-43C4-BDB8-A4DB3E218C3B}"/>
              </a:ext>
            </a:extLst>
          </p:cNvPr>
          <p:cNvSpPr>
            <a:spLocks xmlns:a="http://schemas.openxmlformats.org/drawingml/2006/main" noGrp="1"/>
          </p:cNvSpPr>
          <p:nvPr/>
        </p:nvSpPr>
        <p:spPr>
          <a:xfrm xmlns:a="http://schemas.openxmlformats.org/drawingml/2006/main">
            <a:off x="609600" y="3133725"/>
            <a:ext cx="4191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A43"/>
                </a:solidFill>
                <a:latin typeface="Arial"/>
                <a:ea typeface="Arial"/>
                <a:cs typeface="Arial"/>
              </a:defRPr>
            </a:defPPr>
          </a:lstStyle>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Protect thin sides and limit</a:t>
            </a:r>
          </a:p>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excessive elongation.</a:t>
            </a:r>
          </a:p>
        </p:txBody>
      </p:sp>
      <p:sp>
        <p:nvSpPr>
          <p:cNvPr id="6" name="text-5">
            <a:extLst xmlns:a="http://schemas.openxmlformats.org/drawingml/2006/main">
              <a:ext uri="{FF2B5EF4-FFF2-40B4-BE49-F238E27FC236}">
                <a16:creationId xmlns:a16="http://schemas.microsoft.com/office/drawing/2014/main" id="{DF498C05-2119-42ED-A54A-F1A8FA6A71FF}"/>
              </a:ext>
            </a:extLst>
          </p:cNvPr>
          <p:cNvSpPr>
            <a:spLocks xmlns:a="http://schemas.openxmlformats.org/drawingml/2006/main" noGrp="1"/>
          </p:cNvSpPr>
          <p:nvPr/>
        </p:nvSpPr>
        <p:spPr>
          <a:xfrm xmlns:a="http://schemas.openxmlformats.org/drawingml/2006/main">
            <a:off x="609600" y="4152900"/>
            <a:ext cx="4191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A43"/>
                </a:solidFill>
                <a:latin typeface="Arial"/>
                <a:ea typeface="Arial"/>
                <a:cs typeface="Arial"/>
              </a:defRPr>
            </a:defPPr>
          </a:lstStyle>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Keep the original box</a:t>
            </a:r>
          </a:p>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as the learning target.</a:t>
            </a:r>
          </a:p>
        </p:txBody>
      </p:sp>
      <p:pic>
        <p:nvPicPr>
          <p:cNvPr id="7" name="">
            <a:extLst xmlns:a="http://schemas.openxmlformats.org/drawingml/2006/main">
              <a:ext uri="{FF2B5EF4-FFF2-40B4-BE49-F238E27FC236}">
                <a16:creationId xmlns:a16="http://schemas.microsoft.com/office/drawing/2014/main" id="{36E5025C-9C8B-4137-8226-E238C34CC545}"/>
              </a:ext>
            </a:extLst>
          </p:cNvPr>
          <p:cNvPicPr>
            <a:picLocks xmlns:a="http://schemas.openxmlformats.org/drawingml/2006/main" noChangeAspect="1"/>
          </p:cNvPicPr>
          <p:nvPr/>
        </p:nvPicPr>
        <p:blipFill>
          <a:blip xmlns:r="http://schemas.openxmlformats.org/officeDocument/2006/relationships" xmlns:a="http://schemas.openxmlformats.org/drawingml/2006/main" r:embed="R6346c363799e4d34"/>
          <a:stretch xmlns:a="http://schemas.openxmlformats.org/drawingml/2006/main"/>
        </p:blipFill>
        <p:spPr>
          <a:xfrm xmlns:a="http://schemas.openxmlformats.org/drawingml/2006/main">
            <a:off x="6477000" y="1762125"/>
            <a:ext cx="4000500" cy="40005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AC6A1C22-21A4-4D7E-936E-3D9B6112C469}"/>
              </a:ext>
            </a:extLst>
          </p:cNvPr>
          <p:cNvSpPr>
            <a:spLocks xmlns:a="http://schemas.openxmlformats.org/drawingml/2006/main" noGrp="1"/>
          </p:cNvSpPr>
          <p:nvPr/>
        </p:nvSpPr>
        <p:spPr>
          <a:xfrm xmlns:a="http://schemas.openxmlformats.org/drawingml/2006/main">
            <a:off x="609600" y="60960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575"/>
                </a:solidFill>
                <a:latin typeface="Arial"/>
                <a:ea typeface="Arial"/>
                <a:cs typeface="Arial"/>
              </a:defRPr>
            </a:defPPr>
          </a:lstStyle>
          <a:p xmlns:a="http://schemas.openxmlformats.org/drawingml/2006/main">
            <a:pPr algn="l">
              <a:defRPr sz="1350" b="0">
                <a:solidFill>
                  <a:srgbClr val="526575"/>
                </a:solidFill>
                <a:latin typeface="Arial"/>
                <a:ea typeface="Arial"/>
                <a:cs typeface="Arial"/>
              </a:defRPr>
            </a:pPr>
            <a:r>
              <a:rPr sz="1350" b="0">
                <a:solidFill>
                  <a:srgbClr val="526575"/>
                </a:solidFill>
                <a:latin typeface="Arial"/>
                <a:ea typeface="Arial"/>
                <a:cs typeface="Arial"/>
              </a:rPr>
              <a:t>Conceptual region comparison. OA-STAL is a proposal.</a:t>
            </a:r>
          </a:p>
        </p:txBody>
      </p:sp>
    </p:spTree>
    <p:extLst>
      <p:ext uri="{BB962C8B-B14F-4D97-AF65-F5344CB8AC3E}">
        <p14:creationId xmlns:p14="http://schemas.microsoft.com/office/powerpoint/2010/main" val="93219047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
            <a:extLst xmlns:a="http://schemas.openxmlformats.org/drawingml/2006/main">
              <a:ext uri="{FF2B5EF4-FFF2-40B4-BE49-F238E27FC236}">
                <a16:creationId xmlns:a16="http://schemas.microsoft.com/office/drawing/2014/main" id="{CDDACFF2-C6B3-4196-9B90-3B3A8B6D7C5F}"/>
              </a:ext>
            </a:extLst>
          </p:cNvPr>
          <p:cNvSpPr>
            <a:spLocks xmlns:a="http://schemas.openxmlformats.org/drawingml/2006/main" noGrp="1"/>
          </p:cNvSpPr>
          <p:nvPr/>
        </p:nvSpPr>
        <p:spPr>
          <a:xfrm xmlns:a="http://schemas.openxmlformats.org/drawingml/2006/main">
            <a:off x="609600" y="457200"/>
            <a:ext cx="8858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Arial"/>
                <a:ea typeface="Arial"/>
                <a:cs typeface="Arial"/>
              </a:defRPr>
            </a:defPPr>
          </a:lstStyle>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Neighboring objects can compete for points</a:t>
            </a:r>
          </a:p>
        </p:txBody>
      </p:sp>
      <p:pic>
        <p:nvPicPr>
          <p:cNvPr id="2" name="">
            <a:extLst xmlns:a="http://schemas.openxmlformats.org/drawingml/2006/main">
              <a:ext uri="{FF2B5EF4-FFF2-40B4-BE49-F238E27FC236}">
                <a16:creationId xmlns:a16="http://schemas.microsoft.com/office/drawing/2014/main" id="{FA04477F-38C4-43ED-A548-863AB5043B02}"/>
              </a:ext>
            </a:extLst>
          </p:cNvPr>
          <p:cNvPicPr>
            <a:picLocks xmlns:a="http://schemas.openxmlformats.org/drawingml/2006/main" noChangeAspect="1"/>
          </p:cNvPicPr>
          <p:nvPr/>
        </p:nvPicPr>
        <p:blipFill>
          <a:blip xmlns:r="http://schemas.openxmlformats.org/officeDocument/2006/relationships" xmlns:a="http://schemas.openxmlformats.org/drawingml/2006/main" r:embed="Rba60b32f30274dbc"/>
          <a:stretch xmlns:a="http://schemas.openxmlformats.org/drawingml/2006/main"/>
        </p:blipFill>
        <p:spPr>
          <a:xfrm xmlns:a="http://schemas.openxmlformats.org/drawingml/2006/main">
            <a:off x="9870281" y="400050"/>
            <a:ext cx="1709738" cy="666750"/>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E393CCF1-A22C-4011-BA45-364717F02D2B}"/>
              </a:ext>
            </a:extLst>
          </p:cNvPr>
          <p:cNvSpPr>
            <a:spLocks xmlns:a="http://schemas.openxmlformats.org/drawingml/2006/main" noGrp="1"/>
          </p:cNvSpPr>
          <p:nvPr/>
        </p:nvSpPr>
        <p:spPr>
          <a:xfrm xmlns:a="http://schemas.openxmlformats.org/drawingml/2006/main">
            <a:off x="11068050" y="6467475"/>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15</a:t>
            </a:r>
          </a:p>
        </p:txBody>
      </p:sp>
      <p:sp>
        <p:nvSpPr>
          <p:cNvPr id="4" name="text-3">
            <a:extLst xmlns:a="http://schemas.openxmlformats.org/drawingml/2006/main">
              <a:ext uri="{FF2B5EF4-FFF2-40B4-BE49-F238E27FC236}">
                <a16:creationId xmlns:a16="http://schemas.microsoft.com/office/drawing/2014/main" id="{5E67E78F-1D53-469A-9861-775879F95D4F}"/>
              </a:ext>
            </a:extLst>
          </p:cNvPr>
          <p:cNvSpPr>
            <a:spLocks xmlns:a="http://schemas.openxmlformats.org/drawingml/2006/main" noGrp="1"/>
          </p:cNvSpPr>
          <p:nvPr/>
        </p:nvSpPr>
        <p:spPr>
          <a:xfrm xmlns:a="http://schemas.openxmlformats.org/drawingml/2006/main">
            <a:off x="609600" y="2114550"/>
            <a:ext cx="4191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A43"/>
                </a:solidFill>
                <a:latin typeface="Arial"/>
                <a:ea typeface="Arial"/>
                <a:cs typeface="Arial"/>
              </a:defRPr>
            </a:defPPr>
          </a:lstStyle>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Expanded regions may overlap</a:t>
            </a:r>
          </a:p>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in a crowded scene.</a:t>
            </a:r>
          </a:p>
        </p:txBody>
      </p:sp>
      <p:sp>
        <p:nvSpPr>
          <p:cNvPr id="5" name="text-4">
            <a:extLst xmlns:a="http://schemas.openxmlformats.org/drawingml/2006/main">
              <a:ext uri="{FF2B5EF4-FFF2-40B4-BE49-F238E27FC236}">
                <a16:creationId xmlns:a16="http://schemas.microsoft.com/office/drawing/2014/main" id="{3AC21B9C-6897-40DC-8955-EE6964AE2390}"/>
              </a:ext>
            </a:extLst>
          </p:cNvPr>
          <p:cNvSpPr>
            <a:spLocks xmlns:a="http://schemas.openxmlformats.org/drawingml/2006/main" noGrp="1"/>
          </p:cNvSpPr>
          <p:nvPr/>
        </p:nvSpPr>
        <p:spPr>
          <a:xfrm xmlns:a="http://schemas.openxmlformats.org/drawingml/2006/main">
            <a:off x="609600" y="3133725"/>
            <a:ext cx="4191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A43"/>
                </a:solidFill>
                <a:latin typeface="Arial"/>
                <a:ea typeface="Arial"/>
                <a:cs typeface="Arial"/>
              </a:defRPr>
            </a:defPPr>
          </a:lstStyle>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One point can become eligible</a:t>
            </a:r>
          </a:p>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for multiple objects.</a:t>
            </a:r>
          </a:p>
        </p:txBody>
      </p:sp>
      <p:sp>
        <p:nvSpPr>
          <p:cNvPr id="6" name="text-5">
            <a:extLst xmlns:a="http://schemas.openxmlformats.org/drawingml/2006/main">
              <a:ext uri="{FF2B5EF4-FFF2-40B4-BE49-F238E27FC236}">
                <a16:creationId xmlns:a16="http://schemas.microsoft.com/office/drawing/2014/main" id="{FF5A5C1D-EB12-4FBF-87C3-CCA2D3601B60}"/>
              </a:ext>
            </a:extLst>
          </p:cNvPr>
          <p:cNvSpPr>
            <a:spLocks xmlns:a="http://schemas.openxmlformats.org/drawingml/2006/main" noGrp="1"/>
          </p:cNvSpPr>
          <p:nvPr/>
        </p:nvSpPr>
        <p:spPr>
          <a:xfrm xmlns:a="http://schemas.openxmlformats.org/drawingml/2006/main">
            <a:off x="609600" y="4152900"/>
            <a:ext cx="4191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A43"/>
                </a:solidFill>
                <a:latin typeface="Arial"/>
                <a:ea typeface="Arial"/>
                <a:cs typeface="Arial"/>
              </a:defRPr>
            </a:defPPr>
          </a:lstStyle>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We will test which object</a:t>
            </a:r>
          </a:p>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should receive that point.</a:t>
            </a:r>
          </a:p>
        </p:txBody>
      </p:sp>
      <p:pic>
        <p:nvPicPr>
          <p:cNvPr id="7" name="">
            <a:extLst xmlns:a="http://schemas.openxmlformats.org/drawingml/2006/main">
              <a:ext uri="{FF2B5EF4-FFF2-40B4-BE49-F238E27FC236}">
                <a16:creationId xmlns:a16="http://schemas.microsoft.com/office/drawing/2014/main" id="{82CC1FB8-A91A-4BAC-8839-C3588CF6F492}"/>
              </a:ext>
            </a:extLst>
          </p:cNvPr>
          <p:cNvPicPr>
            <a:picLocks xmlns:a="http://schemas.openxmlformats.org/drawingml/2006/main" noChangeAspect="1"/>
          </p:cNvPicPr>
          <p:nvPr/>
        </p:nvPicPr>
        <p:blipFill>
          <a:blip xmlns:r="http://schemas.openxmlformats.org/officeDocument/2006/relationships" xmlns:a="http://schemas.openxmlformats.org/drawingml/2006/main" r:embed="Rd5fa109a2e8e4fa1"/>
          <a:stretch xmlns:a="http://schemas.openxmlformats.org/drawingml/2006/main"/>
        </p:blipFill>
        <p:spPr>
          <a:xfrm xmlns:a="http://schemas.openxmlformats.org/drawingml/2006/main">
            <a:off x="6493131" y="1762125"/>
            <a:ext cx="3968238" cy="40005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EF6BAC9A-33DF-4A7C-B3CD-4970553E2797}"/>
              </a:ext>
            </a:extLst>
          </p:cNvPr>
          <p:cNvSpPr>
            <a:spLocks xmlns:a="http://schemas.openxmlformats.org/drawingml/2006/main" noGrp="1"/>
          </p:cNvSpPr>
          <p:nvPr/>
        </p:nvSpPr>
        <p:spPr>
          <a:xfrm xmlns:a="http://schemas.openxmlformats.org/drawingml/2006/main">
            <a:off x="609600" y="60960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575"/>
                </a:solidFill>
                <a:latin typeface="Arial"/>
                <a:ea typeface="Arial"/>
                <a:cs typeface="Arial"/>
              </a:defRPr>
            </a:defPPr>
          </a:lstStyle>
          <a:p xmlns:a="http://schemas.openxmlformats.org/drawingml/2006/main">
            <a:pPr algn="l">
              <a:defRPr sz="1350" b="0">
                <a:solidFill>
                  <a:srgbClr val="526575"/>
                </a:solidFill>
                <a:latin typeface="Arial"/>
                <a:ea typeface="Arial"/>
                <a:cs typeface="Arial"/>
              </a:defRPr>
            </a:pPr>
            <a:r>
              <a:rPr sz="1350" b="0">
                <a:solidFill>
                  <a:srgbClr val="526575"/>
                </a:solidFill>
                <a:latin typeface="Arial"/>
                <a:ea typeface="Arial"/>
                <a:cs typeface="Arial"/>
              </a:rPr>
              <a:t>Conceptual shared candidates between neighboring ships</a:t>
            </a:r>
          </a:p>
        </p:txBody>
      </p:sp>
    </p:spTree>
    <p:extLst>
      <p:ext uri="{BB962C8B-B14F-4D97-AF65-F5344CB8AC3E}">
        <p14:creationId xmlns:p14="http://schemas.microsoft.com/office/powerpoint/2010/main" val="114647545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1">
            <a:extLst xmlns:a="http://schemas.openxmlformats.org/drawingml/2006/main">
              <a:ext uri="{FF2B5EF4-FFF2-40B4-BE49-F238E27FC236}">
                <a16:creationId xmlns:a16="http://schemas.microsoft.com/office/drawing/2014/main" id="{929F814C-B309-4799-BF15-429EE6A98D22}"/>
              </a:ext>
            </a:extLst>
          </p:cNvPr>
          <p:cNvSpPr>
            <a:spLocks xmlns:a="http://schemas.openxmlformats.org/drawingml/2006/main" noGrp="1"/>
          </p:cNvSpPr>
          <p:nvPr/>
        </p:nvSpPr>
        <p:spPr>
          <a:xfrm xmlns:a="http://schemas.openxmlformats.org/drawingml/2006/main">
            <a:off x="609600" y="457200"/>
            <a:ext cx="8858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Arial"/>
                <a:ea typeface="Arial"/>
                <a:cs typeface="Arial"/>
              </a:defRPr>
            </a:defPPr>
          </a:lstStyle>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A controlled experiment</a:t>
            </a:r>
          </a:p>
        </p:txBody>
      </p:sp>
      <p:pic>
        <p:nvPicPr>
          <p:cNvPr id="2" name="">
            <a:extLst xmlns:a="http://schemas.openxmlformats.org/drawingml/2006/main">
              <a:ext uri="{FF2B5EF4-FFF2-40B4-BE49-F238E27FC236}">
                <a16:creationId xmlns:a16="http://schemas.microsoft.com/office/drawing/2014/main" id="{DAC8AA83-E1C5-4954-A130-692C605BB875}"/>
              </a:ext>
            </a:extLst>
          </p:cNvPr>
          <p:cNvPicPr>
            <a:picLocks xmlns:a="http://schemas.openxmlformats.org/drawingml/2006/main" noChangeAspect="1"/>
          </p:cNvPicPr>
          <p:nvPr/>
        </p:nvPicPr>
        <p:blipFill>
          <a:blip xmlns:r="http://schemas.openxmlformats.org/officeDocument/2006/relationships" xmlns:a="http://schemas.openxmlformats.org/drawingml/2006/main" r:embed="R58357632f2064aae"/>
          <a:stretch xmlns:a="http://schemas.openxmlformats.org/drawingml/2006/main"/>
        </p:blipFill>
        <p:spPr>
          <a:xfrm xmlns:a="http://schemas.openxmlformats.org/drawingml/2006/main">
            <a:off x="9870281" y="400050"/>
            <a:ext cx="1709738" cy="666750"/>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635B002B-15AE-4B97-AF89-E58BD5E41431}"/>
              </a:ext>
            </a:extLst>
          </p:cNvPr>
          <p:cNvSpPr>
            <a:spLocks xmlns:a="http://schemas.openxmlformats.org/drawingml/2006/main" noGrp="1"/>
          </p:cNvSpPr>
          <p:nvPr/>
        </p:nvSpPr>
        <p:spPr>
          <a:xfrm xmlns:a="http://schemas.openxmlformats.org/drawingml/2006/main">
            <a:off x="11068050" y="6467475"/>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16</a:t>
            </a:r>
          </a:p>
        </p:txBody>
      </p:sp>
      <p:graphicFrame>
        <p:nvGraphicFramePr>
          <p:cNvPr id="4" name="">
            <a:extLst xmlns:a="http://schemas.openxmlformats.org/drawingml/2006/main">
              <a:ext uri="{FF2B5EF4-FFF2-40B4-BE49-F238E27FC236}">
                <a16:creationId xmlns:a16="http://schemas.microsoft.com/office/drawing/2014/main" id="{897F05FF-7F31-4265-B3DE-03C4786486CF}"/>
              </a:ext>
            </a:extLst>
          </p:cNvPr>
          <p:cNvGraphicFramePr/>
          <p:nvPr/>
        </p:nvGraphicFramePr>
        <p:xfrm>
          <a:off xmlns:a="http://schemas.openxmlformats.org/drawingml/2006/main" x="609600" y="1743075"/>
          <a:ext xmlns:a="http://schemas.openxmlformats.org/drawingml/2006/main" cx="10972800" cy="3476625"/>
        </p:xfrm>
        <a:graphic xmlns:a="http://schemas.openxmlformats.org/drawingml/2006/main">
          <a:graphicData uri="http://schemas.openxmlformats.org/drawingml/2006/table">
            <a:tbl>
              <a:tblPr firstRow="1" bandRow="0"/>
              <a:tblGrid>
                <a:gridCol w="2762250"/>
                <a:gridCol w="3781425"/>
                <a:gridCol w="4429125"/>
              </a:tblGrid>
              <a:tr h="695325">
                <a:tc>
                  <a:txBody>
                    <a:bodyPr lIns="152400" tIns="152400" rIns="152400" bIns="152400"/>
                    <a:lstStyle/>
                    <a:p>
                      <a:r>
                        <a:rPr sz="1875" b="1">
                          <a:solidFill>
                            <a:srgbClr val="FFFFFF"/>
                          </a:solidFill>
                          <a:latin typeface="Arial"/>
                          <a:ea typeface="Arial"/>
                          <a:cs typeface="Arial"/>
                        </a:rPr>
                        <a:t>Configuration</a:t>
                      </a:r>
                    </a:p>
                  </a:txBody>
                  <a:tcPr marL="91440" marR="91440" marT="45720" marB="45720" anchor="ctr">
                    <a:solidFill>
                      <a:srgbClr val="102A43"/>
                    </a:solidFill>
                  </a:tcPr>
                </a:tc>
                <a:tc>
                  <a:txBody>
                    <a:bodyPr lIns="152400" tIns="152400" rIns="152400" bIns="152400"/>
                    <a:lstStyle/>
                    <a:p>
                      <a:r>
                        <a:rPr sz="1875" b="1">
                          <a:solidFill>
                            <a:srgbClr val="FFFFFF"/>
                          </a:solidFill>
                          <a:latin typeface="Arial"/>
                          <a:ea typeface="Arial"/>
                          <a:cs typeface="Arial"/>
                        </a:rPr>
                        <a:t>Candidate region</a:t>
                      </a:r>
                    </a:p>
                  </a:txBody>
                  <a:tcPr marL="91440" marR="91440" marT="45720" marB="45720" anchor="ctr">
                    <a:solidFill>
                      <a:srgbClr val="102A43"/>
                    </a:solidFill>
                  </a:tcPr>
                </a:tc>
                <a:tc>
                  <a:txBody>
                    <a:bodyPr lIns="152400" tIns="152400" rIns="152400" bIns="152400"/>
                    <a:lstStyle/>
                    <a:p>
                      <a:r>
                        <a:rPr sz="1875" b="1">
                          <a:solidFill>
                            <a:srgbClr val="FFFFFF"/>
                          </a:solidFill>
                          <a:latin typeface="Arial"/>
                          <a:ea typeface="Arial"/>
                          <a:cs typeface="Arial"/>
                        </a:rPr>
                        <a:t>Purpose</a:t>
                      </a:r>
                    </a:p>
                  </a:txBody>
                  <a:tcPr marL="91440" marR="91440" marT="45720" marB="45720" anchor="ctr">
                    <a:solidFill>
                      <a:srgbClr val="102A43"/>
                    </a:solidFill>
                  </a:tcPr>
                </a:tc>
              </a:tr>
              <a:tr h="695325">
                <a:tc>
                  <a:txBody>
                    <a:bodyPr lIns="152400" tIns="152400" rIns="152400" bIns="152400"/>
                    <a:lstStyle/>
                    <a:p>
                      <a:r>
                        <a:rPr sz="1875" b="0">
                          <a:solidFill>
                            <a:srgbClr val="102A43"/>
                          </a:solidFill>
                          <a:latin typeface="Arial"/>
                          <a:ea typeface="Arial"/>
                          <a:cs typeface="Arial"/>
                        </a:rPr>
                        <a:t>Baseline</a:t>
                      </a:r>
                    </a:p>
                  </a:txBody>
                  <a:tcPr marL="91440" marR="91440" marT="45720" marB="45720" anchor="ctr">
                    <a:solidFill>
                      <a:srgbClr val="FFFFFF"/>
                    </a:solidFill>
                  </a:tcPr>
                </a:tc>
                <a:tc>
                  <a:txBody>
                    <a:bodyPr lIns="152400" tIns="152400" rIns="152400" bIns="152400"/>
                    <a:lstStyle/>
                    <a:p>
                      <a:r>
                        <a:rPr sz="1875" b="0">
                          <a:solidFill>
                            <a:srgbClr val="102A43"/>
                          </a:solidFill>
                          <a:latin typeface="Arial"/>
                          <a:ea typeface="Arial"/>
                          <a:cs typeface="Arial"/>
                        </a:rPr>
                        <a:t>STAL-16</a:t>
                      </a:r>
                    </a:p>
                  </a:txBody>
                  <a:tcPr marL="91440" marR="91440" marT="45720" marB="45720" anchor="ctr">
                    <a:solidFill>
                      <a:srgbClr val="FFFFFF"/>
                    </a:solidFill>
                  </a:tcPr>
                </a:tc>
                <a:tc>
                  <a:txBody>
                    <a:bodyPr lIns="152400" tIns="152400" rIns="152400" bIns="152400"/>
                    <a:lstStyle/>
                    <a:p>
                      <a:r>
                        <a:rPr sz="1875" b="0">
                          <a:solidFill>
                            <a:srgbClr val="102A43"/>
                          </a:solidFill>
                          <a:latin typeface="Arial"/>
                          <a:ea typeface="Arial"/>
                          <a:cs typeface="Arial"/>
                        </a:rPr>
                        <a:t>Reference result</a:t>
                      </a:r>
                    </a:p>
                  </a:txBody>
                  <a:tcPr marL="91440" marR="91440" marT="45720" marB="45720" anchor="ctr">
                    <a:solidFill>
                      <a:srgbClr val="FFFFFF"/>
                    </a:solidFill>
                  </a:tcPr>
                </a:tc>
              </a:tr>
              <a:tr h="695325">
                <a:tc>
                  <a:txBody>
                    <a:bodyPr lIns="152400" tIns="152400" rIns="152400" bIns="152400"/>
                    <a:lstStyle/>
                    <a:p>
                      <a:r>
                        <a:rPr sz="1875" b="0">
                          <a:solidFill>
                            <a:srgbClr val="102A43"/>
                          </a:solidFill>
                          <a:latin typeface="Arial"/>
                          <a:ea typeface="Arial"/>
                          <a:cs typeface="Arial"/>
                        </a:rPr>
                        <a:t>Threshold control</a:t>
                      </a:r>
                    </a:p>
                  </a:txBody>
                  <a:tcPr marL="91440" marR="91440" marT="45720" marB="45720" anchor="ctr">
                    <a:solidFill>
                      <a:srgbClr val="F3F6F8"/>
                    </a:solidFill>
                  </a:tcPr>
                </a:tc>
                <a:tc>
                  <a:txBody>
                    <a:bodyPr lIns="152400" tIns="152400" rIns="152400" bIns="152400"/>
                    <a:lstStyle/>
                    <a:p>
                      <a:r>
                        <a:rPr sz="1875" b="0">
                          <a:solidFill>
                            <a:srgbClr val="102A43"/>
                          </a:solidFill>
                          <a:latin typeface="Arial"/>
                          <a:ea typeface="Arial"/>
                          <a:cs typeface="Arial"/>
                        </a:rPr>
                        <a:t>STAL-8 / no floor</a:t>
                      </a:r>
                    </a:p>
                  </a:txBody>
                  <a:tcPr marL="91440" marR="91440" marT="45720" marB="45720" anchor="ctr">
                    <a:solidFill>
                      <a:srgbClr val="F3F6F8"/>
                    </a:solidFill>
                  </a:tcPr>
                </a:tc>
                <a:tc>
                  <a:txBody>
                    <a:bodyPr lIns="152400" tIns="152400" rIns="152400" bIns="152400"/>
                    <a:lstStyle/>
                    <a:p>
                      <a:r>
                        <a:rPr sz="1875" b="0">
                          <a:solidFill>
                            <a:srgbClr val="102A43"/>
                          </a:solidFill>
                          <a:latin typeface="Arial"/>
                          <a:ea typeface="Arial"/>
                          <a:cs typeface="Arial"/>
                        </a:rPr>
                        <a:t>Isolate enlargement rule</a:t>
                      </a:r>
                    </a:p>
                  </a:txBody>
                  <a:tcPr marL="91440" marR="91440" marT="45720" marB="45720" anchor="ctr">
                    <a:solidFill>
                      <a:srgbClr val="F3F6F8"/>
                    </a:solidFill>
                  </a:tcPr>
                </a:tc>
              </a:tr>
              <a:tr h="695325">
                <a:tc>
                  <a:txBody>
                    <a:bodyPr lIns="152400" tIns="152400" rIns="152400" bIns="152400"/>
                    <a:lstStyle/>
                    <a:p>
                      <a:r>
                        <a:rPr sz="1875" b="0">
                          <a:solidFill>
                            <a:srgbClr val="102A43"/>
                          </a:solidFill>
                          <a:latin typeface="Arial"/>
                          <a:ea typeface="Arial"/>
                          <a:cs typeface="Arial"/>
                        </a:rPr>
                        <a:t>Region intervention</a:t>
                      </a:r>
                    </a:p>
                  </a:txBody>
                  <a:tcPr marL="91440" marR="91440" marT="45720" marB="45720" anchor="ctr">
                    <a:solidFill>
                      <a:srgbClr val="FFFFFF"/>
                    </a:solidFill>
                  </a:tcPr>
                </a:tc>
                <a:tc>
                  <a:txBody>
                    <a:bodyPr lIns="152400" tIns="152400" rIns="152400" bIns="152400"/>
                    <a:lstStyle/>
                    <a:p>
                      <a:r>
                        <a:rPr sz="1875" b="0">
                          <a:solidFill>
                            <a:srgbClr val="102A43"/>
                          </a:solidFill>
                          <a:latin typeface="Arial"/>
                          <a:ea typeface="Arial"/>
                          <a:cs typeface="Arial"/>
                        </a:rPr>
                        <a:t>OA-STAL v2</a:t>
                      </a:r>
                    </a:p>
                  </a:txBody>
                  <a:tcPr marL="91440" marR="91440" marT="45720" marB="45720" anchor="ctr">
                    <a:solidFill>
                      <a:srgbClr val="FFFFFF"/>
                    </a:solidFill>
                  </a:tcPr>
                </a:tc>
                <a:tc>
                  <a:txBody>
                    <a:bodyPr lIns="152400" tIns="152400" rIns="152400" bIns="152400"/>
                    <a:lstStyle/>
                    <a:p>
                      <a:r>
                        <a:rPr sz="1875" b="0">
                          <a:solidFill>
                            <a:srgbClr val="102A43"/>
                          </a:solidFill>
                          <a:latin typeface="Arial"/>
                          <a:ea typeface="Arial"/>
                          <a:cs typeface="Arial"/>
                        </a:rPr>
                        <a:t>Test candidate geometry</a:t>
                      </a:r>
                    </a:p>
                  </a:txBody>
                  <a:tcPr marL="91440" marR="91440" marT="45720" marB="45720" anchor="ctr">
                    <a:solidFill>
                      <a:srgbClr val="FFFFFF"/>
                    </a:solidFill>
                  </a:tcPr>
                </a:tc>
              </a:tr>
              <a:tr h="695325">
                <a:tc>
                  <a:txBody>
                    <a:bodyPr lIns="152400" tIns="152400" rIns="152400" bIns="152400"/>
                    <a:lstStyle/>
                    <a:p>
                      <a:r>
                        <a:rPr sz="1875" b="0">
                          <a:solidFill>
                            <a:srgbClr val="102A43"/>
                          </a:solidFill>
                          <a:latin typeface="Arial"/>
                          <a:ea typeface="Arial"/>
                          <a:cs typeface="Arial"/>
                        </a:rPr>
                        <a:t>Conflict intervention</a:t>
                      </a:r>
                    </a:p>
                  </a:txBody>
                  <a:tcPr marL="91440" marR="91440" marT="45720" marB="45720" anchor="ctr">
                    <a:solidFill>
                      <a:srgbClr val="F3F6F8"/>
                    </a:solidFill>
                  </a:tcPr>
                </a:tc>
                <a:tc>
                  <a:txBody>
                    <a:bodyPr lIns="152400" tIns="152400" rIns="152400" bIns="152400"/>
                    <a:lstStyle/>
                    <a:p>
                      <a:r>
                        <a:rPr sz="1875" b="0">
                          <a:solidFill>
                            <a:srgbClr val="102A43"/>
                          </a:solidFill>
                          <a:latin typeface="Arial"/>
                          <a:ea typeface="Arial"/>
                          <a:cs typeface="Arial"/>
                        </a:rPr>
                        <a:t>OA-STAL v2 + rule</a:t>
                      </a:r>
                    </a:p>
                  </a:txBody>
                  <a:tcPr marL="91440" marR="91440" marT="45720" marB="45720" anchor="ctr">
                    <a:solidFill>
                      <a:srgbClr val="F3F6F8"/>
                    </a:solidFill>
                  </a:tcPr>
                </a:tc>
                <a:tc>
                  <a:txBody>
                    <a:bodyPr lIns="152400" tIns="152400" rIns="152400" bIns="152400"/>
                    <a:lstStyle/>
                    <a:p>
                      <a:r>
                        <a:rPr sz="1875" b="0">
                          <a:solidFill>
                            <a:srgbClr val="102A43"/>
                          </a:solidFill>
                          <a:latin typeface="Arial"/>
                          <a:ea typeface="Arial"/>
                          <a:cs typeface="Arial"/>
                        </a:rPr>
                        <a:t>Test shared-point handling</a:t>
                      </a:r>
                    </a:p>
                  </a:txBody>
                  <a:tcPr marL="91440" marR="91440" marT="45720" marB="45720" anchor="ctr">
                    <a:solidFill>
                      <a:srgbClr val="F3F6F8"/>
                    </a:solidFill>
                  </a:tcPr>
                </a:tc>
              </a:tr>
            </a:tbl>
          </a:graphicData>
        </a:graphic>
      </p:graphicFrame>
      <p:sp>
        <p:nvSpPr>
          <p:cNvPr id="5" name="text-3">
            <a:extLst xmlns:a="http://schemas.openxmlformats.org/drawingml/2006/main">
              <a:ext uri="{FF2B5EF4-FFF2-40B4-BE49-F238E27FC236}">
                <a16:creationId xmlns:a16="http://schemas.microsoft.com/office/drawing/2014/main" id="{1CD32A1B-D6D2-40D1-849C-4E4B9ABC2294}"/>
              </a:ext>
            </a:extLst>
          </p:cNvPr>
          <p:cNvSpPr>
            <a:spLocks xmlns:a="http://schemas.openxmlformats.org/drawingml/2006/main" noGrp="1"/>
          </p:cNvSpPr>
          <p:nvPr/>
        </p:nvSpPr>
        <p:spPr>
          <a:xfrm xmlns:a="http://schemas.openxmlformats.org/drawingml/2006/main">
            <a:off x="609600" y="546735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47920"/>
                </a:solidFill>
                <a:latin typeface="Arial"/>
                <a:ea typeface="Arial"/>
                <a:cs typeface="Arial"/>
              </a:defRPr>
            </a:defPPr>
          </a:lstStyle>
          <a:p xmlns:a="http://schemas.openxmlformats.org/drawingml/2006/main">
            <a:pPr algn="l">
              <a:defRPr sz="2325" b="1">
                <a:solidFill>
                  <a:srgbClr val="F47920"/>
                </a:solidFill>
                <a:latin typeface="Arial"/>
                <a:ea typeface="Arial"/>
                <a:cs typeface="Arial"/>
              </a:defRPr>
            </a:pPr>
            <a:r>
              <a:rPr sz="2325" b="1">
                <a:solidFill>
                  <a:srgbClr val="F47920"/>
                </a:solidFill>
                <a:latin typeface="Arial"/>
                <a:ea typeface="Arial"/>
                <a:cs typeface="Arial"/>
              </a:rPr>
              <a:t>Same model and training recipe within each contrast</a:t>
            </a:r>
          </a:p>
        </p:txBody>
      </p:sp>
      <p:sp>
        <p:nvSpPr>
          <p:cNvPr id="6" name="text-4">
            <a:extLst xmlns:a="http://schemas.openxmlformats.org/drawingml/2006/main">
              <a:ext uri="{FF2B5EF4-FFF2-40B4-BE49-F238E27FC236}">
                <a16:creationId xmlns:a16="http://schemas.microsoft.com/office/drawing/2014/main" id="{013014D2-E6A0-47DF-B4D4-D782E4754643}"/>
              </a:ext>
            </a:extLst>
          </p:cNvPr>
          <p:cNvSpPr>
            <a:spLocks xmlns:a="http://schemas.openxmlformats.org/drawingml/2006/main" noGrp="1"/>
          </p:cNvSpPr>
          <p:nvPr/>
        </p:nvSpPr>
        <p:spPr>
          <a:xfrm xmlns:a="http://schemas.openxmlformats.org/drawingml/2006/main">
            <a:off x="609600" y="60960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575"/>
                </a:solidFill>
                <a:latin typeface="Arial"/>
                <a:ea typeface="Arial"/>
                <a:cs typeface="Arial"/>
              </a:defRPr>
            </a:defPPr>
          </a:lstStyle>
          <a:p xmlns:a="http://schemas.openxmlformats.org/drawingml/2006/main">
            <a:pPr algn="l">
              <a:defRPr sz="1350" b="0">
                <a:solidFill>
                  <a:srgbClr val="526575"/>
                </a:solidFill>
                <a:latin typeface="Arial"/>
                <a:ea typeface="Arial"/>
                <a:cs typeface="Arial"/>
              </a:defRPr>
            </a:pPr>
            <a:r>
              <a:rPr sz="1350" b="0">
                <a:solidFill>
                  <a:srgbClr val="526575"/>
                </a:solidFill>
                <a:latin typeface="Arial"/>
                <a:ea typeface="Arial"/>
                <a:cs typeface="Arial"/>
              </a:rPr>
              <a:t>Repeat primary comparisons with 3 random seeds.</a:t>
            </a:r>
          </a:p>
        </p:txBody>
      </p:sp>
    </p:spTree>
    <p:extLst>
      <p:ext uri="{BB962C8B-B14F-4D97-AF65-F5344CB8AC3E}">
        <p14:creationId xmlns:p14="http://schemas.microsoft.com/office/powerpoint/2010/main" val="206034606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
            <a:extLst xmlns:a="http://schemas.openxmlformats.org/drawingml/2006/main">
              <a:ext uri="{FF2B5EF4-FFF2-40B4-BE49-F238E27FC236}">
                <a16:creationId xmlns:a16="http://schemas.microsoft.com/office/drawing/2014/main" id="{25D44B58-8F0D-41BC-95C7-A921E00CDFCC}"/>
              </a:ext>
            </a:extLst>
          </p:cNvPr>
          <p:cNvSpPr>
            <a:spLocks xmlns:a="http://schemas.openxmlformats.org/drawingml/2006/main" noGrp="1"/>
          </p:cNvSpPr>
          <p:nvPr/>
        </p:nvSpPr>
        <p:spPr>
          <a:xfrm xmlns:a="http://schemas.openxmlformats.org/drawingml/2006/main">
            <a:off x="609600" y="457200"/>
            <a:ext cx="8858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Arial"/>
                <a:ea typeface="Arial"/>
                <a:cs typeface="Arial"/>
              </a:defRPr>
            </a:defPPr>
          </a:lstStyle>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How we will evaluate the idea</a:t>
            </a:r>
          </a:p>
        </p:txBody>
      </p:sp>
      <p:pic>
        <p:nvPicPr>
          <p:cNvPr id="2" name="">
            <a:extLst xmlns:a="http://schemas.openxmlformats.org/drawingml/2006/main">
              <a:ext uri="{FF2B5EF4-FFF2-40B4-BE49-F238E27FC236}">
                <a16:creationId xmlns:a16="http://schemas.microsoft.com/office/drawing/2014/main" id="{A201C345-3583-4A02-8120-12234A85815A}"/>
              </a:ext>
            </a:extLst>
          </p:cNvPr>
          <p:cNvPicPr>
            <a:picLocks xmlns:a="http://schemas.openxmlformats.org/drawingml/2006/main" noChangeAspect="1"/>
          </p:cNvPicPr>
          <p:nvPr/>
        </p:nvPicPr>
        <p:blipFill>
          <a:blip xmlns:r="http://schemas.openxmlformats.org/officeDocument/2006/relationships" xmlns:a="http://schemas.openxmlformats.org/drawingml/2006/main" r:embed="R30bcefc733c14d60"/>
          <a:stretch xmlns:a="http://schemas.openxmlformats.org/drawingml/2006/main"/>
        </p:blipFill>
        <p:spPr>
          <a:xfrm xmlns:a="http://schemas.openxmlformats.org/drawingml/2006/main">
            <a:off x="9870281" y="400050"/>
            <a:ext cx="1709738" cy="666750"/>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B51E970E-168F-4A59-AA7E-A6663609E5F6}"/>
              </a:ext>
            </a:extLst>
          </p:cNvPr>
          <p:cNvSpPr>
            <a:spLocks xmlns:a="http://schemas.openxmlformats.org/drawingml/2006/main" noGrp="1"/>
          </p:cNvSpPr>
          <p:nvPr/>
        </p:nvSpPr>
        <p:spPr>
          <a:xfrm xmlns:a="http://schemas.openxmlformats.org/drawingml/2006/main">
            <a:off x="11068050" y="6467475"/>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17</a:t>
            </a:r>
          </a:p>
        </p:txBody>
      </p:sp>
      <p:sp>
        <p:nvSpPr>
          <p:cNvPr id="4" name="text-3">
            <a:extLst xmlns:a="http://schemas.openxmlformats.org/drawingml/2006/main">
              <a:ext uri="{FF2B5EF4-FFF2-40B4-BE49-F238E27FC236}">
                <a16:creationId xmlns:a16="http://schemas.microsoft.com/office/drawing/2014/main" id="{87F853E1-CC99-4016-87CA-484DD296067A}"/>
              </a:ext>
            </a:extLst>
          </p:cNvPr>
          <p:cNvSpPr>
            <a:spLocks xmlns:a="http://schemas.openxmlformats.org/drawingml/2006/main" noGrp="1"/>
          </p:cNvSpPr>
          <p:nvPr/>
        </p:nvSpPr>
        <p:spPr>
          <a:xfrm xmlns:a="http://schemas.openxmlformats.org/drawingml/2006/main">
            <a:off x="609600" y="19812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47920"/>
                </a:solidFill>
                <a:latin typeface="Arial"/>
                <a:ea typeface="Arial"/>
                <a:cs typeface="Arial"/>
              </a:defRPr>
            </a:defPPr>
          </a:lstStyle>
          <a:p xmlns:a="http://schemas.openxmlformats.org/drawingml/2006/main">
            <a:pPr algn="l">
              <a:defRPr sz="2475" b="1">
                <a:solidFill>
                  <a:srgbClr val="F47920"/>
                </a:solidFill>
                <a:latin typeface="Arial"/>
                <a:ea typeface="Arial"/>
                <a:cs typeface="Arial"/>
              </a:defRPr>
            </a:pPr>
            <a:r>
              <a:rPr sz="2475" b="1">
                <a:solidFill>
                  <a:srgbClr val="F47920"/>
                </a:solidFill>
                <a:latin typeface="Arial"/>
                <a:ea typeface="Arial"/>
                <a:cs typeface="Arial"/>
              </a:rPr>
              <a:t>Detection quality</a:t>
            </a:r>
          </a:p>
        </p:txBody>
      </p:sp>
      <p:sp>
        <p:nvSpPr>
          <p:cNvPr id="5" name="text-4">
            <a:extLst xmlns:a="http://schemas.openxmlformats.org/drawingml/2006/main">
              <a:ext uri="{FF2B5EF4-FFF2-40B4-BE49-F238E27FC236}">
                <a16:creationId xmlns:a16="http://schemas.microsoft.com/office/drawing/2014/main" id="{0F8338ED-7E9B-403F-A040-3785EFCF1FB0}"/>
              </a:ext>
            </a:extLst>
          </p:cNvPr>
          <p:cNvSpPr>
            <a:spLocks xmlns:a="http://schemas.openxmlformats.org/drawingml/2006/main" noGrp="1"/>
          </p:cNvSpPr>
          <p:nvPr/>
        </p:nvSpPr>
        <p:spPr>
          <a:xfrm xmlns:a="http://schemas.openxmlformats.org/drawingml/2006/main">
            <a:off x="609600" y="2733675"/>
            <a:ext cx="5095875"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A43"/>
                </a:solidFill>
                <a:latin typeface="Arial"/>
                <a:ea typeface="Arial"/>
                <a:cs typeface="Arial"/>
              </a:defRPr>
            </a:defPPr>
          </a:lstStyle>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AP for very tiny and tiny objects</a:t>
            </a:r>
          </a:p>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Per-class AP</a:t>
            </a:r>
          </a:p>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Recall of the labeled objects</a:t>
            </a:r>
          </a:p>
        </p:txBody>
      </p:sp>
      <p:sp>
        <p:nvSpPr>
          <p:cNvPr id="6" name="text-5">
            <a:extLst xmlns:a="http://schemas.openxmlformats.org/drawingml/2006/main">
              <a:ext uri="{FF2B5EF4-FFF2-40B4-BE49-F238E27FC236}">
                <a16:creationId xmlns:a16="http://schemas.microsoft.com/office/drawing/2014/main" id="{AF095F66-071F-42E5-97B7-83C01D9A94E2}"/>
              </a:ext>
            </a:extLst>
          </p:cNvPr>
          <p:cNvSpPr>
            <a:spLocks xmlns:a="http://schemas.openxmlformats.org/drawingml/2006/main" noGrp="1"/>
          </p:cNvSpPr>
          <p:nvPr/>
        </p:nvSpPr>
        <p:spPr>
          <a:xfrm xmlns:a="http://schemas.openxmlformats.org/drawingml/2006/main">
            <a:off x="6572250" y="1981200"/>
            <a:ext cx="5000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07CB6"/>
                </a:solidFill>
                <a:latin typeface="Arial"/>
                <a:ea typeface="Arial"/>
                <a:cs typeface="Arial"/>
              </a:defRPr>
            </a:defPPr>
          </a:lstStyle>
          <a:p xmlns:a="http://schemas.openxmlformats.org/drawingml/2006/main">
            <a:pPr algn="l">
              <a:defRPr sz="2475" b="1">
                <a:solidFill>
                  <a:srgbClr val="007CB6"/>
                </a:solidFill>
                <a:latin typeface="Arial"/>
                <a:ea typeface="Arial"/>
                <a:cs typeface="Arial"/>
              </a:defRPr>
            </a:pPr>
            <a:r>
              <a:rPr sz="2475" b="1">
                <a:solidFill>
                  <a:srgbClr val="007CB6"/>
                </a:solidFill>
                <a:latin typeface="Arial"/>
                <a:ea typeface="Arial"/>
                <a:cs typeface="Arial"/>
              </a:rPr>
              <a:t>Assignment behavior</a:t>
            </a:r>
          </a:p>
        </p:txBody>
      </p:sp>
      <p:sp>
        <p:nvSpPr>
          <p:cNvPr id="7" name="text-6">
            <a:extLst xmlns:a="http://schemas.openxmlformats.org/drawingml/2006/main">
              <a:ext uri="{FF2B5EF4-FFF2-40B4-BE49-F238E27FC236}">
                <a16:creationId xmlns:a16="http://schemas.microsoft.com/office/drawing/2014/main" id="{9F1A7F74-EFB2-49F8-8CBE-3F1E7810BFD3}"/>
              </a:ext>
            </a:extLst>
          </p:cNvPr>
          <p:cNvSpPr>
            <a:spLocks xmlns:a="http://schemas.openxmlformats.org/drawingml/2006/main" noGrp="1"/>
          </p:cNvSpPr>
          <p:nvPr/>
        </p:nvSpPr>
        <p:spPr>
          <a:xfrm xmlns:a="http://schemas.openxmlformats.org/drawingml/2006/main">
            <a:off x="6572250" y="2733675"/>
            <a:ext cx="5000625"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A43"/>
                </a:solidFill>
                <a:latin typeface="Arial"/>
                <a:ea typeface="Arial"/>
                <a:cs typeface="Arial"/>
              </a:defRPr>
            </a:defPPr>
          </a:lstStyle>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Objects with zero candidates</a:t>
            </a:r>
          </a:p>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Final positives per object</a:t>
            </a:r>
          </a:p>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Points lost through conflicts</a:t>
            </a:r>
          </a:p>
        </p:txBody>
      </p:sp>
      <p:sp>
        <p:nvSpPr>
          <p:cNvPr id="8" name="text-7">
            <a:extLst xmlns:a="http://schemas.openxmlformats.org/drawingml/2006/main">
              <a:ext uri="{FF2B5EF4-FFF2-40B4-BE49-F238E27FC236}">
                <a16:creationId xmlns:a16="http://schemas.microsoft.com/office/drawing/2014/main" id="{350CF629-FE93-4CCD-B3CD-E259F2DF6AF9}"/>
              </a:ext>
            </a:extLst>
          </p:cNvPr>
          <p:cNvSpPr>
            <a:spLocks xmlns:a="http://schemas.openxmlformats.org/drawingml/2006/main" noGrp="1"/>
          </p:cNvSpPr>
          <p:nvPr/>
        </p:nvSpPr>
        <p:spPr>
          <a:xfrm xmlns:a="http://schemas.openxmlformats.org/drawingml/2006/main">
            <a:off x="609600" y="5076825"/>
            <a:ext cx="10858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2A43"/>
                </a:solidFill>
                <a:latin typeface="Arial"/>
                <a:ea typeface="Arial"/>
                <a:cs typeface="Arial"/>
              </a:defRPr>
            </a:defPPr>
          </a:lstStyle>
          <a:p xmlns:a="http://schemas.openxmlformats.org/drawingml/2006/main">
            <a:pPr algn="l">
              <a:defRPr sz="2175" b="1">
                <a:solidFill>
                  <a:srgbClr val="102A43"/>
                </a:solidFill>
                <a:latin typeface="Arial"/>
                <a:ea typeface="Arial"/>
                <a:cs typeface="Arial"/>
              </a:defRPr>
            </a:pPr>
            <a:r>
              <a:rPr sz="2175" b="1">
                <a:solidFill>
                  <a:srgbClr val="102A43"/>
                </a:solidFill>
                <a:latin typeface="Arial"/>
                <a:ea typeface="Arial"/>
                <a:cs typeface="Arial"/>
              </a:rPr>
              <a:t>Official AITODReval evaluator</a:t>
            </a:r>
          </a:p>
          <a:p xmlns:a="http://schemas.openxmlformats.org/drawingml/2006/main">
            <a:pPr algn="l">
              <a:defRPr sz="2175" b="1">
                <a:solidFill>
                  <a:srgbClr val="102A43"/>
                </a:solidFill>
                <a:latin typeface="Arial"/>
                <a:ea typeface="Arial"/>
                <a:cs typeface="Arial"/>
              </a:defRPr>
            </a:pPr>
            <a:r>
              <a:rPr sz="2175" b="1">
                <a:solidFill>
                  <a:srgbClr val="102A43"/>
                </a:solidFill>
                <a:latin typeface="Arial"/>
                <a:ea typeface="Arial"/>
                <a:cs typeface="Arial"/>
              </a:rPr>
              <a:t>3 seeds and uncertainty intervals</a:t>
            </a:r>
          </a:p>
        </p:txBody>
      </p:sp>
    </p:spTree>
    <p:extLst>
      <p:ext uri="{BB962C8B-B14F-4D97-AF65-F5344CB8AC3E}">
        <p14:creationId xmlns:p14="http://schemas.microsoft.com/office/powerpoint/2010/main" val="83451737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1">
            <a:extLst xmlns:a="http://schemas.openxmlformats.org/drawingml/2006/main">
              <a:ext uri="{FF2B5EF4-FFF2-40B4-BE49-F238E27FC236}">
                <a16:creationId xmlns:a16="http://schemas.microsoft.com/office/drawing/2014/main" id="{323345BA-551E-46DB-BEE8-B6784B018C1D}"/>
              </a:ext>
            </a:extLst>
          </p:cNvPr>
          <p:cNvSpPr>
            <a:spLocks xmlns:a="http://schemas.openxmlformats.org/drawingml/2006/main" noGrp="1"/>
          </p:cNvSpPr>
          <p:nvPr/>
        </p:nvSpPr>
        <p:spPr>
          <a:xfrm xmlns:a="http://schemas.openxmlformats.org/drawingml/2006/main">
            <a:off x="609600" y="457200"/>
            <a:ext cx="8858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Arial"/>
                <a:ea typeface="Arial"/>
                <a:cs typeface="Arial"/>
              </a:defRPr>
            </a:defPPr>
          </a:lstStyle>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Proposed 14-week roadmap</a:t>
            </a:r>
          </a:p>
        </p:txBody>
      </p:sp>
      <p:pic>
        <p:nvPicPr>
          <p:cNvPr id="2" name="">
            <a:extLst xmlns:a="http://schemas.openxmlformats.org/drawingml/2006/main">
              <a:ext uri="{FF2B5EF4-FFF2-40B4-BE49-F238E27FC236}">
                <a16:creationId xmlns:a16="http://schemas.microsoft.com/office/drawing/2014/main" id="{34955A59-1F0D-4C93-8877-354462793F50}"/>
              </a:ext>
            </a:extLst>
          </p:cNvPr>
          <p:cNvPicPr>
            <a:picLocks xmlns:a="http://schemas.openxmlformats.org/drawingml/2006/main" noChangeAspect="1"/>
          </p:cNvPicPr>
          <p:nvPr/>
        </p:nvPicPr>
        <p:blipFill>
          <a:blip xmlns:r="http://schemas.openxmlformats.org/officeDocument/2006/relationships" xmlns:a="http://schemas.openxmlformats.org/drawingml/2006/main" r:embed="R58cc2d04ba384032"/>
          <a:stretch xmlns:a="http://schemas.openxmlformats.org/drawingml/2006/main"/>
        </p:blipFill>
        <p:spPr>
          <a:xfrm xmlns:a="http://schemas.openxmlformats.org/drawingml/2006/main">
            <a:off x="9870281" y="400050"/>
            <a:ext cx="1709738" cy="666750"/>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AC15DE8D-6D26-4A17-B568-385BE3005633}"/>
              </a:ext>
            </a:extLst>
          </p:cNvPr>
          <p:cNvSpPr>
            <a:spLocks xmlns:a="http://schemas.openxmlformats.org/drawingml/2006/main" noGrp="1"/>
          </p:cNvSpPr>
          <p:nvPr/>
        </p:nvSpPr>
        <p:spPr>
          <a:xfrm xmlns:a="http://schemas.openxmlformats.org/drawingml/2006/main">
            <a:off x="11068050" y="6467475"/>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18</a:t>
            </a:r>
          </a:p>
        </p:txBody>
      </p:sp>
      <p:sp>
        <p:nvSpPr>
          <p:cNvPr id="4" name="text-3">
            <a:extLst xmlns:a="http://schemas.openxmlformats.org/drawingml/2006/main">
              <a:ext uri="{FF2B5EF4-FFF2-40B4-BE49-F238E27FC236}">
                <a16:creationId xmlns:a16="http://schemas.microsoft.com/office/drawing/2014/main" id="{278F0428-E99C-45D1-892E-9F01E465E096}"/>
              </a:ext>
            </a:extLst>
          </p:cNvPr>
          <p:cNvSpPr>
            <a:spLocks xmlns:a="http://schemas.openxmlformats.org/drawingml/2006/main" noGrp="1"/>
          </p:cNvSpPr>
          <p:nvPr/>
        </p:nvSpPr>
        <p:spPr>
          <a:xfrm xmlns:a="http://schemas.openxmlformats.org/drawingml/2006/main">
            <a:off x="609600" y="1866900"/>
            <a:ext cx="2143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47920"/>
                </a:solidFill>
                <a:latin typeface="Arial"/>
                <a:ea typeface="Arial"/>
                <a:cs typeface="Arial"/>
              </a:defRPr>
            </a:defPPr>
          </a:lstStyle>
          <a:p xmlns:a="http://schemas.openxmlformats.org/drawingml/2006/main">
            <a:pPr algn="l">
              <a:defRPr sz="2175" b="1">
                <a:solidFill>
                  <a:srgbClr val="F47920"/>
                </a:solidFill>
                <a:latin typeface="Arial"/>
                <a:ea typeface="Arial"/>
                <a:cs typeface="Arial"/>
              </a:defRPr>
            </a:pPr>
            <a:r>
              <a:rPr sz="2175" b="1">
                <a:solidFill>
                  <a:srgbClr val="F47920"/>
                </a:solidFill>
                <a:latin typeface="Arial"/>
                <a:ea typeface="Arial"/>
                <a:cs typeface="Arial"/>
              </a:rPr>
              <a:t>Weeks 1–2</a:t>
            </a:r>
          </a:p>
        </p:txBody>
      </p:sp>
      <p:sp>
        <p:nvSpPr>
          <p:cNvPr id="5" name="text-4">
            <a:extLst xmlns:a="http://schemas.openxmlformats.org/drawingml/2006/main">
              <a:ext uri="{FF2B5EF4-FFF2-40B4-BE49-F238E27FC236}">
                <a16:creationId xmlns:a16="http://schemas.microsoft.com/office/drawing/2014/main" id="{E6DC5892-D3D0-4E04-ACA7-C49B9BD2EFDC}"/>
              </a:ext>
            </a:extLst>
          </p:cNvPr>
          <p:cNvSpPr>
            <a:spLocks xmlns:a="http://schemas.openxmlformats.org/drawingml/2006/main" noGrp="1"/>
          </p:cNvSpPr>
          <p:nvPr/>
        </p:nvSpPr>
        <p:spPr>
          <a:xfrm xmlns:a="http://schemas.openxmlformats.org/drawingml/2006/main">
            <a:off x="3181350" y="1866900"/>
            <a:ext cx="814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2A43"/>
                </a:solidFill>
                <a:latin typeface="Arial"/>
                <a:ea typeface="Arial"/>
                <a:cs typeface="Arial"/>
              </a:defRPr>
            </a:defPPr>
          </a:lstStyle>
          <a:p xmlns:a="http://schemas.openxmlformats.org/drawingml/2006/main">
            <a:pPr algn="l">
              <a:defRPr sz="2175" b="1">
                <a:solidFill>
                  <a:srgbClr val="102A43"/>
                </a:solidFill>
                <a:latin typeface="Arial"/>
                <a:ea typeface="Arial"/>
                <a:cs typeface="Arial"/>
              </a:defRPr>
            </a:pPr>
            <a:r>
              <a:rPr sz="2175" b="1">
                <a:solidFill>
                  <a:srgbClr val="102A43"/>
                </a:solidFill>
                <a:latin typeface="Arial"/>
                <a:ea typeface="Arial"/>
                <a:cs typeface="Arial"/>
              </a:rPr>
              <a:t>Verify feasibility</a:t>
            </a:r>
          </a:p>
        </p:txBody>
      </p:sp>
      <p:sp>
        <p:nvSpPr>
          <p:cNvPr id="6" name="text-5">
            <a:extLst xmlns:a="http://schemas.openxmlformats.org/drawingml/2006/main">
              <a:ext uri="{FF2B5EF4-FFF2-40B4-BE49-F238E27FC236}">
                <a16:creationId xmlns:a16="http://schemas.microsoft.com/office/drawing/2014/main" id="{A795A61F-5BC8-4E96-9650-5E4CDB7FBC60}"/>
              </a:ext>
            </a:extLst>
          </p:cNvPr>
          <p:cNvSpPr>
            <a:spLocks xmlns:a="http://schemas.openxmlformats.org/drawingml/2006/main" noGrp="1"/>
          </p:cNvSpPr>
          <p:nvPr/>
        </p:nvSpPr>
        <p:spPr>
          <a:xfrm xmlns:a="http://schemas.openxmlformats.org/drawingml/2006/main">
            <a:off x="3181350" y="2295525"/>
            <a:ext cx="8191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575"/>
                </a:solidFill>
                <a:latin typeface="Arial"/>
                <a:ea typeface="Arial"/>
                <a:cs typeface="Arial"/>
              </a:defRPr>
            </a:defPPr>
          </a:lstStyle>
          <a:p xmlns:a="http://schemas.openxmlformats.org/drawingml/2006/main">
            <a:pPr algn="l">
              <a:defRPr sz="1875" b="0">
                <a:solidFill>
                  <a:srgbClr val="526575"/>
                </a:solidFill>
                <a:latin typeface="Arial"/>
                <a:ea typeface="Arial"/>
                <a:cs typeface="Arial"/>
              </a:defRPr>
            </a:pPr>
            <a:r>
              <a:rPr sz="1875" b="0">
                <a:solidFill>
                  <a:srgbClr val="526575"/>
                </a:solidFill>
                <a:latin typeface="Arial"/>
                <a:ea typeface="Arial"/>
                <a:cs typeface="Arial"/>
              </a:rPr>
              <a:t>Data access, converter, evaluator</a:t>
            </a:r>
          </a:p>
          <a:p xmlns:a="http://schemas.openxmlformats.org/drawingml/2006/main">
            <a:pPr algn="l">
              <a:defRPr sz="1875" b="0">
                <a:solidFill>
                  <a:srgbClr val="526575"/>
                </a:solidFill>
                <a:latin typeface="Arial"/>
                <a:ea typeface="Arial"/>
                <a:cs typeface="Arial"/>
              </a:defRPr>
            </a:pPr>
            <a:r>
              <a:rPr sz="1875" b="0">
                <a:solidFill>
                  <a:srgbClr val="526575"/>
                </a:solidFill>
                <a:latin typeface="Arial"/>
                <a:ea typeface="Arial"/>
                <a:cs typeface="Arial"/>
              </a:rPr>
              <a:t>and measured GPU throughput</a:t>
            </a:r>
          </a:p>
        </p:txBody>
      </p:sp>
      <p:sp>
        <p:nvSpPr>
          <p:cNvPr id="7" name="text-6">
            <a:extLst xmlns:a="http://schemas.openxmlformats.org/drawingml/2006/main">
              <a:ext uri="{FF2B5EF4-FFF2-40B4-BE49-F238E27FC236}">
                <a16:creationId xmlns:a16="http://schemas.microsoft.com/office/drawing/2014/main" id="{572C627E-3798-433D-A750-F13D89908CF0}"/>
              </a:ext>
            </a:extLst>
          </p:cNvPr>
          <p:cNvSpPr>
            <a:spLocks xmlns:a="http://schemas.openxmlformats.org/drawingml/2006/main" noGrp="1"/>
          </p:cNvSpPr>
          <p:nvPr/>
        </p:nvSpPr>
        <p:spPr>
          <a:xfrm xmlns:a="http://schemas.openxmlformats.org/drawingml/2006/main">
            <a:off x="609600" y="2886075"/>
            <a:ext cx="2143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47920"/>
                </a:solidFill>
                <a:latin typeface="Arial"/>
                <a:ea typeface="Arial"/>
                <a:cs typeface="Arial"/>
              </a:defRPr>
            </a:defPPr>
          </a:lstStyle>
          <a:p xmlns:a="http://schemas.openxmlformats.org/drawingml/2006/main">
            <a:pPr algn="l">
              <a:defRPr sz="2175" b="1">
                <a:solidFill>
                  <a:srgbClr val="F47920"/>
                </a:solidFill>
                <a:latin typeface="Arial"/>
                <a:ea typeface="Arial"/>
                <a:cs typeface="Arial"/>
              </a:defRPr>
            </a:pPr>
            <a:r>
              <a:rPr sz="2175" b="1">
                <a:solidFill>
                  <a:srgbClr val="F47920"/>
                </a:solidFill>
                <a:latin typeface="Arial"/>
                <a:ea typeface="Arial"/>
                <a:cs typeface="Arial"/>
              </a:rPr>
              <a:t>Weeks 3–6</a:t>
            </a:r>
          </a:p>
        </p:txBody>
      </p:sp>
      <p:sp>
        <p:nvSpPr>
          <p:cNvPr id="8" name="text-7">
            <a:extLst xmlns:a="http://schemas.openxmlformats.org/drawingml/2006/main">
              <a:ext uri="{FF2B5EF4-FFF2-40B4-BE49-F238E27FC236}">
                <a16:creationId xmlns:a16="http://schemas.microsoft.com/office/drawing/2014/main" id="{5800DC77-B4C9-42C4-AD2B-BEEFECC95357}"/>
              </a:ext>
            </a:extLst>
          </p:cNvPr>
          <p:cNvSpPr>
            <a:spLocks xmlns:a="http://schemas.openxmlformats.org/drawingml/2006/main" noGrp="1"/>
          </p:cNvSpPr>
          <p:nvPr/>
        </p:nvSpPr>
        <p:spPr>
          <a:xfrm xmlns:a="http://schemas.openxmlformats.org/drawingml/2006/main">
            <a:off x="3181350" y="2886075"/>
            <a:ext cx="814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2A43"/>
                </a:solidFill>
                <a:latin typeface="Arial"/>
                <a:ea typeface="Arial"/>
                <a:cs typeface="Arial"/>
              </a:defRPr>
            </a:defPPr>
          </a:lstStyle>
          <a:p xmlns:a="http://schemas.openxmlformats.org/drawingml/2006/main">
            <a:pPr algn="l">
              <a:defRPr sz="2175" b="1">
                <a:solidFill>
                  <a:srgbClr val="102A43"/>
                </a:solidFill>
                <a:latin typeface="Arial"/>
                <a:ea typeface="Arial"/>
                <a:cs typeface="Arial"/>
              </a:defRPr>
            </a:pPr>
            <a:r>
              <a:rPr sz="2175" b="1">
                <a:solidFill>
                  <a:srgbClr val="102A43"/>
                </a:solidFill>
                <a:latin typeface="Arial"/>
                <a:ea typeface="Arial"/>
                <a:cs typeface="Arial"/>
              </a:rPr>
              <a:t>Diagnose and benchmark</a:t>
            </a:r>
          </a:p>
        </p:txBody>
      </p:sp>
      <p:sp>
        <p:nvSpPr>
          <p:cNvPr id="9" name="text-8">
            <a:extLst xmlns:a="http://schemas.openxmlformats.org/drawingml/2006/main">
              <a:ext uri="{FF2B5EF4-FFF2-40B4-BE49-F238E27FC236}">
                <a16:creationId xmlns:a16="http://schemas.microsoft.com/office/drawing/2014/main" id="{AC7BCEA2-1133-4C7A-ACAA-9C6AF29D580C}"/>
              </a:ext>
            </a:extLst>
          </p:cNvPr>
          <p:cNvSpPr>
            <a:spLocks xmlns:a="http://schemas.openxmlformats.org/drawingml/2006/main" noGrp="1"/>
          </p:cNvSpPr>
          <p:nvPr/>
        </p:nvSpPr>
        <p:spPr>
          <a:xfrm xmlns:a="http://schemas.openxmlformats.org/drawingml/2006/main">
            <a:off x="3181350" y="3314700"/>
            <a:ext cx="8191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575"/>
                </a:solidFill>
                <a:latin typeface="Arial"/>
                <a:ea typeface="Arial"/>
                <a:cs typeface="Arial"/>
              </a:defRPr>
            </a:defPPr>
          </a:lstStyle>
          <a:p xmlns:a="http://schemas.openxmlformats.org/drawingml/2006/main">
            <a:pPr algn="l">
              <a:defRPr sz="1875" b="0">
                <a:solidFill>
                  <a:srgbClr val="526575"/>
                </a:solidFill>
                <a:latin typeface="Arial"/>
                <a:ea typeface="Arial"/>
                <a:cs typeface="Arial"/>
              </a:defRPr>
            </a:pPr>
            <a:r>
              <a:rPr sz="1875" b="0">
                <a:solidFill>
                  <a:srgbClr val="526575"/>
                </a:solidFill>
                <a:latin typeface="Arial"/>
                <a:ea typeface="Arial"/>
                <a:cs typeface="Arial"/>
              </a:rPr>
              <a:t>Analyze labels and establish</a:t>
            </a:r>
          </a:p>
          <a:p xmlns:a="http://schemas.openxmlformats.org/drawingml/2006/main">
            <a:pPr algn="l">
              <a:defRPr sz="1875" b="0">
                <a:solidFill>
                  <a:srgbClr val="526575"/>
                </a:solidFill>
                <a:latin typeface="Arial"/>
                <a:ea typeface="Arial"/>
                <a:cs typeface="Arial"/>
              </a:defRPr>
            </a:pPr>
            <a:r>
              <a:rPr sz="1875" b="0">
                <a:solidFill>
                  <a:srgbClr val="526575"/>
                </a:solidFill>
                <a:latin typeface="Arial"/>
                <a:ea typeface="Arial"/>
                <a:cs typeface="Arial"/>
              </a:rPr>
              <a:t>the internal detector baselines</a:t>
            </a:r>
          </a:p>
        </p:txBody>
      </p:sp>
      <p:sp>
        <p:nvSpPr>
          <p:cNvPr id="10" name="text-9">
            <a:extLst xmlns:a="http://schemas.openxmlformats.org/drawingml/2006/main">
              <a:ext uri="{FF2B5EF4-FFF2-40B4-BE49-F238E27FC236}">
                <a16:creationId xmlns:a16="http://schemas.microsoft.com/office/drawing/2014/main" id="{5550968C-766B-4A3E-81CD-2270990220C4}"/>
              </a:ext>
            </a:extLst>
          </p:cNvPr>
          <p:cNvSpPr>
            <a:spLocks xmlns:a="http://schemas.openxmlformats.org/drawingml/2006/main" noGrp="1"/>
          </p:cNvSpPr>
          <p:nvPr/>
        </p:nvSpPr>
        <p:spPr>
          <a:xfrm xmlns:a="http://schemas.openxmlformats.org/drawingml/2006/main">
            <a:off x="609600" y="3905250"/>
            <a:ext cx="2143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47920"/>
                </a:solidFill>
                <a:latin typeface="Arial"/>
                <a:ea typeface="Arial"/>
                <a:cs typeface="Arial"/>
              </a:defRPr>
            </a:defPPr>
          </a:lstStyle>
          <a:p xmlns:a="http://schemas.openxmlformats.org/drawingml/2006/main">
            <a:pPr algn="l">
              <a:defRPr sz="2175" b="1">
                <a:solidFill>
                  <a:srgbClr val="F47920"/>
                </a:solidFill>
                <a:latin typeface="Arial"/>
                <a:ea typeface="Arial"/>
                <a:cs typeface="Arial"/>
              </a:defRPr>
            </a:pPr>
            <a:r>
              <a:rPr sz="2175" b="1">
                <a:solidFill>
                  <a:srgbClr val="F47920"/>
                </a:solidFill>
                <a:latin typeface="Arial"/>
                <a:ea typeface="Arial"/>
                <a:cs typeface="Arial"/>
              </a:rPr>
              <a:t>Weeks 6–11</a:t>
            </a:r>
          </a:p>
        </p:txBody>
      </p:sp>
      <p:sp>
        <p:nvSpPr>
          <p:cNvPr id="11" name="text-10">
            <a:extLst xmlns:a="http://schemas.openxmlformats.org/drawingml/2006/main">
              <a:ext uri="{FF2B5EF4-FFF2-40B4-BE49-F238E27FC236}">
                <a16:creationId xmlns:a16="http://schemas.microsoft.com/office/drawing/2014/main" id="{163F9FB4-15B5-436C-A1CB-167AC43E0822}"/>
              </a:ext>
            </a:extLst>
          </p:cNvPr>
          <p:cNvSpPr>
            <a:spLocks xmlns:a="http://schemas.openxmlformats.org/drawingml/2006/main" noGrp="1"/>
          </p:cNvSpPr>
          <p:nvPr/>
        </p:nvSpPr>
        <p:spPr>
          <a:xfrm xmlns:a="http://schemas.openxmlformats.org/drawingml/2006/main">
            <a:off x="3181350" y="3905250"/>
            <a:ext cx="814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2A43"/>
                </a:solidFill>
                <a:latin typeface="Arial"/>
                <a:ea typeface="Arial"/>
                <a:cs typeface="Arial"/>
              </a:defRPr>
            </a:defPPr>
          </a:lstStyle>
          <a:p xmlns:a="http://schemas.openxmlformats.org/drawingml/2006/main">
            <a:pPr algn="l">
              <a:defRPr sz="2175" b="1">
                <a:solidFill>
                  <a:srgbClr val="102A43"/>
                </a:solidFill>
                <a:latin typeface="Arial"/>
                <a:ea typeface="Arial"/>
                <a:cs typeface="Arial"/>
              </a:defRPr>
            </a:pPr>
            <a:r>
              <a:rPr sz="2175" b="1">
                <a:solidFill>
                  <a:srgbClr val="102A43"/>
                </a:solidFill>
                <a:latin typeface="Arial"/>
                <a:ea typeface="Arial"/>
                <a:cs typeface="Arial"/>
              </a:rPr>
              <a:t>Run controlled comparisons</a:t>
            </a:r>
          </a:p>
        </p:txBody>
      </p:sp>
      <p:sp>
        <p:nvSpPr>
          <p:cNvPr id="12" name="text-11">
            <a:extLst xmlns:a="http://schemas.openxmlformats.org/drawingml/2006/main">
              <a:ext uri="{FF2B5EF4-FFF2-40B4-BE49-F238E27FC236}">
                <a16:creationId xmlns:a16="http://schemas.microsoft.com/office/drawing/2014/main" id="{D2DC7C1A-EB1D-4565-800A-2258CDDE4E04}"/>
              </a:ext>
            </a:extLst>
          </p:cNvPr>
          <p:cNvSpPr>
            <a:spLocks xmlns:a="http://schemas.openxmlformats.org/drawingml/2006/main" noGrp="1"/>
          </p:cNvSpPr>
          <p:nvPr/>
        </p:nvSpPr>
        <p:spPr>
          <a:xfrm xmlns:a="http://schemas.openxmlformats.org/drawingml/2006/main">
            <a:off x="3181350" y="4333875"/>
            <a:ext cx="8191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575"/>
                </a:solidFill>
                <a:latin typeface="Arial"/>
                <a:ea typeface="Arial"/>
                <a:cs typeface="Arial"/>
              </a:defRPr>
            </a:defPPr>
          </a:lstStyle>
          <a:p xmlns:a="http://schemas.openxmlformats.org/drawingml/2006/main">
            <a:pPr algn="l">
              <a:defRPr sz="1875" b="0">
                <a:solidFill>
                  <a:srgbClr val="526575"/>
                </a:solidFill>
                <a:latin typeface="Arial"/>
                <a:ea typeface="Arial"/>
                <a:cs typeface="Arial"/>
              </a:defRPr>
            </a:pPr>
            <a:r>
              <a:rPr sz="1875" b="0">
                <a:solidFill>
                  <a:srgbClr val="526575"/>
                </a:solidFill>
                <a:latin typeface="Arial"/>
                <a:ea typeface="Arial"/>
                <a:cs typeface="Arial"/>
              </a:rPr>
              <a:t>Compare candidate rules</a:t>
            </a:r>
          </a:p>
          <a:p xmlns:a="http://schemas.openxmlformats.org/drawingml/2006/main">
            <a:pPr algn="l">
              <a:defRPr sz="1875" b="0">
                <a:solidFill>
                  <a:srgbClr val="526575"/>
                </a:solidFill>
                <a:latin typeface="Arial"/>
                <a:ea typeface="Arial"/>
                <a:cs typeface="Arial"/>
              </a:defRPr>
            </a:pPr>
            <a:r>
              <a:rPr sz="1875" b="0">
                <a:solidFill>
                  <a:srgbClr val="526575"/>
                </a:solidFill>
                <a:latin typeface="Arial"/>
                <a:ea typeface="Arial"/>
                <a:cs typeface="Arial"/>
              </a:rPr>
              <a:t>and test a second dataset</a:t>
            </a:r>
          </a:p>
        </p:txBody>
      </p:sp>
      <p:sp>
        <p:nvSpPr>
          <p:cNvPr id="13" name="text-12">
            <a:extLst xmlns:a="http://schemas.openxmlformats.org/drawingml/2006/main">
              <a:ext uri="{FF2B5EF4-FFF2-40B4-BE49-F238E27FC236}">
                <a16:creationId xmlns:a16="http://schemas.microsoft.com/office/drawing/2014/main" id="{927E6663-EB3A-47C6-B5C0-2B5C1C73DF2C}"/>
              </a:ext>
            </a:extLst>
          </p:cNvPr>
          <p:cNvSpPr>
            <a:spLocks xmlns:a="http://schemas.openxmlformats.org/drawingml/2006/main" noGrp="1"/>
          </p:cNvSpPr>
          <p:nvPr/>
        </p:nvSpPr>
        <p:spPr>
          <a:xfrm xmlns:a="http://schemas.openxmlformats.org/drawingml/2006/main">
            <a:off x="609600" y="4924425"/>
            <a:ext cx="2143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47920"/>
                </a:solidFill>
                <a:latin typeface="Arial"/>
                <a:ea typeface="Arial"/>
                <a:cs typeface="Arial"/>
              </a:defRPr>
            </a:defPPr>
          </a:lstStyle>
          <a:p xmlns:a="http://schemas.openxmlformats.org/drawingml/2006/main">
            <a:pPr algn="l">
              <a:defRPr sz="2175" b="1">
                <a:solidFill>
                  <a:srgbClr val="F47920"/>
                </a:solidFill>
                <a:latin typeface="Arial"/>
                <a:ea typeface="Arial"/>
                <a:cs typeface="Arial"/>
              </a:defRPr>
            </a:pPr>
            <a:r>
              <a:rPr sz="2175" b="1">
                <a:solidFill>
                  <a:srgbClr val="F47920"/>
                </a:solidFill>
                <a:latin typeface="Arial"/>
                <a:ea typeface="Arial"/>
                <a:cs typeface="Arial"/>
              </a:rPr>
              <a:t>Weeks 12–14</a:t>
            </a:r>
          </a:p>
        </p:txBody>
      </p:sp>
      <p:sp>
        <p:nvSpPr>
          <p:cNvPr id="14" name="text-13">
            <a:extLst xmlns:a="http://schemas.openxmlformats.org/drawingml/2006/main">
              <a:ext uri="{FF2B5EF4-FFF2-40B4-BE49-F238E27FC236}">
                <a16:creationId xmlns:a16="http://schemas.microsoft.com/office/drawing/2014/main" id="{FC0C2177-D295-4C56-A364-F142D33F0DE0}"/>
              </a:ext>
            </a:extLst>
          </p:cNvPr>
          <p:cNvSpPr>
            <a:spLocks xmlns:a="http://schemas.openxmlformats.org/drawingml/2006/main" noGrp="1"/>
          </p:cNvSpPr>
          <p:nvPr/>
        </p:nvSpPr>
        <p:spPr>
          <a:xfrm xmlns:a="http://schemas.openxmlformats.org/drawingml/2006/main">
            <a:off x="3181350" y="4924425"/>
            <a:ext cx="814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2A43"/>
                </a:solidFill>
                <a:latin typeface="Arial"/>
                <a:ea typeface="Arial"/>
                <a:cs typeface="Arial"/>
              </a:defRPr>
            </a:defPPr>
          </a:lstStyle>
          <a:p xmlns:a="http://schemas.openxmlformats.org/drawingml/2006/main">
            <a:pPr algn="l">
              <a:defRPr sz="2175" b="1">
                <a:solidFill>
                  <a:srgbClr val="102A43"/>
                </a:solidFill>
                <a:latin typeface="Arial"/>
                <a:ea typeface="Arial"/>
                <a:cs typeface="Arial"/>
              </a:defRPr>
            </a:pPr>
            <a:r>
              <a:rPr sz="2175" b="1">
                <a:solidFill>
                  <a:srgbClr val="102A43"/>
                </a:solidFill>
                <a:latin typeface="Arial"/>
                <a:ea typeface="Arial"/>
                <a:cs typeface="Arial"/>
              </a:rPr>
              <a:t>Analyze and write</a:t>
            </a:r>
          </a:p>
        </p:txBody>
      </p:sp>
      <p:sp>
        <p:nvSpPr>
          <p:cNvPr id="15" name="text-14">
            <a:extLst xmlns:a="http://schemas.openxmlformats.org/drawingml/2006/main">
              <a:ext uri="{FF2B5EF4-FFF2-40B4-BE49-F238E27FC236}">
                <a16:creationId xmlns:a16="http://schemas.microsoft.com/office/drawing/2014/main" id="{82398422-ED22-43FA-B39D-C13382D9275E}"/>
              </a:ext>
            </a:extLst>
          </p:cNvPr>
          <p:cNvSpPr>
            <a:spLocks xmlns:a="http://schemas.openxmlformats.org/drawingml/2006/main" noGrp="1"/>
          </p:cNvSpPr>
          <p:nvPr/>
        </p:nvSpPr>
        <p:spPr>
          <a:xfrm xmlns:a="http://schemas.openxmlformats.org/drawingml/2006/main">
            <a:off x="3181350" y="5353050"/>
            <a:ext cx="8191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575"/>
                </a:solidFill>
                <a:latin typeface="Arial"/>
                <a:ea typeface="Arial"/>
                <a:cs typeface="Arial"/>
              </a:defRPr>
            </a:defPPr>
          </a:lstStyle>
          <a:p xmlns:a="http://schemas.openxmlformats.org/drawingml/2006/main">
            <a:pPr algn="l">
              <a:defRPr sz="1875" b="0">
                <a:solidFill>
                  <a:srgbClr val="526575"/>
                </a:solidFill>
                <a:latin typeface="Arial"/>
                <a:ea typeface="Arial"/>
                <a:cs typeface="Arial"/>
              </a:defRPr>
            </a:pPr>
            <a:r>
              <a:rPr sz="1875" b="0">
                <a:solidFill>
                  <a:srgbClr val="526575"/>
                </a:solidFill>
                <a:latin typeface="Arial"/>
                <a:ea typeface="Arial"/>
                <a:cs typeface="Arial"/>
              </a:rPr>
              <a:t>Explain errors, report uncertainty</a:t>
            </a:r>
          </a:p>
          <a:p xmlns:a="http://schemas.openxmlformats.org/drawingml/2006/main">
            <a:pPr algn="l">
              <a:defRPr sz="1875" b="0">
                <a:solidFill>
                  <a:srgbClr val="526575"/>
                </a:solidFill>
                <a:latin typeface="Arial"/>
                <a:ea typeface="Arial"/>
                <a:cs typeface="Arial"/>
              </a:defRPr>
            </a:pPr>
            <a:r>
              <a:rPr sz="1875" b="0">
                <a:solidFill>
                  <a:srgbClr val="526575"/>
                </a:solidFill>
                <a:latin typeface="Arial"/>
                <a:ea typeface="Arial"/>
                <a:cs typeface="Arial"/>
              </a:rPr>
              <a:t>and package reproducible code</a:t>
            </a:r>
          </a:p>
        </p:txBody>
      </p:sp>
    </p:spTree>
    <p:extLst>
      <p:ext uri="{BB962C8B-B14F-4D97-AF65-F5344CB8AC3E}">
        <p14:creationId xmlns:p14="http://schemas.microsoft.com/office/powerpoint/2010/main" val="139324548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
            <a:extLst xmlns:a="http://schemas.openxmlformats.org/drawingml/2006/main">
              <a:ext uri="{FF2B5EF4-FFF2-40B4-BE49-F238E27FC236}">
                <a16:creationId xmlns:a16="http://schemas.microsoft.com/office/drawing/2014/main" id="{511954D3-7402-48CF-9EFF-0ED0E0571EA5}"/>
              </a:ext>
            </a:extLst>
          </p:cNvPr>
          <p:cNvSpPr>
            <a:spLocks xmlns:a="http://schemas.openxmlformats.org/drawingml/2006/main" noGrp="1"/>
          </p:cNvSpPr>
          <p:nvPr/>
        </p:nvSpPr>
        <p:spPr>
          <a:xfrm xmlns:a="http://schemas.openxmlformats.org/drawingml/2006/main">
            <a:off x="609600" y="457200"/>
            <a:ext cx="8858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Arial"/>
                <a:ea typeface="Arial"/>
                <a:cs typeface="Arial"/>
              </a:defRPr>
            </a:defPPr>
          </a:lstStyle>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Current status and expected outputs</a:t>
            </a:r>
          </a:p>
        </p:txBody>
      </p:sp>
      <p:pic>
        <p:nvPicPr>
          <p:cNvPr id="2" name="">
            <a:extLst xmlns:a="http://schemas.openxmlformats.org/drawingml/2006/main">
              <a:ext uri="{FF2B5EF4-FFF2-40B4-BE49-F238E27FC236}">
                <a16:creationId xmlns:a16="http://schemas.microsoft.com/office/drawing/2014/main" id="{433A150F-DEFB-4512-BDD5-BACB684DBF52}"/>
              </a:ext>
            </a:extLst>
          </p:cNvPr>
          <p:cNvPicPr>
            <a:picLocks xmlns:a="http://schemas.openxmlformats.org/drawingml/2006/main" noChangeAspect="1"/>
          </p:cNvPicPr>
          <p:nvPr/>
        </p:nvPicPr>
        <p:blipFill>
          <a:blip xmlns:r="http://schemas.openxmlformats.org/officeDocument/2006/relationships" xmlns:a="http://schemas.openxmlformats.org/drawingml/2006/main" r:embed="Rd096a7ae94da461e"/>
          <a:stretch xmlns:a="http://schemas.openxmlformats.org/drawingml/2006/main"/>
        </p:blipFill>
        <p:spPr>
          <a:xfrm xmlns:a="http://schemas.openxmlformats.org/drawingml/2006/main">
            <a:off x="9870281" y="400050"/>
            <a:ext cx="1709738" cy="666750"/>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1F99F103-FE2D-4FCA-BE28-AD6C34E6EB8E}"/>
              </a:ext>
            </a:extLst>
          </p:cNvPr>
          <p:cNvSpPr>
            <a:spLocks xmlns:a="http://schemas.openxmlformats.org/drawingml/2006/main" noGrp="1"/>
          </p:cNvSpPr>
          <p:nvPr/>
        </p:nvSpPr>
        <p:spPr>
          <a:xfrm xmlns:a="http://schemas.openxmlformats.org/drawingml/2006/main">
            <a:off x="11068050" y="6467475"/>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19</a:t>
            </a:r>
          </a:p>
        </p:txBody>
      </p:sp>
      <p:sp>
        <p:nvSpPr>
          <p:cNvPr id="4" name="text-3">
            <a:extLst xmlns:a="http://schemas.openxmlformats.org/drawingml/2006/main">
              <a:ext uri="{FF2B5EF4-FFF2-40B4-BE49-F238E27FC236}">
                <a16:creationId xmlns:a16="http://schemas.microsoft.com/office/drawing/2014/main" id="{5986FB96-72F8-4B58-A5CC-CC252FA776EC}"/>
              </a:ext>
            </a:extLst>
          </p:cNvPr>
          <p:cNvSpPr>
            <a:spLocks xmlns:a="http://schemas.openxmlformats.org/drawingml/2006/main" noGrp="1"/>
          </p:cNvSpPr>
          <p:nvPr/>
        </p:nvSpPr>
        <p:spPr>
          <a:xfrm xmlns:a="http://schemas.openxmlformats.org/drawingml/2006/main">
            <a:off x="609600" y="1876425"/>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47920"/>
                </a:solidFill>
                <a:latin typeface="Arial"/>
                <a:ea typeface="Arial"/>
                <a:cs typeface="Arial"/>
              </a:defRPr>
            </a:defPPr>
          </a:lstStyle>
          <a:p xmlns:a="http://schemas.openxmlformats.org/drawingml/2006/main">
            <a:pPr algn="l">
              <a:defRPr sz="3000" b="1">
                <a:solidFill>
                  <a:srgbClr val="F47920"/>
                </a:solidFill>
                <a:latin typeface="Arial"/>
                <a:ea typeface="Arial"/>
                <a:cs typeface="Arial"/>
              </a:defRPr>
            </a:pPr>
            <a:r>
              <a:rPr sz="3000" b="1">
                <a:solidFill>
                  <a:srgbClr val="F47920"/>
                </a:solidFill>
                <a:latin typeface="Arial"/>
                <a:ea typeface="Arial"/>
                <a:cs typeface="Arial"/>
              </a:rPr>
              <a:t>Proposal stage</a:t>
            </a:r>
          </a:p>
        </p:txBody>
      </p:sp>
      <p:sp>
        <p:nvSpPr>
          <p:cNvPr id="5" name="text-4">
            <a:extLst xmlns:a="http://schemas.openxmlformats.org/drawingml/2006/main">
              <a:ext uri="{FF2B5EF4-FFF2-40B4-BE49-F238E27FC236}">
                <a16:creationId xmlns:a16="http://schemas.microsoft.com/office/drawing/2014/main" id="{E24C718C-4825-43D5-B9D6-7D599518CF1D}"/>
              </a:ext>
            </a:extLst>
          </p:cNvPr>
          <p:cNvSpPr>
            <a:spLocks xmlns:a="http://schemas.openxmlformats.org/drawingml/2006/main" noGrp="1"/>
          </p:cNvSpPr>
          <p:nvPr/>
        </p:nvSpPr>
        <p:spPr>
          <a:xfrm xmlns:a="http://schemas.openxmlformats.org/drawingml/2006/main">
            <a:off x="609600" y="2752725"/>
            <a:ext cx="5048250" cy="211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02A43"/>
                </a:solidFill>
                <a:latin typeface="Arial"/>
                <a:ea typeface="Arial"/>
                <a:cs typeface="Arial"/>
              </a:defRPr>
            </a:defPPr>
          </a:lstStyle>
          <a:p xmlns:a="http://schemas.openxmlformats.org/drawingml/2006/main">
            <a:pPr algn="l">
              <a:defRPr sz="2250" b="0">
                <a:solidFill>
                  <a:srgbClr val="102A43"/>
                </a:solidFill>
                <a:latin typeface="Arial"/>
                <a:ea typeface="Arial"/>
                <a:cs typeface="Arial"/>
              </a:defRPr>
            </a:pPr>
            <a:r>
              <a:rPr sz="2250" b="0">
                <a:solidFill>
                  <a:srgbClr val="102A43"/>
                </a:solidFill>
                <a:latin typeface="Arial"/>
                <a:ea typeface="Arial"/>
                <a:cs typeface="Arial"/>
              </a:rPr>
              <a:t>Data setup and pilot runs</a:t>
            </a:r>
          </a:p>
          <a:p xmlns:a="http://schemas.openxmlformats.org/drawingml/2006/main">
            <a:pPr algn="l">
              <a:defRPr sz="2250" b="0">
                <a:solidFill>
                  <a:srgbClr val="102A43"/>
                </a:solidFill>
                <a:latin typeface="Arial"/>
                <a:ea typeface="Arial"/>
                <a:cs typeface="Arial"/>
              </a:defRPr>
            </a:pPr>
            <a:r>
              <a:rPr sz="2250" b="0">
                <a:solidFill>
                  <a:srgbClr val="102A43"/>
                </a:solidFill>
                <a:latin typeface="Arial"/>
                <a:ea typeface="Arial"/>
                <a:cs typeface="Arial"/>
              </a:rPr>
              <a:t>still need verification.</a:t>
            </a:r>
          </a:p>
          <a:p xmlns:a="http://schemas.openxmlformats.org/drawingml/2006/main">
            <a:r>
              <a:t/>
            </a:r>
          </a:p>
          <a:p xmlns:a="http://schemas.openxmlformats.org/drawingml/2006/main">
            <a:pPr algn="l">
              <a:defRPr sz="2250" b="0">
                <a:solidFill>
                  <a:srgbClr val="102A43"/>
                </a:solidFill>
                <a:latin typeface="Arial"/>
                <a:ea typeface="Arial"/>
                <a:cs typeface="Arial"/>
              </a:defRPr>
            </a:pPr>
            <a:r>
              <a:rPr sz="2250" b="0">
                <a:solidFill>
                  <a:srgbClr val="102A43"/>
                </a:solidFill>
                <a:latin typeface="Arial"/>
                <a:ea typeface="Arial"/>
                <a:cs typeface="Arial"/>
              </a:rPr>
              <a:t>No training result is claimed.</a:t>
            </a:r>
          </a:p>
        </p:txBody>
      </p:sp>
      <p:sp>
        <p:nvSpPr>
          <p:cNvPr id="6" name="text-5">
            <a:extLst xmlns:a="http://schemas.openxmlformats.org/drawingml/2006/main">
              <a:ext uri="{FF2B5EF4-FFF2-40B4-BE49-F238E27FC236}">
                <a16:creationId xmlns:a16="http://schemas.microsoft.com/office/drawing/2014/main" id="{4022279D-A4D8-4FCC-8B71-9144550BE160}"/>
              </a:ext>
            </a:extLst>
          </p:cNvPr>
          <p:cNvSpPr>
            <a:spLocks xmlns:a="http://schemas.openxmlformats.org/drawingml/2006/main" noGrp="1"/>
          </p:cNvSpPr>
          <p:nvPr/>
        </p:nvSpPr>
        <p:spPr>
          <a:xfrm xmlns:a="http://schemas.openxmlformats.org/drawingml/2006/main">
            <a:off x="6696075" y="1876425"/>
            <a:ext cx="4857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7CB6"/>
                </a:solidFill>
                <a:latin typeface="Arial"/>
                <a:ea typeface="Arial"/>
                <a:cs typeface="Arial"/>
              </a:defRPr>
            </a:defPPr>
          </a:lstStyle>
          <a:p xmlns:a="http://schemas.openxmlformats.org/drawingml/2006/main">
            <a:pPr algn="l">
              <a:defRPr sz="2700" b="1">
                <a:solidFill>
                  <a:srgbClr val="007CB6"/>
                </a:solidFill>
                <a:latin typeface="Arial"/>
                <a:ea typeface="Arial"/>
                <a:cs typeface="Arial"/>
              </a:defRPr>
            </a:pPr>
            <a:r>
              <a:rPr sz="2700" b="1">
                <a:solidFill>
                  <a:srgbClr val="007CB6"/>
                </a:solidFill>
                <a:latin typeface="Arial"/>
                <a:ea typeface="Arial"/>
                <a:cs typeface="Arial"/>
              </a:rPr>
              <a:t>Planned outputs</a:t>
            </a:r>
          </a:p>
        </p:txBody>
      </p:sp>
      <p:sp>
        <p:nvSpPr>
          <p:cNvPr id="7" name="text-6">
            <a:extLst xmlns:a="http://schemas.openxmlformats.org/drawingml/2006/main">
              <a:ext uri="{FF2B5EF4-FFF2-40B4-BE49-F238E27FC236}">
                <a16:creationId xmlns:a16="http://schemas.microsoft.com/office/drawing/2014/main" id="{D4DE6036-58EC-4FE2-A4A6-A517FB80AE44}"/>
              </a:ext>
            </a:extLst>
          </p:cNvPr>
          <p:cNvSpPr>
            <a:spLocks xmlns:a="http://schemas.openxmlformats.org/drawingml/2006/main" noGrp="1"/>
          </p:cNvSpPr>
          <p:nvPr/>
        </p:nvSpPr>
        <p:spPr>
          <a:xfrm xmlns:a="http://schemas.openxmlformats.org/drawingml/2006/main">
            <a:off x="6696075" y="2724150"/>
            <a:ext cx="488632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02A43"/>
                </a:solidFill>
                <a:latin typeface="Arial"/>
                <a:ea typeface="Arial"/>
                <a:cs typeface="Arial"/>
              </a:defRPr>
            </a:defPPr>
          </a:lstStyle>
          <a:p xmlns:a="http://schemas.openxmlformats.org/drawingml/2006/main">
            <a:pPr algn="l">
              <a:defRPr sz="2025" b="0">
                <a:solidFill>
                  <a:srgbClr val="102A43"/>
                </a:solidFill>
                <a:latin typeface="Arial"/>
                <a:ea typeface="Arial"/>
                <a:cs typeface="Arial"/>
              </a:defRPr>
            </a:pPr>
            <a:r>
              <a:rPr sz="2025" b="0">
                <a:solidFill>
                  <a:srgbClr val="102A43"/>
                </a:solidFill>
                <a:latin typeface="Arial"/>
                <a:ea typeface="Arial"/>
                <a:cs typeface="Arial"/>
              </a:rPr>
              <a:t>A reproducible YOLO-OBB benchmark</a:t>
            </a:r>
          </a:p>
          <a:p xmlns:a="http://schemas.openxmlformats.org/drawingml/2006/main">
            <a:r>
              <a:t/>
            </a:r>
          </a:p>
          <a:p xmlns:a="http://schemas.openxmlformats.org/drawingml/2006/main">
            <a:pPr algn="l">
              <a:defRPr sz="2025" b="0">
                <a:solidFill>
                  <a:srgbClr val="102A43"/>
                </a:solidFill>
                <a:latin typeface="Arial"/>
                <a:ea typeface="Arial"/>
                <a:cs typeface="Arial"/>
              </a:defRPr>
            </a:pPr>
            <a:r>
              <a:rPr sz="2025" b="0">
                <a:solidFill>
                  <a:srgbClr val="102A43"/>
                </a:solidFill>
                <a:latin typeface="Arial"/>
                <a:ea typeface="Arial"/>
                <a:cs typeface="Arial"/>
              </a:rPr>
              <a:t>An explanation of assignment failures</a:t>
            </a:r>
          </a:p>
          <a:p xmlns:a="http://schemas.openxmlformats.org/drawingml/2006/main">
            <a:r>
              <a:t/>
            </a:r>
          </a:p>
          <a:p xmlns:a="http://schemas.openxmlformats.org/drawingml/2006/main">
            <a:pPr algn="l">
              <a:defRPr sz="2025" b="0">
                <a:solidFill>
                  <a:srgbClr val="102A43"/>
                </a:solidFill>
                <a:latin typeface="Arial"/>
                <a:ea typeface="Arial"/>
                <a:cs typeface="Arial"/>
              </a:defRPr>
            </a:pPr>
            <a:r>
              <a:rPr sz="2025" b="0">
                <a:solidFill>
                  <a:srgbClr val="102A43"/>
                </a:solidFill>
                <a:latin typeface="Arial"/>
                <a:ea typeface="Arial"/>
                <a:cs typeface="Arial"/>
              </a:rPr>
              <a:t>A tested candidate-region intervention</a:t>
            </a:r>
          </a:p>
        </p:txBody>
      </p:sp>
      <p:sp>
        <p:nvSpPr>
          <p:cNvPr id="8" name="text-7">
            <a:extLst xmlns:a="http://schemas.openxmlformats.org/drawingml/2006/main">
              <a:ext uri="{FF2B5EF4-FFF2-40B4-BE49-F238E27FC236}">
                <a16:creationId xmlns:a16="http://schemas.microsoft.com/office/drawing/2014/main" id="{B9D292C8-00C3-430B-B1F1-5291A6C3D74B}"/>
              </a:ext>
            </a:extLst>
          </p:cNvPr>
          <p:cNvSpPr>
            <a:spLocks xmlns:a="http://schemas.openxmlformats.org/drawingml/2006/main" noGrp="1"/>
          </p:cNvSpPr>
          <p:nvPr/>
        </p:nvSpPr>
        <p:spPr>
          <a:xfrm xmlns:a="http://schemas.openxmlformats.org/drawingml/2006/main">
            <a:off x="609600" y="55530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A43"/>
                </a:solidFill>
                <a:latin typeface="Arial"/>
                <a:ea typeface="Arial"/>
                <a:cs typeface="Arial"/>
              </a:defRPr>
            </a:defPPr>
          </a:lstStyle>
          <a:p xmlns:a="http://schemas.openxmlformats.org/drawingml/2006/main">
            <a:pPr algn="l">
              <a:defRPr sz="2100" b="1">
                <a:solidFill>
                  <a:srgbClr val="102A43"/>
                </a:solidFill>
                <a:latin typeface="Arial"/>
                <a:ea typeface="Arial"/>
                <a:cs typeface="Arial"/>
              </a:defRPr>
            </a:pPr>
            <a:r>
              <a:rPr sz="2100" b="1">
                <a:solidFill>
                  <a:srgbClr val="102A43"/>
                </a:solidFill>
                <a:latin typeface="Arial"/>
                <a:ea typeface="Arial"/>
                <a:cs typeface="Arial"/>
              </a:rPr>
              <a:t>A negative result can still clarify when the proposed rule fails</a:t>
            </a:r>
          </a:p>
        </p:txBody>
      </p:sp>
    </p:spTree>
    <p:extLst>
      <p:ext uri="{BB962C8B-B14F-4D97-AF65-F5344CB8AC3E}">
        <p14:creationId xmlns:p14="http://schemas.microsoft.com/office/powerpoint/2010/main" val="2985235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1">
            <a:extLst xmlns:a="http://schemas.openxmlformats.org/drawingml/2006/main">
              <a:ext uri="{FF2B5EF4-FFF2-40B4-BE49-F238E27FC236}">
                <a16:creationId xmlns:a16="http://schemas.microsoft.com/office/drawing/2014/main" id="{07CE02A9-10B8-4AE7-960A-04D8B7787B7B}"/>
              </a:ext>
            </a:extLst>
          </p:cNvPr>
          <p:cNvSpPr>
            <a:spLocks xmlns:a="http://schemas.openxmlformats.org/drawingml/2006/main" noGrp="1"/>
          </p:cNvSpPr>
          <p:nvPr/>
        </p:nvSpPr>
        <p:spPr>
          <a:xfrm xmlns:a="http://schemas.openxmlformats.org/drawingml/2006/main">
            <a:off x="609600" y="457200"/>
            <a:ext cx="8858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A43"/>
                </a:solidFill>
                <a:latin typeface="Arial"/>
                <a:ea typeface="Arial"/>
                <a:cs typeface="Arial"/>
              </a:defRPr>
            </a:defPPr>
          </a:lstStyle>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Discussion</a:t>
            </a:r>
          </a:p>
        </p:txBody>
      </p:sp>
      <p:pic>
        <p:nvPicPr>
          <p:cNvPr id="2" name="">
            <a:extLst xmlns:a="http://schemas.openxmlformats.org/drawingml/2006/main">
              <a:ext uri="{FF2B5EF4-FFF2-40B4-BE49-F238E27FC236}">
                <a16:creationId xmlns:a16="http://schemas.microsoft.com/office/drawing/2014/main" id="{881F243C-7C6B-4C25-87B1-C6CD67AA68EC}"/>
              </a:ext>
            </a:extLst>
          </p:cNvPr>
          <p:cNvPicPr>
            <a:picLocks xmlns:a="http://schemas.openxmlformats.org/drawingml/2006/main" noChangeAspect="1"/>
          </p:cNvPicPr>
          <p:nvPr/>
        </p:nvPicPr>
        <p:blipFill>
          <a:blip xmlns:r="http://schemas.openxmlformats.org/officeDocument/2006/relationships" xmlns:a="http://schemas.openxmlformats.org/drawingml/2006/main" r:embed="R65c0582f34c34664"/>
          <a:stretch xmlns:a="http://schemas.openxmlformats.org/drawingml/2006/main"/>
        </p:blipFill>
        <p:spPr>
          <a:xfrm xmlns:a="http://schemas.openxmlformats.org/drawingml/2006/main">
            <a:off x="9870281" y="400050"/>
            <a:ext cx="1709738" cy="666750"/>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30B4C5A2-2FDF-4ED5-A962-D1A6739449B0}"/>
              </a:ext>
            </a:extLst>
          </p:cNvPr>
          <p:cNvSpPr>
            <a:spLocks xmlns:a="http://schemas.openxmlformats.org/drawingml/2006/main" noGrp="1"/>
          </p:cNvSpPr>
          <p:nvPr/>
        </p:nvSpPr>
        <p:spPr>
          <a:xfrm xmlns:a="http://schemas.openxmlformats.org/drawingml/2006/main">
            <a:off x="11068050" y="6467475"/>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20</a:t>
            </a:r>
          </a:p>
        </p:txBody>
      </p:sp>
      <p:sp>
        <p:nvSpPr>
          <p:cNvPr id="4" name="text-3">
            <a:extLst xmlns:a="http://schemas.openxmlformats.org/drawingml/2006/main">
              <a:ext uri="{FF2B5EF4-FFF2-40B4-BE49-F238E27FC236}">
                <a16:creationId xmlns:a16="http://schemas.microsoft.com/office/drawing/2014/main" id="{51EB31E4-7824-469B-AEA0-C3DB0ED24416}"/>
              </a:ext>
            </a:extLst>
          </p:cNvPr>
          <p:cNvSpPr>
            <a:spLocks xmlns:a="http://schemas.openxmlformats.org/drawingml/2006/main" noGrp="1"/>
          </p:cNvSpPr>
          <p:nvPr/>
        </p:nvSpPr>
        <p:spPr>
          <a:xfrm xmlns:a="http://schemas.openxmlformats.org/drawingml/2006/main">
            <a:off x="609600" y="2047875"/>
            <a:ext cx="108204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47920"/>
                </a:solidFill>
                <a:latin typeface="Arial"/>
                <a:ea typeface="Arial"/>
                <a:cs typeface="Arial"/>
              </a:defRPr>
            </a:defPPr>
          </a:lstStyle>
          <a:p xmlns:a="http://schemas.openxmlformats.org/drawingml/2006/main">
            <a:pPr algn="l">
              <a:defRPr sz="3300" b="1">
                <a:solidFill>
                  <a:srgbClr val="F47920"/>
                </a:solidFill>
                <a:latin typeface="Arial"/>
                <a:ea typeface="Arial"/>
                <a:cs typeface="Arial"/>
              </a:defRPr>
            </a:pPr>
            <a:r>
              <a:rPr sz="3300" b="1">
                <a:solidFill>
                  <a:srgbClr val="F47920"/>
                </a:solidFill>
                <a:latin typeface="Arial"/>
                <a:ea typeface="Arial"/>
                <a:cs typeface="Arial"/>
              </a:rPr>
              <a:t>Can better training-sample selection</a:t>
            </a:r>
          </a:p>
          <a:p xmlns:a="http://schemas.openxmlformats.org/drawingml/2006/main">
            <a:pPr algn="l">
              <a:defRPr sz="3300" b="1">
                <a:solidFill>
                  <a:srgbClr val="F47920"/>
                </a:solidFill>
                <a:latin typeface="Arial"/>
                <a:ea typeface="Arial"/>
                <a:cs typeface="Arial"/>
              </a:defRPr>
            </a:pPr>
            <a:r>
              <a:rPr sz="3300" b="1">
                <a:solidFill>
                  <a:srgbClr val="F47920"/>
                </a:solidFill>
                <a:latin typeface="Arial"/>
                <a:ea typeface="Arial"/>
                <a:cs typeface="Arial"/>
              </a:rPr>
              <a:t>help detect tiny oriented objects?</a:t>
            </a:r>
          </a:p>
        </p:txBody>
      </p:sp>
      <p:sp>
        <p:nvSpPr>
          <p:cNvPr id="5" name="text-4">
            <a:extLst xmlns:a="http://schemas.openxmlformats.org/drawingml/2006/main">
              <a:ext uri="{FF2B5EF4-FFF2-40B4-BE49-F238E27FC236}">
                <a16:creationId xmlns:a16="http://schemas.microsoft.com/office/drawing/2014/main" id="{C4D5D3F0-26DD-46BD-9BC1-FAE067CD659B}"/>
              </a:ext>
            </a:extLst>
          </p:cNvPr>
          <p:cNvSpPr>
            <a:spLocks xmlns:a="http://schemas.openxmlformats.org/drawingml/2006/main" noGrp="1"/>
          </p:cNvSpPr>
          <p:nvPr/>
        </p:nvSpPr>
        <p:spPr>
          <a:xfrm xmlns:a="http://schemas.openxmlformats.org/drawingml/2006/main">
            <a:off x="609600" y="38671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02A43"/>
                </a:solidFill>
                <a:latin typeface="Arial"/>
                <a:ea typeface="Arial"/>
                <a:cs typeface="Arial"/>
              </a:defRPr>
            </a:defPPr>
          </a:lstStyle>
          <a:p xmlns:a="http://schemas.openxmlformats.org/drawingml/2006/main">
            <a:pPr algn="l">
              <a:defRPr sz="2325" b="0">
                <a:solidFill>
                  <a:srgbClr val="102A43"/>
                </a:solidFill>
                <a:latin typeface="Arial"/>
                <a:ea typeface="Arial"/>
                <a:cs typeface="Arial"/>
              </a:defRPr>
            </a:pPr>
            <a:r>
              <a:rPr sz="2325" b="0">
                <a:solidFill>
                  <a:srgbClr val="102A43"/>
                </a:solidFill>
                <a:latin typeface="Arial"/>
                <a:ea typeface="Arial"/>
                <a:cs typeface="Arial"/>
              </a:rPr>
              <a:t>We will test the idea with controlled comparisons</a:t>
            </a:r>
          </a:p>
          <a:p xmlns:a="http://schemas.openxmlformats.org/drawingml/2006/main">
            <a:pPr algn="l">
              <a:defRPr sz="2325" b="0">
                <a:solidFill>
                  <a:srgbClr val="102A43"/>
                </a:solidFill>
                <a:latin typeface="Arial"/>
                <a:ea typeface="Arial"/>
                <a:cs typeface="Arial"/>
              </a:defRPr>
            </a:pPr>
            <a:r>
              <a:rPr sz="2325" b="0">
                <a:solidFill>
                  <a:srgbClr val="102A43"/>
                </a:solidFill>
                <a:latin typeface="Arial"/>
                <a:ea typeface="Arial"/>
                <a:cs typeface="Arial"/>
              </a:rPr>
              <a:t>and explain where it helps or fails.</a:t>
            </a:r>
          </a:p>
        </p:txBody>
      </p:sp>
      <p:sp>
        <p:nvSpPr>
          <p:cNvPr id="6" name="text-5">
            <a:extLst xmlns:a="http://schemas.openxmlformats.org/drawingml/2006/main">
              <a:ext uri="{FF2B5EF4-FFF2-40B4-BE49-F238E27FC236}">
                <a16:creationId xmlns:a16="http://schemas.microsoft.com/office/drawing/2014/main" id="{2F126C65-28F1-4D11-8C38-DD2C5EC384F9}"/>
              </a:ext>
            </a:extLst>
          </p:cNvPr>
          <p:cNvSpPr>
            <a:spLocks xmlns:a="http://schemas.openxmlformats.org/drawingml/2006/main" noGrp="1"/>
          </p:cNvSpPr>
          <p:nvPr/>
        </p:nvSpPr>
        <p:spPr>
          <a:xfrm xmlns:a="http://schemas.openxmlformats.org/drawingml/2006/main">
            <a:off x="609600" y="5229225"/>
            <a:ext cx="10820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02A43"/>
                </a:solidFill>
                <a:latin typeface="Arial"/>
                <a:ea typeface="Arial"/>
                <a:cs typeface="Arial"/>
              </a:defRPr>
            </a:defPPr>
          </a:lstStyle>
          <a:p xmlns:a="http://schemas.openxmlformats.org/drawingml/2006/main">
            <a:pPr algn="l">
              <a:defRPr sz="1800" b="1">
                <a:solidFill>
                  <a:srgbClr val="102A43"/>
                </a:solidFill>
                <a:latin typeface="Arial"/>
                <a:ea typeface="Arial"/>
                <a:cs typeface="Arial"/>
              </a:defRPr>
            </a:pPr>
            <a:r>
              <a:rPr sz="1800" b="1">
                <a:solidFill>
                  <a:srgbClr val="102A43"/>
                </a:solidFill>
                <a:latin typeface="Arial"/>
                <a:ea typeface="Arial"/>
                <a:cs typeface="Arial"/>
              </a:rPr>
              <a:t>Key references</a:t>
            </a:r>
          </a:p>
        </p:txBody>
      </p:sp>
      <p:sp>
        <p:nvSpPr>
          <p:cNvPr id="7" name="text-6">
            <a:extLst xmlns:a="http://schemas.openxmlformats.org/drawingml/2006/main">
              <a:ext uri="{FF2B5EF4-FFF2-40B4-BE49-F238E27FC236}">
                <a16:creationId xmlns:a16="http://schemas.microsoft.com/office/drawing/2014/main" id="{AA162532-E157-4096-905A-323337F601E6}"/>
              </a:ext>
            </a:extLst>
          </p:cNvPr>
          <p:cNvSpPr>
            <a:spLocks xmlns:a="http://schemas.openxmlformats.org/drawingml/2006/main" noGrp="1"/>
          </p:cNvSpPr>
          <p:nvPr/>
        </p:nvSpPr>
        <p:spPr>
          <a:xfrm xmlns:a="http://schemas.openxmlformats.org/drawingml/2006/main">
            <a:off x="609600" y="565785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26575"/>
                </a:solidFill>
                <a:latin typeface="Arial"/>
                <a:ea typeface="Arial"/>
                <a:cs typeface="Arial"/>
              </a:defRPr>
            </a:defPPr>
          </a:lstStyle>
          <a:p xmlns:a="http://schemas.openxmlformats.org/drawingml/2006/main">
            <a:pPr algn="l">
              <a:defRPr sz="1425" b="0">
                <a:solidFill>
                  <a:srgbClr val="526575"/>
                </a:solidFill>
                <a:latin typeface="Arial"/>
                <a:ea typeface="Arial"/>
                <a:cs typeface="Arial"/>
              </a:defRPr>
            </a:pPr>
            <a:r>
              <a:rPr sz="1425" b="0">
                <a:solidFill>
                  <a:srgbClr val="526575"/>
                </a:solidFill>
                <a:latin typeface="Arial"/>
                <a:ea typeface="Arial"/>
                <a:cs typeface="Arial"/>
              </a:rPr>
              <a:t>Xu et al. · AI-TOD-R · TPAMI · DOI 10.1109/TPAMI.2025.3634161</a:t>
            </a:r>
          </a:p>
          <a:p xmlns:a="http://schemas.openxmlformats.org/drawingml/2006/main">
            <a:pPr algn="l">
              <a:defRPr sz="1425" b="0">
                <a:solidFill>
                  <a:srgbClr val="526575"/>
                </a:solidFill>
                <a:latin typeface="Arial"/>
                <a:ea typeface="Arial"/>
                <a:cs typeface="Arial"/>
              </a:defRPr>
            </a:pPr>
            <a:r>
              <a:rPr sz="1425" b="0">
                <a:solidFill>
                  <a:srgbClr val="526575"/>
                </a:solidFill>
                <a:latin typeface="Arial"/>
                <a:ea typeface="Arial"/>
                <a:cs typeface="Arial"/>
              </a:rPr>
              <a:t>Jocher et al. · YOLO26 · arXiv:2606.03748</a:t>
            </a:r>
          </a:p>
          <a:p xmlns:a="http://schemas.openxmlformats.org/drawingml/2006/main">
            <a:pPr algn="l">
              <a:defRPr sz="1425" b="0">
                <a:solidFill>
                  <a:srgbClr val="526575"/>
                </a:solidFill>
                <a:latin typeface="Arial"/>
                <a:ea typeface="Arial"/>
                <a:cs typeface="Arial"/>
              </a:defRPr>
            </a:pPr>
            <a:r>
              <a:rPr sz="1425" b="0">
                <a:solidFill>
                  <a:srgbClr val="526575"/>
                </a:solidFill>
                <a:latin typeface="Arial"/>
                <a:ea typeface="Arial"/>
                <a:cs typeface="Arial"/>
              </a:rPr>
              <a:t>Related assignment methods: EARL, RFLA and RDCNet</a:t>
            </a:r>
          </a:p>
        </p:txBody>
      </p:sp>
    </p:spTree>
    <p:extLst>
      <p:ext uri="{BB962C8B-B14F-4D97-AF65-F5344CB8AC3E}">
        <p14:creationId xmlns:p14="http://schemas.microsoft.com/office/powerpoint/2010/main" val="11428634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2026-10-08T12:54:33.8970000Z</dcterms:created>
  <dcterms:modified xsi:type="dcterms:W3CDTF">2026-10-08T12:54:33.8980000Z</dcterms:modified>
</coreProperties>
</file>