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ec2030-5acd-640b-90f7-a131a0232475}">
          <p14:sldIdLst>
            <p14:sldId id="256"/>
          </p14:sldIdLst>
        </p14:section>
        <p14:section name="Problem and gap" id="{0852434b-d7e4-982f-55b9-962732358ad8}">
          <p14:sldIdLst>
            <p14:sldId id="257"/>
            <p14:sldId id="258"/>
            <p14:sldId id="259"/>
            <p14:sldId id="260"/>
            <p14:sldId id="261"/>
          </p14:sldIdLst>
        </p14:section>
        <p14:section name="Research design" id="{ea560bbe-91ad-189d-d6c4-06cce4563157}">
          <p14:sldIdLst>
            <p14:sldId id="262"/>
            <p14:sldId id="263"/>
            <p14:sldId id="264"/>
            <p14:sldId id="265"/>
            <p14:sldId id="266"/>
            <p14:sldId id="267"/>
          </p14:sldIdLst>
        </p14:section>
        <p14:section name="Feasibility and plan" id="{d2ee3e6f-11a5-e5a3-793a-87f722d24936}">
          <p14:sldIdLst>
            <p14:sldId id="268"/>
            <p14:sldId id="269"/>
            <p14:sldId id="270"/>
            <p14:sldId id="271"/>
          </p14:sldIdLst>
        </p14:section>
        <p14:section name="Closing" id="{3d0042ae-15be-6c3e-f9a3-9bf63b30efcd}">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A43"/>
                </a:solidFill>
                <a:latin typeface="+mn-lt"/>
              </a:defRPr>
            </a:pPr>
            <a:r>
              <a:rPr sz="1400" b="0" i="0" u="none" strike="noStrike">
                <a:solidFill>
                  <a:srgbClr val="102A43"/>
                </a:solidFill>
                <a:latin typeface="+mn-lt"/>
              </a:rPr>
              <a:t>Estimated GPU-hours per run</a:t>
            </a:r>
          </a:p>
        </c:rich>
      </c:tx>
      <c:layout/>
      <c:overlay val="0"/>
    </c:title>
    <c:autoTitleDeleted val="0"/>
    <c:plotArea>
      <c:layout/>
      <c:barChart>
        <c:barDir val="col"/>
        <c:grouping val="clustered"/>
        <c:varyColors val="0"/>
        <c:ser>
          <c:idx val="0"/>
          <c:order val="0"/>
          <c:tx>
            <c:strRef>
              <c:f>Sheet1!$B$1</c:f>
              <c:strCache>
                <c:ptCount val="1"/>
                <c:pt idx="0">
                  <c:v>GPU-hours per run</c:v>
                </c:pt>
              </c:strCache>
            </c:strRef>
          </c:tx>
          <c:spPr>
            <a:solidFill>
              <a:srgbClr val="F479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100 img/s → 3.9 h</c:v>
                  </c:pt>
                  <c:pt idx="1">
                    <c:v>50 img/s → 7.8 h</c:v>
                  </c:pt>
                  <c:pt idx="2">
                    <c:v>25 img/s → 15.6 h</c:v>
                  </c:pt>
                </c:lvl>
              </c:multiLvlStrCache>
            </c:multiLvlStrRef>
          </c:cat>
          <c:val>
            <c:numRef>
              <c:f>Sheet1!$B$2:$B$4</c:f>
              <c:numCache>
                <c:formatCode>General</c:formatCode>
                <c:ptCount val="3"/>
                <c:pt idx="0">
                  <c:v>3.9</c:v>
                </c:pt>
                <c:pt idx="1">
                  <c:v>7.8</c:v>
                </c:pt>
                <c:pt idx="2">
                  <c:v>15.6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02A4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2F5F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
Good morning. We are Group 7. Our proposal asks where tiny oriented objects lose their training signal inside real-time YOLO-OBB detectors, and whether the geometry of the candidate region used during label assignment explains it. The benchmark is AI-TOD-R. Mentor: Hà Anh.
Source: Group7.pdf (research proposal, 11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
AI-TOD-R is the oriented tiny-object benchmark: mean object size 10.6 px. Even the best published method, DCFL, reaches 17.5 AP and only 6.5 AP on very tiny objects; Oriented R-CNN gets 0.6 AP there. The dataset authors trace this to label assignment: tiny objects receive far fewer positive samples. We study real-time detectors because the target applications run on drones and edge devices.
Sources: [3] Xu et al., TPAMI 2025 (AI-TOD-R); [1] YOLO26, arXiv:2606.03748.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60 s.
YOLO's task-aligned assigner works in three steps. Step 1 keeps anchor points whose centres fall inside a candidate region; step 2 ranks them; step 3 resolves anchors claimed by several objects. Anchor points sit on stride 8, 16 and 32 grids, so a 4 by 12 pixel object can fall between points and get no candidate at all. We study step 1 and step 3.
Sources: proposal §5.2; [14] TOOD; [2] Ultralytics tal.py; [1] YOLO26.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60 s.
YOLO26 introduced STAL: during candidate selection, box sides shorter than 8 px are enlarged to 16 px. On COCO with YOLO11s it moved AP from 46.6 to 46.8 in single runs. But in the public code the rule for oriented boxes changed three times in 2026; today it enlarges every side below 16 px, not 8. Because the assigner is shared, YOLOv8- and YOLO11-OBB trained today also use it.
Sources: [1] YOLO26 §3.3.3; [2] Ultralytics tal.py, release tags v8.4.7/8/38/39/127/128/174 checked 08/10/2026.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70 s.
Gaussian assignment methods (NWD-RKA, RFLA, GCD) help two-stage detectors a lot but one-stage detectors only by up to 1.6 AP, and all use horizontal boxes. Shape-aware assigners exist (EARL, SARFA-Net, RDCNet) but were never evaluated on a tiny-object dataset. STAL was only tested on COCO. The only YOLO-OBB numbers next to AI-TOD-R (DIA-YOLO) use a different image set, depth input and no size bins.
Sources: proposal Table 1; [3]–[10].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60 s.
Six limitations motivate the study: STAL was never tested on oriented or tiny objects; STAL itself has several versions; the AI-TOD-R benchmark has no real-time detector; shape-aware assignment was never tried on tiny oriented objects inside YOLO; no one measures how often neighbouring tiny objects compete for anchor points; and detection caps (1,500 vs 300) differ silently.
Source: proposal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70 s.
Our central hypothesis: the threshold of a candidate rule controls how many candidates a tiny object gets; the shape only controls where they fall and how often neighbours compete. So a shape-preserving rule can only help elongated objects in specific layouts, and this can be predicted from the labels before any training. Four research questions follow, each with one objective; objective O5 is reproducibility.
Source: proposal §1.3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
Every experiment trains the same YOLO-OBB model in one frozen copy of the Ultralytics code and changes only the label assigner, the red block. The diagnosis in green runs first, on labels only, and fixes the predictions before training. All predictions are scored by the official AITODReval evaluator.
Source: proposal §5.1, Figure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60 s.
The four rules on the same rotated 4 by 12 pixel object: plain TAL uses the box itself; STAL-8 enlarges only the 4 px side; STAL-16 makes a 16 by 16 square; OA-STAL v2 keeps centre, angle and shape and grows to the same area as STAL-16. Shape matters for neighbours: side by side, shared candidates fall from 0.63 to 0.34; end to end they rise from 0.12 to 0.49. We count which layout dominates before training.
Source: proposal §5.3, Figure 2; simulation in notes/t07-c3-evidence-dossier.md.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70 s.
On a grid with spacing s, a randomly placed region of area A contains on average A over s squared grid points; the assigner pools three grids, so the expected count is 0.0205 times the area. Three consequences: a 4 by 4 box has at least a 67% chance of no candidate under plain TAL; rules with equal area give the same expected count, so OA-STAL v2 can only change where candidates fall and how neighbours compete (note: the expected count is equal, the zero-candidate probability can still differ by shape); and the 8-versus-16 threshold is a first-order factor that must be controlled.
Source: proposal §5.3 Proposition 1 [derived]; [5] for the 73.4%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70 s.
OA-STAL v2 enlarges a tiny box with the same shape until it has the STAL-16 area, keeps the short side at least 8 px to protect very thin objects, caps the long side at 32 px unless the object is already longer, and never shrinks anything. So it always contains the true box, equals STAL-16 for squares, and keeps the shape for aspect ratios up to 4. For step 3 we test two conflict rules against the default: inside-box and smaller-GT.
Source: proposal §5.4 [design, to be unit-tested before any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70 s.
Eight arms in one pinned code base. The pre-declared main comparison is A4, OA-STAL v2, against A2, the current STAL-16, on tiny and very tiny AP. A5 separates the threshold from the shape; A6 and A7 isolate the conflict rule. A change counts as an improvement only if the bootstrap interval excludes zero and the gain appears where the label statistics predicted: elongated classes such as ship and bridge, and the dominant neighbour layout.
Source: proposal §5.5, Table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60 s.
Data: AI-TOD-R labels are public; images need xView registration, our first task. Tools are all open source. Compute: Kaggle gives a free P100 or two T4s, about 30 GPU-hours a week; Modal up to 100 US dollars is the overflow. The chart is an estimate only: 14,000 images and 100 epochs give 3.9 to 15.6 GPU-hours per run depending on throughput, which we measure in week 2. We reproduce one published baseline row to validate the evaluator.
Source: proposal §4 and §6 (Computational Resource Requirements); [18] Kaggle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
The main scientific risk is that OA-STAL v2 does not beat STAL-16; Proposition 1 already tells us shape only changes placement, and one-stage assignment gains in the literature are at most 1.6 AP. In that case the benchmark and the diagnosis remain the results. Every other risk has a fallback decided in advance. Honest status: no experiment has been run yet.
Source: proposal §4,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
Fourteen weeks, from 12 October 2026 to 17 January 2027. Weeks 1 and 2 are the gate: data rebuilt, evaluator validated, speed measured. Week 3 is the label analysis and the dated pre-registration. Then the RQ1 benchmark, the RQ3 ablation with three seeds, RQ4 transfer, analysis, writing and the release. M1 to M4 are team members; the assignment is still to be fixed.
Source: proposal §6,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
We expect three kinds of result: a geometric account of what candidate rules can change, an evaluation of all STAL versions plus a fair size-binned YOLO-OBB benchmark on AI-TOD-R, and a training-only rule tested against pre-registered predictions. Each objective has a deliverable decided in advance. The publication target is deliberately modest and conditional.
Source: proposal §7, Table 6; venue claim C-10 in notes/claims-ledger.md.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 only if asked. Numbering follows the proposal (Group7.pdf).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remaining minutes.
Thank you. Three open design questions where feedback would change our plan: the primary comparator, the second dataset, and the minimal effect size. Materials and progress tracking are in the group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6675120" cy="20116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640080" y="3703320"/>
            <a:ext cx="6675120" cy="822960"/>
          </a:xfrm>
          <a:prstGeom prst="rect">
            <a:avLst/>
          </a:prstGeom>
          <a:noFill/>
          <a:ln/>
        </p:spPr>
        <p:txBody>
          <a:bodyPr wrap="square" rtlCol="0"/>
          <a:lstStyle>
            <a:lvl1pPr algn="l" indent="0" marL="0">
              <a:buNone/>
              <a:defRPr lang="en-US" sz="1800" dirty="0">
                <a:solidFill>
                  <a:srgbClr val="B9C7D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pic>
        <p:nvPicPr>
          <p:cNvPr id="3" name="Image 0" descr="FPT University logo">    </p:cNvPr>
          <p:cNvPicPr>
            <a:picLocks noChangeAspect="1"/>
          </p:cNvPicPr>
          <p:nvPr/>
        </p:nvPicPr>
        <p:blipFill>
          <a:blip r:embed="rId1"/>
          <a:stretch>
            <a:fillRect/>
          </a:stretch>
        </p:blipFill>
        <p:spPr>
          <a:xfrm>
            <a:off x="10378440" y="420624"/>
            <a:ext cx="1261872" cy="493776"/>
          </a:xfrm>
          <a:prstGeom prst="rect">
            <a:avLst/>
          </a:prstGeom>
        </p:spPr>
      </p:pic>
      <p:sp>
        <p:nvSpPr>
          <p:cNvPr id="4" name="Text 0"/>
          <p:cNvSpPr/>
          <p:nvPr/>
        </p:nvSpPr>
        <p:spPr>
          <a:xfrm>
            <a:off x="548640" y="6419088"/>
            <a:ext cx="5943600" cy="274320"/>
          </a:xfrm>
          <a:prstGeom prst="rect">
            <a:avLst/>
          </a:prstGeom>
          <a:noFill/>
          <a:ln/>
        </p:spPr>
        <p:txBody>
          <a:bodyPr wrap="square" lIns="0" tIns="0" rIns="0" bIns="0" rtlCol="0" anchor="ctr"/>
          <a:lstStyle/>
          <a:p>
            <a:pPr indent="0" marL="0">
              <a:buNone/>
            </a:pPr>
            <a:r>
              <a:rPr lang="en-US" sz="1000" dirty="0">
                <a:solidFill>
                  <a:schemeClr val="accent6"/>
                </a:solidFill>
              </a:rPr>
              <a:t>Group 7 · Research proposal · DPL302m NCKH</a:t>
            </a:r>
            <a:endParaRPr lang="en-US" sz="10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676656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B9C7D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1051560"/>
            <a:ext cx="667512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RESEARCH PROPOSAL · NCKH DPL302m</a:t>
            </a:r>
            <a:endParaRPr lang="en-US" sz="1400" dirty="0"/>
          </a:p>
        </p:txBody>
      </p:sp>
      <p:sp>
        <p:nvSpPr>
          <p:cNvPr id="3" name="Text 0"/>
          <p:cNvSpPr/>
          <p:nvPr>
            <p:ph idx="100" type="title" hasCustomPrompt="1"/>
          </p:nvPr>
        </p:nvSpPr>
        <p:spPr>
          <a:xfrm>
            <a:off x="640080" y="1600200"/>
            <a:ext cx="6675120" cy="2011680"/>
          </a:xfrm>
          <a:prstGeom prst="rect">
            <a:avLst/>
          </a:prstGeom>
          <a:noFill/>
          <a:ln/>
        </p:spPr>
        <p:txBody>
          <a:bodyPr wrap="square" lIns="0" tIns="0" rIns="0" bIns="0" rtlCol="0" anchor="t"/>
          <a:lstStyle/>
          <a:p>
            <a:pPr algn="l" indent="0" marL="0">
              <a:buNone/>
            </a:pPr>
            <a:r>
              <a:rPr lang="en-US" sz="3800" b="1" dirty="0">
                <a:solidFill>
                  <a:schemeClr val="bg1"/>
                </a:solidFill>
              </a:rPr>
              <a:t>Where Do Tiny Oriented Objects Lose Their Training Signal?</a:t>
            </a:r>
            <a:endParaRPr lang="en-US" sz="3800" dirty="0"/>
          </a:p>
        </p:txBody>
      </p:sp>
      <p:sp>
        <p:nvSpPr>
          <p:cNvPr id="4" name="Text 0"/>
          <p:cNvSpPr/>
          <p:nvPr>
            <p:ph idx="101" type="body" hasCustomPrompt="1"/>
          </p:nvPr>
        </p:nvSpPr>
        <p:spPr>
          <a:xfrm>
            <a:off x="640080" y="3703320"/>
            <a:ext cx="6675120" cy="822960"/>
          </a:xfrm>
          <a:prstGeom prst="rect">
            <a:avLst/>
          </a:prstGeom>
          <a:noFill/>
          <a:ln/>
        </p:spPr>
        <p:txBody>
          <a:bodyPr wrap="square" lIns="0" tIns="0" rIns="0" bIns="0" rtlCol="0" anchor="t"/>
          <a:lstStyle/>
          <a:p>
            <a:pPr algn="l" indent="0" marL="0">
              <a:buNone/>
            </a:pPr>
            <a:r>
              <a:rPr lang="en-US" sz="1800" dirty="0">
                <a:solidFill>
                  <a:srgbClr val="B9C7D6"/>
                </a:solidFill>
              </a:rPr>
              <a:t>Candidate-Region Geometry for Real-Time YOLO-OBB Detectors on AI-TOD-R</a:t>
            </a:r>
            <a:endParaRPr lang="en-US" sz="1800" dirty="0"/>
          </a:p>
        </p:txBody>
      </p:sp>
      <p:sp>
        <p:nvSpPr>
          <p:cNvPr id="5" name="text-2"/>
          <p:cNvSpPr txBox="1"/>
          <p:nvPr/>
        </p:nvSpPr>
        <p:spPr>
          <a:xfrm>
            <a:off x="640080" y="4892040"/>
            <a:ext cx="6766560" cy="100584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Group 7</a:t>
            </a:r>
            <a:endParaRPr lang="en-US" sz="1500" dirty="0"/>
          </a:p>
          <a:p>
            <a:pPr indent="0" marL="0">
              <a:spcAft>
                <a:spcPts val="400"/>
              </a:spcAft>
              <a:buNone/>
            </a:pPr>
            <a:r>
              <a:rPr lang="en-US" sz="1500" dirty="0">
                <a:solidFill>
                  <a:schemeClr val="bg1"/>
                </a:solidFill>
              </a:rPr>
              <a:t>Võ Đức Nhật · Trần Lợi Kiều Nhi · Trần Nguyễn Minh Hải · Nguyễn Tấn Tài</a:t>
            </a:r>
            <a:endParaRPr lang="en-US" sz="1500" dirty="0"/>
          </a:p>
          <a:p>
            <a:pPr indent="0" marL="0">
              <a:spcAft>
                <a:spcPts val="400"/>
              </a:spcAft>
              <a:buNone/>
            </a:pPr>
            <a:r>
              <a:rPr lang="en-US" sz="1500" dirty="0">
                <a:solidFill>
                  <a:schemeClr val="bg1"/>
                </a:solidFill>
              </a:rPr>
              <a:t>Mentor: Hà Anh</a:t>
            </a:r>
            <a:endParaRPr lang="en-US" sz="1500" dirty="0"/>
          </a:p>
        </p:txBody>
      </p:sp>
      <p:sp>
        <p:nvSpPr>
          <p:cNvPr id="6" name="grid-dot-3"/>
          <p:cNvSpPr/>
          <p:nvPr/>
        </p:nvSpPr>
        <p:spPr>
          <a:xfrm>
            <a:off x="8138160" y="1371600"/>
            <a:ext cx="91440" cy="91440"/>
          </a:xfrm>
          <a:prstGeom prst="ellipse">
            <a:avLst/>
          </a:prstGeom>
          <a:solidFill>
            <a:srgbClr val="B9C7D6"/>
          </a:solidFill>
          <a:ln w="12700">
            <a:solidFill>
              <a:srgbClr val="B9C7D6"/>
            </a:solidFill>
            <a:prstDash val="solid"/>
          </a:ln>
        </p:spPr>
      </p:sp>
      <p:sp>
        <p:nvSpPr>
          <p:cNvPr id="7" name="grid-dot-4"/>
          <p:cNvSpPr/>
          <p:nvPr/>
        </p:nvSpPr>
        <p:spPr>
          <a:xfrm>
            <a:off x="8705088" y="1371600"/>
            <a:ext cx="91440" cy="91440"/>
          </a:xfrm>
          <a:prstGeom prst="ellipse">
            <a:avLst/>
          </a:prstGeom>
          <a:solidFill>
            <a:srgbClr val="B9C7D6"/>
          </a:solidFill>
          <a:ln w="12700">
            <a:solidFill>
              <a:srgbClr val="B9C7D6"/>
            </a:solidFill>
            <a:prstDash val="solid"/>
          </a:ln>
        </p:spPr>
      </p:sp>
      <p:sp>
        <p:nvSpPr>
          <p:cNvPr id="8" name="grid-dot-5"/>
          <p:cNvSpPr/>
          <p:nvPr/>
        </p:nvSpPr>
        <p:spPr>
          <a:xfrm>
            <a:off x="9272016" y="1371600"/>
            <a:ext cx="91440" cy="91440"/>
          </a:xfrm>
          <a:prstGeom prst="ellipse">
            <a:avLst/>
          </a:prstGeom>
          <a:solidFill>
            <a:srgbClr val="B9C7D6"/>
          </a:solidFill>
          <a:ln w="12700">
            <a:solidFill>
              <a:srgbClr val="B9C7D6"/>
            </a:solidFill>
            <a:prstDash val="solid"/>
          </a:ln>
        </p:spPr>
      </p:sp>
      <p:sp>
        <p:nvSpPr>
          <p:cNvPr id="9" name="grid-dot-6"/>
          <p:cNvSpPr/>
          <p:nvPr/>
        </p:nvSpPr>
        <p:spPr>
          <a:xfrm>
            <a:off x="9838944" y="1371600"/>
            <a:ext cx="91440" cy="91440"/>
          </a:xfrm>
          <a:prstGeom prst="ellipse">
            <a:avLst/>
          </a:prstGeom>
          <a:solidFill>
            <a:srgbClr val="B9C7D6"/>
          </a:solidFill>
          <a:ln w="12700">
            <a:solidFill>
              <a:srgbClr val="B9C7D6"/>
            </a:solidFill>
            <a:prstDash val="solid"/>
          </a:ln>
        </p:spPr>
      </p:sp>
      <p:sp>
        <p:nvSpPr>
          <p:cNvPr id="10" name="grid-dot-7"/>
          <p:cNvSpPr/>
          <p:nvPr/>
        </p:nvSpPr>
        <p:spPr>
          <a:xfrm>
            <a:off x="10405872" y="1371600"/>
            <a:ext cx="91440" cy="91440"/>
          </a:xfrm>
          <a:prstGeom prst="ellipse">
            <a:avLst/>
          </a:prstGeom>
          <a:solidFill>
            <a:srgbClr val="B9C7D6"/>
          </a:solidFill>
          <a:ln w="12700">
            <a:solidFill>
              <a:srgbClr val="B9C7D6"/>
            </a:solidFill>
            <a:prstDash val="solid"/>
          </a:ln>
        </p:spPr>
      </p:sp>
      <p:sp>
        <p:nvSpPr>
          <p:cNvPr id="11" name="grid-dot-8"/>
          <p:cNvSpPr/>
          <p:nvPr/>
        </p:nvSpPr>
        <p:spPr>
          <a:xfrm>
            <a:off x="10972800" y="1371600"/>
            <a:ext cx="91440" cy="91440"/>
          </a:xfrm>
          <a:prstGeom prst="ellipse">
            <a:avLst/>
          </a:prstGeom>
          <a:solidFill>
            <a:srgbClr val="B9C7D6"/>
          </a:solidFill>
          <a:ln w="12700">
            <a:solidFill>
              <a:srgbClr val="B9C7D6"/>
            </a:solidFill>
            <a:prstDash val="solid"/>
          </a:ln>
        </p:spPr>
      </p:sp>
      <p:sp>
        <p:nvSpPr>
          <p:cNvPr id="12" name="grid-dot-9"/>
          <p:cNvSpPr/>
          <p:nvPr/>
        </p:nvSpPr>
        <p:spPr>
          <a:xfrm>
            <a:off x="8138160" y="1938528"/>
            <a:ext cx="91440" cy="91440"/>
          </a:xfrm>
          <a:prstGeom prst="ellipse">
            <a:avLst/>
          </a:prstGeom>
          <a:solidFill>
            <a:srgbClr val="B9C7D6"/>
          </a:solidFill>
          <a:ln w="12700">
            <a:solidFill>
              <a:srgbClr val="B9C7D6"/>
            </a:solidFill>
            <a:prstDash val="solid"/>
          </a:ln>
        </p:spPr>
      </p:sp>
      <p:sp>
        <p:nvSpPr>
          <p:cNvPr id="13" name="grid-dot-10"/>
          <p:cNvSpPr/>
          <p:nvPr/>
        </p:nvSpPr>
        <p:spPr>
          <a:xfrm>
            <a:off x="8705088" y="1938528"/>
            <a:ext cx="91440" cy="91440"/>
          </a:xfrm>
          <a:prstGeom prst="ellipse">
            <a:avLst/>
          </a:prstGeom>
          <a:solidFill>
            <a:srgbClr val="B9C7D6"/>
          </a:solidFill>
          <a:ln w="12700">
            <a:solidFill>
              <a:srgbClr val="B9C7D6"/>
            </a:solidFill>
            <a:prstDash val="solid"/>
          </a:ln>
        </p:spPr>
      </p:sp>
      <p:sp>
        <p:nvSpPr>
          <p:cNvPr id="14" name="grid-dot-11"/>
          <p:cNvSpPr/>
          <p:nvPr/>
        </p:nvSpPr>
        <p:spPr>
          <a:xfrm>
            <a:off x="9272016" y="1938528"/>
            <a:ext cx="91440" cy="91440"/>
          </a:xfrm>
          <a:prstGeom prst="ellipse">
            <a:avLst/>
          </a:prstGeom>
          <a:solidFill>
            <a:srgbClr val="B9C7D6"/>
          </a:solidFill>
          <a:ln w="12700">
            <a:solidFill>
              <a:srgbClr val="B9C7D6"/>
            </a:solidFill>
            <a:prstDash val="solid"/>
          </a:ln>
        </p:spPr>
      </p:sp>
      <p:sp>
        <p:nvSpPr>
          <p:cNvPr id="15" name="grid-dot-12"/>
          <p:cNvSpPr/>
          <p:nvPr/>
        </p:nvSpPr>
        <p:spPr>
          <a:xfrm>
            <a:off x="9838944" y="1938528"/>
            <a:ext cx="91440" cy="91440"/>
          </a:xfrm>
          <a:prstGeom prst="ellipse">
            <a:avLst/>
          </a:prstGeom>
          <a:solidFill>
            <a:srgbClr val="B9C7D6"/>
          </a:solidFill>
          <a:ln w="12700">
            <a:solidFill>
              <a:srgbClr val="B9C7D6"/>
            </a:solidFill>
            <a:prstDash val="solid"/>
          </a:ln>
        </p:spPr>
      </p:sp>
      <p:sp>
        <p:nvSpPr>
          <p:cNvPr id="16" name="grid-dot-13"/>
          <p:cNvSpPr/>
          <p:nvPr/>
        </p:nvSpPr>
        <p:spPr>
          <a:xfrm>
            <a:off x="10405872" y="1938528"/>
            <a:ext cx="91440" cy="91440"/>
          </a:xfrm>
          <a:prstGeom prst="ellipse">
            <a:avLst/>
          </a:prstGeom>
          <a:solidFill>
            <a:srgbClr val="B9C7D6"/>
          </a:solidFill>
          <a:ln w="12700">
            <a:solidFill>
              <a:srgbClr val="B9C7D6"/>
            </a:solidFill>
            <a:prstDash val="solid"/>
          </a:ln>
        </p:spPr>
      </p:sp>
      <p:sp>
        <p:nvSpPr>
          <p:cNvPr id="17" name="grid-dot-14"/>
          <p:cNvSpPr/>
          <p:nvPr/>
        </p:nvSpPr>
        <p:spPr>
          <a:xfrm>
            <a:off x="10972800" y="1938528"/>
            <a:ext cx="91440" cy="91440"/>
          </a:xfrm>
          <a:prstGeom prst="ellipse">
            <a:avLst/>
          </a:prstGeom>
          <a:solidFill>
            <a:srgbClr val="B9C7D6"/>
          </a:solidFill>
          <a:ln w="12700">
            <a:solidFill>
              <a:srgbClr val="B9C7D6"/>
            </a:solidFill>
            <a:prstDash val="solid"/>
          </a:ln>
        </p:spPr>
      </p:sp>
      <p:sp>
        <p:nvSpPr>
          <p:cNvPr id="18" name="grid-dot-15"/>
          <p:cNvSpPr/>
          <p:nvPr/>
        </p:nvSpPr>
        <p:spPr>
          <a:xfrm>
            <a:off x="8138160" y="2505456"/>
            <a:ext cx="91440" cy="91440"/>
          </a:xfrm>
          <a:prstGeom prst="ellipse">
            <a:avLst/>
          </a:prstGeom>
          <a:solidFill>
            <a:srgbClr val="B9C7D6"/>
          </a:solidFill>
          <a:ln w="12700">
            <a:solidFill>
              <a:srgbClr val="B9C7D6"/>
            </a:solidFill>
            <a:prstDash val="solid"/>
          </a:ln>
        </p:spPr>
      </p:sp>
      <p:sp>
        <p:nvSpPr>
          <p:cNvPr id="19" name="grid-dot-16"/>
          <p:cNvSpPr/>
          <p:nvPr/>
        </p:nvSpPr>
        <p:spPr>
          <a:xfrm>
            <a:off x="8705088" y="2505456"/>
            <a:ext cx="91440" cy="91440"/>
          </a:xfrm>
          <a:prstGeom prst="ellipse">
            <a:avLst/>
          </a:prstGeom>
          <a:solidFill>
            <a:srgbClr val="B9C7D6"/>
          </a:solidFill>
          <a:ln w="12700">
            <a:solidFill>
              <a:srgbClr val="B9C7D6"/>
            </a:solidFill>
            <a:prstDash val="solid"/>
          </a:ln>
        </p:spPr>
      </p:sp>
      <p:sp>
        <p:nvSpPr>
          <p:cNvPr id="20" name="grid-dot-17"/>
          <p:cNvSpPr/>
          <p:nvPr/>
        </p:nvSpPr>
        <p:spPr>
          <a:xfrm>
            <a:off x="9272016" y="2505456"/>
            <a:ext cx="91440" cy="91440"/>
          </a:xfrm>
          <a:prstGeom prst="ellipse">
            <a:avLst/>
          </a:prstGeom>
          <a:solidFill>
            <a:srgbClr val="B9C7D6"/>
          </a:solidFill>
          <a:ln w="12700">
            <a:solidFill>
              <a:srgbClr val="B9C7D6"/>
            </a:solidFill>
            <a:prstDash val="solid"/>
          </a:ln>
        </p:spPr>
      </p:sp>
      <p:sp>
        <p:nvSpPr>
          <p:cNvPr id="21" name="grid-dot-18"/>
          <p:cNvSpPr/>
          <p:nvPr/>
        </p:nvSpPr>
        <p:spPr>
          <a:xfrm>
            <a:off x="9838944" y="2505456"/>
            <a:ext cx="91440" cy="91440"/>
          </a:xfrm>
          <a:prstGeom prst="ellipse">
            <a:avLst/>
          </a:prstGeom>
          <a:solidFill>
            <a:srgbClr val="B9C7D6"/>
          </a:solidFill>
          <a:ln w="12700">
            <a:solidFill>
              <a:srgbClr val="B9C7D6"/>
            </a:solidFill>
            <a:prstDash val="solid"/>
          </a:ln>
        </p:spPr>
      </p:sp>
      <p:sp>
        <p:nvSpPr>
          <p:cNvPr id="22" name="grid-dot-19"/>
          <p:cNvSpPr/>
          <p:nvPr/>
        </p:nvSpPr>
        <p:spPr>
          <a:xfrm>
            <a:off x="10405872" y="2505456"/>
            <a:ext cx="91440" cy="91440"/>
          </a:xfrm>
          <a:prstGeom prst="ellipse">
            <a:avLst/>
          </a:prstGeom>
          <a:solidFill>
            <a:srgbClr val="B9C7D6"/>
          </a:solidFill>
          <a:ln w="12700">
            <a:solidFill>
              <a:srgbClr val="B9C7D6"/>
            </a:solidFill>
            <a:prstDash val="solid"/>
          </a:ln>
        </p:spPr>
      </p:sp>
      <p:sp>
        <p:nvSpPr>
          <p:cNvPr id="23" name="grid-dot-20"/>
          <p:cNvSpPr/>
          <p:nvPr/>
        </p:nvSpPr>
        <p:spPr>
          <a:xfrm>
            <a:off x="10972800" y="2505456"/>
            <a:ext cx="91440" cy="91440"/>
          </a:xfrm>
          <a:prstGeom prst="ellipse">
            <a:avLst/>
          </a:prstGeom>
          <a:solidFill>
            <a:srgbClr val="B9C7D6"/>
          </a:solidFill>
          <a:ln w="12700">
            <a:solidFill>
              <a:srgbClr val="B9C7D6"/>
            </a:solidFill>
            <a:prstDash val="solid"/>
          </a:ln>
        </p:spPr>
      </p:sp>
      <p:sp>
        <p:nvSpPr>
          <p:cNvPr id="24" name="grid-dot-21"/>
          <p:cNvSpPr/>
          <p:nvPr/>
        </p:nvSpPr>
        <p:spPr>
          <a:xfrm>
            <a:off x="8138160" y="3072384"/>
            <a:ext cx="91440" cy="91440"/>
          </a:xfrm>
          <a:prstGeom prst="ellipse">
            <a:avLst/>
          </a:prstGeom>
          <a:solidFill>
            <a:srgbClr val="B9C7D6"/>
          </a:solidFill>
          <a:ln w="12700">
            <a:solidFill>
              <a:srgbClr val="B9C7D6"/>
            </a:solidFill>
            <a:prstDash val="solid"/>
          </a:ln>
        </p:spPr>
      </p:sp>
      <p:sp>
        <p:nvSpPr>
          <p:cNvPr id="25" name="grid-dot-22"/>
          <p:cNvSpPr/>
          <p:nvPr/>
        </p:nvSpPr>
        <p:spPr>
          <a:xfrm>
            <a:off x="8705088" y="3072384"/>
            <a:ext cx="91440" cy="91440"/>
          </a:xfrm>
          <a:prstGeom prst="ellipse">
            <a:avLst/>
          </a:prstGeom>
          <a:solidFill>
            <a:srgbClr val="B9C7D6"/>
          </a:solidFill>
          <a:ln w="12700">
            <a:solidFill>
              <a:srgbClr val="B9C7D6"/>
            </a:solidFill>
            <a:prstDash val="solid"/>
          </a:ln>
        </p:spPr>
      </p:sp>
      <p:sp>
        <p:nvSpPr>
          <p:cNvPr id="26" name="grid-dot-23"/>
          <p:cNvSpPr/>
          <p:nvPr/>
        </p:nvSpPr>
        <p:spPr>
          <a:xfrm>
            <a:off x="9272016" y="3072384"/>
            <a:ext cx="91440" cy="91440"/>
          </a:xfrm>
          <a:prstGeom prst="ellipse">
            <a:avLst/>
          </a:prstGeom>
          <a:solidFill>
            <a:srgbClr val="B9C7D6"/>
          </a:solidFill>
          <a:ln w="12700">
            <a:solidFill>
              <a:srgbClr val="B9C7D6"/>
            </a:solidFill>
            <a:prstDash val="solid"/>
          </a:ln>
        </p:spPr>
      </p:sp>
      <p:sp>
        <p:nvSpPr>
          <p:cNvPr id="27" name="grid-dot-24"/>
          <p:cNvSpPr/>
          <p:nvPr/>
        </p:nvSpPr>
        <p:spPr>
          <a:xfrm>
            <a:off x="9838944" y="3072384"/>
            <a:ext cx="91440" cy="91440"/>
          </a:xfrm>
          <a:prstGeom prst="ellipse">
            <a:avLst/>
          </a:prstGeom>
          <a:solidFill>
            <a:srgbClr val="B9C7D6"/>
          </a:solidFill>
          <a:ln w="12700">
            <a:solidFill>
              <a:srgbClr val="B9C7D6"/>
            </a:solidFill>
            <a:prstDash val="solid"/>
          </a:ln>
        </p:spPr>
      </p:sp>
      <p:sp>
        <p:nvSpPr>
          <p:cNvPr id="28" name="grid-dot-25"/>
          <p:cNvSpPr/>
          <p:nvPr/>
        </p:nvSpPr>
        <p:spPr>
          <a:xfrm>
            <a:off x="10405872" y="3072384"/>
            <a:ext cx="91440" cy="91440"/>
          </a:xfrm>
          <a:prstGeom prst="ellipse">
            <a:avLst/>
          </a:prstGeom>
          <a:solidFill>
            <a:srgbClr val="B9C7D6"/>
          </a:solidFill>
          <a:ln w="12700">
            <a:solidFill>
              <a:srgbClr val="B9C7D6"/>
            </a:solidFill>
            <a:prstDash val="solid"/>
          </a:ln>
        </p:spPr>
      </p:sp>
      <p:sp>
        <p:nvSpPr>
          <p:cNvPr id="29" name="grid-dot-26"/>
          <p:cNvSpPr/>
          <p:nvPr/>
        </p:nvSpPr>
        <p:spPr>
          <a:xfrm>
            <a:off x="10972800" y="3072384"/>
            <a:ext cx="91440" cy="91440"/>
          </a:xfrm>
          <a:prstGeom prst="ellipse">
            <a:avLst/>
          </a:prstGeom>
          <a:solidFill>
            <a:srgbClr val="B9C7D6"/>
          </a:solidFill>
          <a:ln w="12700">
            <a:solidFill>
              <a:srgbClr val="B9C7D6"/>
            </a:solidFill>
            <a:prstDash val="solid"/>
          </a:ln>
        </p:spPr>
      </p:sp>
      <p:sp>
        <p:nvSpPr>
          <p:cNvPr id="30" name="grid-dot-27"/>
          <p:cNvSpPr/>
          <p:nvPr/>
        </p:nvSpPr>
        <p:spPr>
          <a:xfrm>
            <a:off x="8138160" y="3639312"/>
            <a:ext cx="91440" cy="91440"/>
          </a:xfrm>
          <a:prstGeom prst="ellipse">
            <a:avLst/>
          </a:prstGeom>
          <a:solidFill>
            <a:srgbClr val="B9C7D6"/>
          </a:solidFill>
          <a:ln w="12700">
            <a:solidFill>
              <a:srgbClr val="B9C7D6"/>
            </a:solidFill>
            <a:prstDash val="solid"/>
          </a:ln>
        </p:spPr>
      </p:sp>
      <p:sp>
        <p:nvSpPr>
          <p:cNvPr id="31" name="grid-dot-28"/>
          <p:cNvSpPr/>
          <p:nvPr/>
        </p:nvSpPr>
        <p:spPr>
          <a:xfrm>
            <a:off x="8705088" y="3639312"/>
            <a:ext cx="91440" cy="91440"/>
          </a:xfrm>
          <a:prstGeom prst="ellipse">
            <a:avLst/>
          </a:prstGeom>
          <a:solidFill>
            <a:srgbClr val="B9C7D6"/>
          </a:solidFill>
          <a:ln w="12700">
            <a:solidFill>
              <a:srgbClr val="B9C7D6"/>
            </a:solidFill>
            <a:prstDash val="solid"/>
          </a:ln>
        </p:spPr>
      </p:sp>
      <p:sp>
        <p:nvSpPr>
          <p:cNvPr id="32" name="grid-dot-29"/>
          <p:cNvSpPr/>
          <p:nvPr/>
        </p:nvSpPr>
        <p:spPr>
          <a:xfrm>
            <a:off x="9272016" y="3639312"/>
            <a:ext cx="91440" cy="91440"/>
          </a:xfrm>
          <a:prstGeom prst="ellipse">
            <a:avLst/>
          </a:prstGeom>
          <a:solidFill>
            <a:srgbClr val="B9C7D6"/>
          </a:solidFill>
          <a:ln w="12700">
            <a:solidFill>
              <a:srgbClr val="B9C7D6"/>
            </a:solidFill>
            <a:prstDash val="solid"/>
          </a:ln>
        </p:spPr>
      </p:sp>
      <p:sp>
        <p:nvSpPr>
          <p:cNvPr id="33" name="grid-dot-30"/>
          <p:cNvSpPr/>
          <p:nvPr/>
        </p:nvSpPr>
        <p:spPr>
          <a:xfrm>
            <a:off x="9838944" y="3639312"/>
            <a:ext cx="91440" cy="91440"/>
          </a:xfrm>
          <a:prstGeom prst="ellipse">
            <a:avLst/>
          </a:prstGeom>
          <a:solidFill>
            <a:srgbClr val="B9C7D6"/>
          </a:solidFill>
          <a:ln w="12700">
            <a:solidFill>
              <a:srgbClr val="B9C7D6"/>
            </a:solidFill>
            <a:prstDash val="solid"/>
          </a:ln>
        </p:spPr>
      </p:sp>
      <p:sp>
        <p:nvSpPr>
          <p:cNvPr id="34" name="grid-dot-31"/>
          <p:cNvSpPr/>
          <p:nvPr/>
        </p:nvSpPr>
        <p:spPr>
          <a:xfrm>
            <a:off x="10405872" y="3639312"/>
            <a:ext cx="91440" cy="91440"/>
          </a:xfrm>
          <a:prstGeom prst="ellipse">
            <a:avLst/>
          </a:prstGeom>
          <a:solidFill>
            <a:srgbClr val="B9C7D6"/>
          </a:solidFill>
          <a:ln w="12700">
            <a:solidFill>
              <a:srgbClr val="B9C7D6"/>
            </a:solidFill>
            <a:prstDash val="solid"/>
          </a:ln>
        </p:spPr>
      </p:sp>
      <p:sp>
        <p:nvSpPr>
          <p:cNvPr id="35" name="grid-dot-32"/>
          <p:cNvSpPr/>
          <p:nvPr/>
        </p:nvSpPr>
        <p:spPr>
          <a:xfrm>
            <a:off x="10972800" y="3639312"/>
            <a:ext cx="91440" cy="91440"/>
          </a:xfrm>
          <a:prstGeom prst="ellipse">
            <a:avLst/>
          </a:prstGeom>
          <a:solidFill>
            <a:srgbClr val="B9C7D6"/>
          </a:solidFill>
          <a:ln w="12700">
            <a:solidFill>
              <a:srgbClr val="B9C7D6"/>
            </a:solidFill>
            <a:prstDash val="solid"/>
          </a:ln>
        </p:spPr>
      </p:sp>
      <p:sp>
        <p:nvSpPr>
          <p:cNvPr id="36" name="grid-dot-33"/>
          <p:cNvSpPr/>
          <p:nvPr/>
        </p:nvSpPr>
        <p:spPr>
          <a:xfrm>
            <a:off x="8138160" y="4206240"/>
            <a:ext cx="91440" cy="91440"/>
          </a:xfrm>
          <a:prstGeom prst="ellipse">
            <a:avLst/>
          </a:prstGeom>
          <a:solidFill>
            <a:srgbClr val="B9C7D6"/>
          </a:solidFill>
          <a:ln w="12700">
            <a:solidFill>
              <a:srgbClr val="B9C7D6"/>
            </a:solidFill>
            <a:prstDash val="solid"/>
          </a:ln>
        </p:spPr>
      </p:sp>
      <p:sp>
        <p:nvSpPr>
          <p:cNvPr id="37" name="grid-dot-34"/>
          <p:cNvSpPr/>
          <p:nvPr/>
        </p:nvSpPr>
        <p:spPr>
          <a:xfrm>
            <a:off x="8705088" y="4206240"/>
            <a:ext cx="91440" cy="91440"/>
          </a:xfrm>
          <a:prstGeom prst="ellipse">
            <a:avLst/>
          </a:prstGeom>
          <a:solidFill>
            <a:srgbClr val="B9C7D6"/>
          </a:solidFill>
          <a:ln w="12700">
            <a:solidFill>
              <a:srgbClr val="B9C7D6"/>
            </a:solidFill>
            <a:prstDash val="solid"/>
          </a:ln>
        </p:spPr>
      </p:sp>
      <p:sp>
        <p:nvSpPr>
          <p:cNvPr id="38" name="grid-dot-35"/>
          <p:cNvSpPr/>
          <p:nvPr/>
        </p:nvSpPr>
        <p:spPr>
          <a:xfrm>
            <a:off x="9272016" y="4206240"/>
            <a:ext cx="91440" cy="91440"/>
          </a:xfrm>
          <a:prstGeom prst="ellipse">
            <a:avLst/>
          </a:prstGeom>
          <a:solidFill>
            <a:srgbClr val="B9C7D6"/>
          </a:solidFill>
          <a:ln w="12700">
            <a:solidFill>
              <a:srgbClr val="B9C7D6"/>
            </a:solidFill>
            <a:prstDash val="solid"/>
          </a:ln>
        </p:spPr>
      </p:sp>
      <p:sp>
        <p:nvSpPr>
          <p:cNvPr id="39" name="grid-dot-36"/>
          <p:cNvSpPr/>
          <p:nvPr/>
        </p:nvSpPr>
        <p:spPr>
          <a:xfrm>
            <a:off x="9838944" y="4206240"/>
            <a:ext cx="91440" cy="91440"/>
          </a:xfrm>
          <a:prstGeom prst="ellipse">
            <a:avLst/>
          </a:prstGeom>
          <a:solidFill>
            <a:srgbClr val="B9C7D6"/>
          </a:solidFill>
          <a:ln w="12700">
            <a:solidFill>
              <a:srgbClr val="B9C7D6"/>
            </a:solidFill>
            <a:prstDash val="solid"/>
          </a:ln>
        </p:spPr>
      </p:sp>
      <p:sp>
        <p:nvSpPr>
          <p:cNvPr id="40" name="grid-dot-37"/>
          <p:cNvSpPr/>
          <p:nvPr/>
        </p:nvSpPr>
        <p:spPr>
          <a:xfrm>
            <a:off x="10405872" y="4206240"/>
            <a:ext cx="91440" cy="91440"/>
          </a:xfrm>
          <a:prstGeom prst="ellipse">
            <a:avLst/>
          </a:prstGeom>
          <a:solidFill>
            <a:srgbClr val="B9C7D6"/>
          </a:solidFill>
          <a:ln w="12700">
            <a:solidFill>
              <a:srgbClr val="B9C7D6"/>
            </a:solidFill>
            <a:prstDash val="solid"/>
          </a:ln>
        </p:spPr>
      </p:sp>
      <p:sp>
        <p:nvSpPr>
          <p:cNvPr id="41" name="grid-dot-38"/>
          <p:cNvSpPr/>
          <p:nvPr/>
        </p:nvSpPr>
        <p:spPr>
          <a:xfrm>
            <a:off x="10972800" y="4206240"/>
            <a:ext cx="91440" cy="91440"/>
          </a:xfrm>
          <a:prstGeom prst="ellipse">
            <a:avLst/>
          </a:prstGeom>
          <a:solidFill>
            <a:srgbClr val="B9C7D6"/>
          </a:solidFill>
          <a:ln w="12700">
            <a:solidFill>
              <a:srgbClr val="B9C7D6"/>
            </a:solidFill>
            <a:prstDash val="solid"/>
          </a:ln>
        </p:spPr>
      </p:sp>
      <p:sp>
        <p:nvSpPr>
          <p:cNvPr id="42" name="grid-dot-39"/>
          <p:cNvSpPr/>
          <p:nvPr/>
        </p:nvSpPr>
        <p:spPr>
          <a:xfrm>
            <a:off x="8138160" y="4773168"/>
            <a:ext cx="91440" cy="91440"/>
          </a:xfrm>
          <a:prstGeom prst="ellipse">
            <a:avLst/>
          </a:prstGeom>
          <a:solidFill>
            <a:srgbClr val="B9C7D6"/>
          </a:solidFill>
          <a:ln w="12700">
            <a:solidFill>
              <a:srgbClr val="B9C7D6"/>
            </a:solidFill>
            <a:prstDash val="solid"/>
          </a:ln>
        </p:spPr>
      </p:sp>
      <p:sp>
        <p:nvSpPr>
          <p:cNvPr id="43" name="grid-dot-40"/>
          <p:cNvSpPr/>
          <p:nvPr/>
        </p:nvSpPr>
        <p:spPr>
          <a:xfrm>
            <a:off x="8705088" y="4773168"/>
            <a:ext cx="91440" cy="91440"/>
          </a:xfrm>
          <a:prstGeom prst="ellipse">
            <a:avLst/>
          </a:prstGeom>
          <a:solidFill>
            <a:srgbClr val="B9C7D6"/>
          </a:solidFill>
          <a:ln w="12700">
            <a:solidFill>
              <a:srgbClr val="B9C7D6"/>
            </a:solidFill>
            <a:prstDash val="solid"/>
          </a:ln>
        </p:spPr>
      </p:sp>
      <p:sp>
        <p:nvSpPr>
          <p:cNvPr id="44" name="grid-dot-41"/>
          <p:cNvSpPr/>
          <p:nvPr/>
        </p:nvSpPr>
        <p:spPr>
          <a:xfrm>
            <a:off x="9272016" y="4773168"/>
            <a:ext cx="91440" cy="91440"/>
          </a:xfrm>
          <a:prstGeom prst="ellipse">
            <a:avLst/>
          </a:prstGeom>
          <a:solidFill>
            <a:srgbClr val="B9C7D6"/>
          </a:solidFill>
          <a:ln w="12700">
            <a:solidFill>
              <a:srgbClr val="B9C7D6"/>
            </a:solidFill>
            <a:prstDash val="solid"/>
          </a:ln>
        </p:spPr>
      </p:sp>
      <p:sp>
        <p:nvSpPr>
          <p:cNvPr id="45" name="grid-dot-42"/>
          <p:cNvSpPr/>
          <p:nvPr/>
        </p:nvSpPr>
        <p:spPr>
          <a:xfrm>
            <a:off x="9838944" y="4773168"/>
            <a:ext cx="91440" cy="91440"/>
          </a:xfrm>
          <a:prstGeom prst="ellipse">
            <a:avLst/>
          </a:prstGeom>
          <a:solidFill>
            <a:srgbClr val="B9C7D6"/>
          </a:solidFill>
          <a:ln w="12700">
            <a:solidFill>
              <a:srgbClr val="B9C7D6"/>
            </a:solidFill>
            <a:prstDash val="solid"/>
          </a:ln>
        </p:spPr>
      </p:sp>
      <p:sp>
        <p:nvSpPr>
          <p:cNvPr id="46" name="grid-dot-43"/>
          <p:cNvSpPr/>
          <p:nvPr/>
        </p:nvSpPr>
        <p:spPr>
          <a:xfrm>
            <a:off x="10405872" y="4773168"/>
            <a:ext cx="91440" cy="91440"/>
          </a:xfrm>
          <a:prstGeom prst="ellipse">
            <a:avLst/>
          </a:prstGeom>
          <a:solidFill>
            <a:srgbClr val="B9C7D6"/>
          </a:solidFill>
          <a:ln w="12700">
            <a:solidFill>
              <a:srgbClr val="B9C7D6"/>
            </a:solidFill>
            <a:prstDash val="solid"/>
          </a:ln>
        </p:spPr>
      </p:sp>
      <p:sp>
        <p:nvSpPr>
          <p:cNvPr id="47" name="grid-dot-44"/>
          <p:cNvSpPr/>
          <p:nvPr/>
        </p:nvSpPr>
        <p:spPr>
          <a:xfrm>
            <a:off x="10972800" y="4773168"/>
            <a:ext cx="91440" cy="91440"/>
          </a:xfrm>
          <a:prstGeom prst="ellipse">
            <a:avLst/>
          </a:prstGeom>
          <a:solidFill>
            <a:srgbClr val="B9C7D6"/>
          </a:solidFill>
          <a:ln w="12700">
            <a:solidFill>
              <a:srgbClr val="B9C7D6"/>
            </a:solidFill>
            <a:prstDash val="solid"/>
          </a:ln>
        </p:spPr>
      </p:sp>
      <p:sp>
        <p:nvSpPr>
          <p:cNvPr id="48" name="candidate-region-45"/>
          <p:cNvSpPr/>
          <p:nvPr/>
        </p:nvSpPr>
        <p:spPr>
          <a:xfrm rot="-1200000">
            <a:off x="8915400" y="2990088"/>
            <a:ext cx="1371600" cy="822960"/>
          </a:xfrm>
          <a:prstGeom prst="rect">
            <a:avLst/>
          </a:prstGeom>
          <a:noFill/>
          <a:ln w="22225">
            <a:solidFill>
              <a:schemeClr val="accent1"/>
            </a:solidFill>
            <a:prstDash val="dash"/>
          </a:ln>
        </p:spPr>
      </p:sp>
      <p:sp>
        <p:nvSpPr>
          <p:cNvPr id="49" name="captured-anchor-46"/>
          <p:cNvSpPr/>
          <p:nvPr/>
        </p:nvSpPr>
        <p:spPr>
          <a:xfrm>
            <a:off x="9253728" y="3054096"/>
            <a:ext cx="128016" cy="128016"/>
          </a:xfrm>
          <a:prstGeom prst="ellipse">
            <a:avLst/>
          </a:prstGeom>
          <a:solidFill>
            <a:schemeClr val="accent1"/>
          </a:solidFill>
          <a:ln w="12700">
            <a:solidFill>
              <a:schemeClr val="accent1"/>
            </a:solidFill>
            <a:prstDash val="solid"/>
          </a:ln>
        </p:spPr>
      </p:sp>
      <p:sp>
        <p:nvSpPr>
          <p:cNvPr id="50" name="captured-anchor-47"/>
          <p:cNvSpPr/>
          <p:nvPr/>
        </p:nvSpPr>
        <p:spPr>
          <a:xfrm>
            <a:off x="9820656" y="3054096"/>
            <a:ext cx="128016" cy="128016"/>
          </a:xfrm>
          <a:prstGeom prst="ellipse">
            <a:avLst/>
          </a:prstGeom>
          <a:solidFill>
            <a:schemeClr val="accent1"/>
          </a:solidFill>
          <a:ln w="12700">
            <a:solidFill>
              <a:schemeClr val="accent1"/>
            </a:solidFill>
            <a:prstDash val="solid"/>
          </a:ln>
        </p:spPr>
      </p:sp>
      <p:sp>
        <p:nvSpPr>
          <p:cNvPr id="51" name="captured-anchor-48"/>
          <p:cNvSpPr/>
          <p:nvPr/>
        </p:nvSpPr>
        <p:spPr>
          <a:xfrm>
            <a:off x="9253728" y="3621024"/>
            <a:ext cx="128016" cy="128016"/>
          </a:xfrm>
          <a:prstGeom prst="ellipse">
            <a:avLst/>
          </a:prstGeom>
          <a:solidFill>
            <a:schemeClr val="accent1"/>
          </a:solidFill>
          <a:ln w="12700">
            <a:solidFill>
              <a:schemeClr val="accent1"/>
            </a:solidFill>
            <a:prstDash val="solid"/>
          </a:ln>
        </p:spPr>
      </p:sp>
      <p:sp>
        <p:nvSpPr>
          <p:cNvPr id="52" name="captured-anchor-49"/>
          <p:cNvSpPr/>
          <p:nvPr/>
        </p:nvSpPr>
        <p:spPr>
          <a:xfrm>
            <a:off x="9820656" y="3621024"/>
            <a:ext cx="128016" cy="128016"/>
          </a:xfrm>
          <a:prstGeom prst="ellipse">
            <a:avLst/>
          </a:prstGeom>
          <a:solidFill>
            <a:schemeClr val="accent1"/>
          </a:solidFill>
          <a:ln w="12700">
            <a:solidFill>
              <a:schemeClr val="accent1"/>
            </a:solidFill>
            <a:prstDash val="solid"/>
          </a:ln>
        </p:spPr>
      </p:sp>
      <p:sp>
        <p:nvSpPr>
          <p:cNvPr id="53" name="tiny-box-50"/>
          <p:cNvSpPr/>
          <p:nvPr/>
        </p:nvSpPr>
        <p:spPr>
          <a:xfrm rot="-1200000">
            <a:off x="9317736" y="3300984"/>
            <a:ext cx="566928" cy="201168"/>
          </a:xfrm>
          <a:prstGeom prst="rect">
            <a:avLst/>
          </a:prstGeom>
          <a:solidFill>
            <a:schemeClr val="accent1"/>
          </a:solidFill>
          <a:ln w="12700">
            <a:solidFill>
              <a:schemeClr val="accent1"/>
            </a:solidFill>
            <a:prstDash val="solid"/>
          </a:ln>
        </p:spPr>
      </p:sp>
      <p:sp>
        <p:nvSpPr>
          <p:cNvPr id="54" name="text-51"/>
          <p:cNvSpPr txBox="1"/>
          <p:nvPr/>
        </p:nvSpPr>
        <p:spPr>
          <a:xfrm>
            <a:off x="8001000" y="5257800"/>
            <a:ext cx="3566160" cy="548640"/>
          </a:xfrm>
          <a:prstGeom prst="rect">
            <a:avLst/>
          </a:prstGeom>
          <a:noFill/>
          <a:ln/>
        </p:spPr>
        <p:txBody>
          <a:bodyPr wrap="square" lIns="0" tIns="0" rIns="0" bIns="0" rtlCol="0" anchor="t"/>
          <a:lstStyle/>
          <a:p>
            <a:pPr indent="0" marL="0">
              <a:buNone/>
            </a:pPr>
            <a:r>
              <a:rPr lang="en-US" sz="1100" i="1" dirty="0">
                <a:solidFill>
                  <a:srgbClr val="B9C7D6"/>
                </a:solidFill>
              </a:rPr>
              <a:t>a tiny rotated box between anchor points; the enlarged candidate region (dashed) captures four of them</a:t>
            </a:r>
            <a:endParaRPr lang="en-US" sz="1100" dirty="0"/>
          </a:p>
        </p:txBody>
      </p:sp>
      <p:sp>
        <p:nvSpPr>
          <p:cNvPr id="55" name="card-52"/>
          <p:cNvSpPr/>
          <p:nvPr/>
        </p:nvSpPr>
        <p:spPr>
          <a:xfrm>
            <a:off x="10012680" y="411480"/>
            <a:ext cx="1691640" cy="731520"/>
          </a:xfrm>
          <a:prstGeom prst="roundRect">
            <a:avLst>
              <a:gd name="adj" fmla="val 10000"/>
            </a:avLst>
          </a:prstGeom>
          <a:solidFill>
            <a:schemeClr val="bg1"/>
          </a:solidFill>
          <a:ln w="12700">
            <a:solidFill>
              <a:schemeClr val="bg1"/>
            </a:solidFill>
            <a:prstDash val="solid"/>
          </a:ln>
        </p:spPr>
      </p:sp>
      <p:pic>
        <p:nvPicPr>
          <p:cNvPr id="56" name="logo-title" descr="FPT University logo">    </p:cNvPr>
          <p:cNvPicPr>
            <a:picLocks noChangeAspect="1"/>
          </p:cNvPicPr>
          <p:nvPr/>
        </p:nvPicPr>
        <p:blipFill>
          <a:blip r:embed="rId1"/>
          <a:stretch>
            <a:fillRect/>
          </a:stretch>
        </p:blipFill>
        <p:spPr>
          <a:xfrm>
            <a:off x="10104120" y="484632"/>
            <a:ext cx="1508760" cy="5852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Tiny objects are where detectors fail</a:t>
            </a:r>
            <a:endParaRPr lang="en-US" sz="3000" dirty="0"/>
          </a:p>
        </p:txBody>
      </p:sp>
      <p:sp>
        <p:nvSpPr>
          <p:cNvPr id="3" name="card-53"/>
          <p:cNvSpPr/>
          <p:nvPr/>
        </p:nvSpPr>
        <p:spPr>
          <a:xfrm>
            <a:off x="548640" y="1417320"/>
            <a:ext cx="3538728" cy="2103120"/>
          </a:xfrm>
          <a:prstGeom prst="roundRect">
            <a:avLst>
              <a:gd name="adj" fmla="val 3478"/>
            </a:avLst>
          </a:prstGeom>
          <a:solidFill>
            <a:schemeClr val="bg2"/>
          </a:solidFill>
          <a:ln w="12700">
            <a:solidFill>
              <a:schemeClr val="bg2"/>
            </a:solidFill>
            <a:prstDash val="solid"/>
          </a:ln>
        </p:spPr>
      </p:sp>
      <p:sp>
        <p:nvSpPr>
          <p:cNvPr id="4" name="text-54"/>
          <p:cNvSpPr txBox="1"/>
          <p:nvPr/>
        </p:nvSpPr>
        <p:spPr>
          <a:xfrm>
            <a:off x="822960" y="1600200"/>
            <a:ext cx="3017520" cy="822960"/>
          </a:xfrm>
          <a:prstGeom prst="rect">
            <a:avLst/>
          </a:prstGeom>
          <a:noFill/>
          <a:ln/>
        </p:spPr>
        <p:txBody>
          <a:bodyPr wrap="square" lIns="0" tIns="0" rIns="0" bIns="0" rtlCol="0" anchor="t"/>
          <a:lstStyle/>
          <a:p>
            <a:pPr indent="0" marL="0">
              <a:buNone/>
            </a:pPr>
            <a:r>
              <a:rPr lang="en-US" sz="4400" b="1" dirty="0">
                <a:solidFill>
                  <a:schemeClr val="accent2"/>
                </a:solidFill>
              </a:rPr>
              <a:t>10.6 px</a:t>
            </a:r>
            <a:endParaRPr lang="en-US" sz="4400" dirty="0"/>
          </a:p>
        </p:txBody>
      </p:sp>
      <p:sp>
        <p:nvSpPr>
          <p:cNvPr id="5" name="text-55"/>
          <p:cNvSpPr txBox="1"/>
          <p:nvPr/>
        </p:nvSpPr>
        <p:spPr>
          <a:xfrm>
            <a:off x="822960" y="2468880"/>
            <a:ext cx="3017520" cy="960120"/>
          </a:xfrm>
          <a:prstGeom prst="rect">
            <a:avLst/>
          </a:prstGeom>
          <a:noFill/>
          <a:ln/>
        </p:spPr>
        <p:txBody>
          <a:bodyPr wrap="square" lIns="0" tIns="0" rIns="0" bIns="0" rtlCol="0" anchor="t"/>
          <a:lstStyle/>
          <a:p>
            <a:pPr indent="0" marL="0">
              <a:buNone/>
            </a:pPr>
            <a:r>
              <a:rPr lang="en-US" sz="1400" dirty="0">
                <a:solidFill>
                  <a:schemeClr val="tx1"/>
                </a:solidFill>
              </a:rPr>
              <a:t>mean object size in AI-TOD-R, with a spread of ±4.9 px; most objects are under 16×16 px [3]</a:t>
            </a:r>
            <a:endParaRPr lang="en-US" sz="1400" dirty="0"/>
          </a:p>
        </p:txBody>
      </p:sp>
      <p:sp>
        <p:nvSpPr>
          <p:cNvPr id="6" name="card-56"/>
          <p:cNvSpPr/>
          <p:nvPr/>
        </p:nvSpPr>
        <p:spPr>
          <a:xfrm>
            <a:off x="4325112" y="1417320"/>
            <a:ext cx="3538728" cy="2103120"/>
          </a:xfrm>
          <a:prstGeom prst="roundRect">
            <a:avLst>
              <a:gd name="adj" fmla="val 3478"/>
            </a:avLst>
          </a:prstGeom>
          <a:solidFill>
            <a:schemeClr val="bg2"/>
          </a:solidFill>
          <a:ln w="12700">
            <a:solidFill>
              <a:schemeClr val="bg2"/>
            </a:solidFill>
            <a:prstDash val="solid"/>
          </a:ln>
        </p:spPr>
      </p:sp>
      <p:sp>
        <p:nvSpPr>
          <p:cNvPr id="7" name="text-57"/>
          <p:cNvSpPr txBox="1"/>
          <p:nvPr/>
        </p:nvSpPr>
        <p:spPr>
          <a:xfrm>
            <a:off x="4599432" y="1600200"/>
            <a:ext cx="3017520" cy="822960"/>
          </a:xfrm>
          <a:prstGeom prst="rect">
            <a:avLst/>
          </a:prstGeom>
          <a:noFill/>
          <a:ln/>
        </p:spPr>
        <p:txBody>
          <a:bodyPr wrap="square" lIns="0" tIns="0" rIns="0" bIns="0" rtlCol="0" anchor="t"/>
          <a:lstStyle/>
          <a:p>
            <a:pPr indent="0" marL="0">
              <a:buNone/>
            </a:pPr>
            <a:r>
              <a:rPr lang="en-US" sz="4400" b="1" dirty="0">
                <a:solidFill>
                  <a:schemeClr val="accent2"/>
                </a:solidFill>
              </a:rPr>
              <a:t>17.5 AP</a:t>
            </a:r>
            <a:endParaRPr lang="en-US" sz="4400" dirty="0"/>
          </a:p>
        </p:txBody>
      </p:sp>
      <p:sp>
        <p:nvSpPr>
          <p:cNvPr id="8" name="text-58"/>
          <p:cNvSpPr txBox="1"/>
          <p:nvPr/>
        </p:nvSpPr>
        <p:spPr>
          <a:xfrm>
            <a:off x="4599432" y="2468880"/>
            <a:ext cx="3017520" cy="960120"/>
          </a:xfrm>
          <a:prstGeom prst="rect">
            <a:avLst/>
          </a:prstGeom>
          <a:noFill/>
          <a:ln/>
        </p:spPr>
        <p:txBody>
          <a:bodyPr wrap="square" lIns="0" tIns="0" rIns="0" bIns="0" rtlCol="0" anchor="t"/>
          <a:lstStyle/>
          <a:p>
            <a:pPr indent="0" marL="0">
              <a:buNone/>
            </a:pPr>
            <a:r>
              <a:rPr lang="en-US" sz="1400" dirty="0">
                <a:solidFill>
                  <a:schemeClr val="tx1"/>
                </a:solidFill>
              </a:rPr>
              <a:t>best published result (DCFL) on this benchmark, but only 6.5 </a:t>
            </a:r>
            <a:pPr indent="0" marL="0">
              <a:buNone/>
            </a:pPr>
            <a:r>
              <a:rPr lang="en-US" sz="1400" dirty="0">
                <a:solidFill>
                  <a:schemeClr val="tx1"/>
                </a:solidFill>
              </a:rPr>
              <a:t>AP</a:t>
            </a:r>
            <a:pPr indent="0" marL="0">
              <a:buNone/>
            </a:pPr>
            <a:r>
              <a:rPr lang="en-US" sz="1400" baseline="-40000" dirty="0">
                <a:solidFill>
                  <a:schemeClr val="tx1"/>
                </a:solidFill>
              </a:rPr>
              <a:t>vt</a:t>
            </a:r>
            <a:pPr indent="0" marL="0">
              <a:buNone/>
            </a:pPr>
            <a:r>
              <a:rPr lang="en-US" sz="1400" dirty="0">
                <a:solidFill>
                  <a:schemeClr val="tx1"/>
                </a:solidFill>
              </a:rPr>
              <a:t> on very tiny objects [3]</a:t>
            </a:r>
            <a:endParaRPr lang="en-US" sz="1400" dirty="0"/>
          </a:p>
        </p:txBody>
      </p:sp>
      <p:sp>
        <p:nvSpPr>
          <p:cNvPr id="9" name="card-59"/>
          <p:cNvSpPr/>
          <p:nvPr/>
        </p:nvSpPr>
        <p:spPr>
          <a:xfrm>
            <a:off x="8101584" y="1417320"/>
            <a:ext cx="3538728" cy="2103120"/>
          </a:xfrm>
          <a:prstGeom prst="roundRect">
            <a:avLst>
              <a:gd name="adj" fmla="val 3478"/>
            </a:avLst>
          </a:prstGeom>
          <a:solidFill>
            <a:schemeClr val="bg2"/>
          </a:solidFill>
          <a:ln w="12700">
            <a:solidFill>
              <a:schemeClr val="bg2"/>
            </a:solidFill>
            <a:prstDash val="solid"/>
          </a:ln>
        </p:spPr>
      </p:sp>
      <p:sp>
        <p:nvSpPr>
          <p:cNvPr id="10" name="text-60"/>
          <p:cNvSpPr txBox="1"/>
          <p:nvPr/>
        </p:nvSpPr>
        <p:spPr>
          <a:xfrm>
            <a:off x="8375904" y="1600200"/>
            <a:ext cx="3017520" cy="822960"/>
          </a:xfrm>
          <a:prstGeom prst="rect">
            <a:avLst/>
          </a:prstGeom>
          <a:noFill/>
          <a:ln/>
        </p:spPr>
        <p:txBody>
          <a:bodyPr wrap="square" lIns="0" tIns="0" rIns="0" bIns="0" rtlCol="0" anchor="t"/>
          <a:lstStyle/>
          <a:p>
            <a:pPr indent="0" marL="0">
              <a:buNone/>
            </a:pPr>
            <a:r>
              <a:rPr lang="en-US" sz="4400" b="1" dirty="0">
                <a:solidFill>
                  <a:schemeClr val="accent2"/>
                </a:solidFill>
              </a:rPr>
              <a:t>0.6 AP</a:t>
            </a:r>
            <a:endParaRPr lang="en-US" sz="4400" dirty="0"/>
          </a:p>
        </p:txBody>
      </p:sp>
      <p:sp>
        <p:nvSpPr>
          <p:cNvPr id="11" name="text-61"/>
          <p:cNvSpPr txBox="1"/>
          <p:nvPr/>
        </p:nvSpPr>
        <p:spPr>
          <a:xfrm>
            <a:off x="8375904" y="2468880"/>
            <a:ext cx="3017520" cy="960120"/>
          </a:xfrm>
          <a:prstGeom prst="rect">
            <a:avLst/>
          </a:prstGeom>
          <a:noFill/>
          <a:ln/>
        </p:spPr>
        <p:txBody>
          <a:bodyPr wrap="square" lIns="0" tIns="0" rIns="0" bIns="0" rtlCol="0" anchor="t"/>
          <a:lstStyle/>
          <a:p>
            <a:pPr indent="0" marL="0">
              <a:buNone/>
            </a:pPr>
            <a:r>
              <a:rPr lang="en-US" sz="1400" dirty="0">
                <a:solidFill>
                  <a:schemeClr val="tx1"/>
                </a:solidFill>
              </a:rPr>
              <a:t>Oriented R-CNN on very tiny objects, against 11.2 AP overall [3]</a:t>
            </a:r>
            <a:endParaRPr lang="en-US" sz="1400" dirty="0"/>
          </a:p>
        </p:txBody>
      </p:sp>
      <p:sp>
        <p:nvSpPr>
          <p:cNvPr id="12" name="card-62"/>
          <p:cNvSpPr/>
          <p:nvPr/>
        </p:nvSpPr>
        <p:spPr>
          <a:xfrm>
            <a:off x="548640" y="3794760"/>
            <a:ext cx="6720840" cy="1874520"/>
          </a:xfrm>
          <a:prstGeom prst="roundRect">
            <a:avLst>
              <a:gd name="adj" fmla="val 3902"/>
            </a:avLst>
          </a:prstGeom>
          <a:solidFill>
            <a:srgbClr val="FDEBDD"/>
          </a:solidFill>
          <a:ln w="12700">
            <a:solidFill>
              <a:srgbClr val="FDEBDD"/>
            </a:solidFill>
            <a:prstDash val="solid"/>
          </a:ln>
        </p:spPr>
      </p:sp>
      <p:sp>
        <p:nvSpPr>
          <p:cNvPr id="13" name="text-63"/>
          <p:cNvSpPr txBox="1"/>
          <p:nvPr/>
        </p:nvSpPr>
        <p:spPr>
          <a:xfrm>
            <a:off x="868680" y="4023360"/>
            <a:ext cx="6126480" cy="960120"/>
          </a:xfrm>
          <a:prstGeom prst="rect">
            <a:avLst/>
          </a:prstGeom>
          <a:noFill/>
          <a:ln/>
        </p:spPr>
        <p:txBody>
          <a:bodyPr wrap="square" lIns="0" tIns="0" rIns="0" bIns="0" rtlCol="0" anchor="t"/>
          <a:lstStyle/>
          <a:p>
            <a:pPr indent="0" marL="0">
              <a:buNone/>
            </a:pPr>
            <a:r>
              <a:rPr lang="en-US" sz="2000" i="1" dirty="0">
                <a:solidFill>
                  <a:schemeClr val="tx1"/>
                </a:solidFill>
              </a:rPr>
              <a:t>“Tiny-scale objects receive significantly fewer positive samples than larger-scale objects.”</a:t>
            </a:r>
            <a:endParaRPr lang="en-US" sz="2000" dirty="0"/>
          </a:p>
        </p:txBody>
      </p:sp>
      <p:sp>
        <p:nvSpPr>
          <p:cNvPr id="14" name="text-64"/>
          <p:cNvSpPr txBox="1"/>
          <p:nvPr/>
        </p:nvSpPr>
        <p:spPr>
          <a:xfrm>
            <a:off x="868680" y="5120640"/>
            <a:ext cx="6126480" cy="365760"/>
          </a:xfrm>
          <a:prstGeom prst="rect">
            <a:avLst/>
          </a:prstGeom>
          <a:noFill/>
          <a:ln/>
        </p:spPr>
        <p:txBody>
          <a:bodyPr wrap="square" lIns="0" tIns="0" rIns="0" bIns="0" rtlCol="0" anchor="t"/>
          <a:lstStyle/>
          <a:p>
            <a:pPr indent="0" marL="0">
              <a:buNone/>
            </a:pPr>
            <a:r>
              <a:rPr lang="en-US" sz="1300" dirty="0">
                <a:solidFill>
                  <a:schemeClr val="accent6"/>
                </a:solidFill>
              </a:rPr>
              <a:t>— Xu et al., AI-TOD-R, IEEE TPAMI [3]</a:t>
            </a:r>
            <a:endParaRPr lang="en-US" sz="1300" dirty="0"/>
          </a:p>
        </p:txBody>
      </p:sp>
      <p:sp>
        <p:nvSpPr>
          <p:cNvPr id="15" name="card-65"/>
          <p:cNvSpPr/>
          <p:nvPr/>
        </p:nvSpPr>
        <p:spPr>
          <a:xfrm>
            <a:off x="7498080" y="3794760"/>
            <a:ext cx="4142232" cy="1874520"/>
          </a:xfrm>
          <a:prstGeom prst="roundRect">
            <a:avLst>
              <a:gd name="adj" fmla="val 3902"/>
            </a:avLst>
          </a:prstGeom>
          <a:solidFill>
            <a:schemeClr val="bg2"/>
          </a:solidFill>
          <a:ln w="12700">
            <a:solidFill>
              <a:schemeClr val="bg2"/>
            </a:solidFill>
            <a:prstDash val="solid"/>
          </a:ln>
        </p:spPr>
      </p:sp>
      <p:sp>
        <p:nvSpPr>
          <p:cNvPr id="16" name="icon-disc-66"/>
          <p:cNvSpPr/>
          <p:nvPr/>
        </p:nvSpPr>
        <p:spPr>
          <a:xfrm>
            <a:off x="7726680" y="4023360"/>
            <a:ext cx="530352" cy="530352"/>
          </a:xfrm>
          <a:prstGeom prst="ellipse">
            <a:avLst/>
          </a:prstGeom>
          <a:solidFill>
            <a:schemeClr val="accent2"/>
          </a:solidFill>
          <a:ln w="12700">
            <a:solidFill>
              <a:schemeClr val="accent2"/>
            </a:solidFill>
            <a:prstDash val="solid"/>
          </a:ln>
        </p:spPr>
      </p:sp>
      <p:pic>
        <p:nvPicPr>
          <p:cNvPr id="17" name="icon-67" descr="icon">    </p:cNvPr>
          <p:cNvPicPr>
            <a:picLocks noChangeAspect="1"/>
          </p:cNvPicPr>
          <p:nvPr/>
        </p:nvPicPr>
        <p:blipFill>
          <a:blip r:embed="rId1"/>
          <a:stretch>
            <a:fillRect/>
          </a:stretch>
        </p:blipFill>
        <p:spPr>
          <a:xfrm>
            <a:off x="7853964" y="4150644"/>
            <a:ext cx="275783" cy="275783"/>
          </a:xfrm>
          <a:prstGeom prst="rect">
            <a:avLst/>
          </a:prstGeom>
        </p:spPr>
      </p:pic>
      <p:sp>
        <p:nvSpPr>
          <p:cNvPr id="18" name="text-68"/>
          <p:cNvSpPr txBox="1"/>
          <p:nvPr/>
        </p:nvSpPr>
        <p:spPr>
          <a:xfrm>
            <a:off x="8412480" y="4069080"/>
            <a:ext cx="3108960" cy="411480"/>
          </a:xfrm>
          <a:prstGeom prst="rect">
            <a:avLst/>
          </a:prstGeom>
          <a:noFill/>
          <a:ln/>
        </p:spPr>
        <p:txBody>
          <a:bodyPr wrap="square" lIns="0" tIns="0" rIns="0" bIns="0" rtlCol="0" anchor="t"/>
          <a:lstStyle/>
          <a:p>
            <a:pPr indent="0" marL="0">
              <a:buNone/>
            </a:pPr>
            <a:r>
              <a:rPr lang="en-US" sz="1600" b="1" dirty="0">
                <a:solidFill>
                  <a:schemeClr val="tx1"/>
                </a:solidFill>
              </a:rPr>
              <a:t>Why real-time detectors?</a:t>
            </a:r>
            <a:endParaRPr lang="en-US" sz="1600" dirty="0"/>
          </a:p>
        </p:txBody>
      </p:sp>
      <p:sp>
        <p:nvSpPr>
          <p:cNvPr id="19" name="text-69"/>
          <p:cNvSpPr txBox="1"/>
          <p:nvPr/>
        </p:nvSpPr>
        <p:spPr>
          <a:xfrm>
            <a:off x="7726680" y="4663440"/>
            <a:ext cx="3749040" cy="914400"/>
          </a:xfrm>
          <a:prstGeom prst="rect">
            <a:avLst/>
          </a:prstGeom>
          <a:noFill/>
          <a:ln/>
        </p:spPr>
        <p:txBody>
          <a:bodyPr wrap="square" lIns="0" tIns="0" rIns="0" bIns="0" rtlCol="0" anchor="t"/>
          <a:lstStyle/>
          <a:p>
            <a:pPr indent="0" marL="0">
              <a:buNone/>
            </a:pPr>
            <a:r>
              <a:rPr lang="en-US" sz="1400" dirty="0">
                <a:solidFill>
                  <a:schemeClr val="tx1"/>
                </a:solidFill>
              </a:rPr>
              <a:t>Drones and edge devices run on tight latency and power budgets; YOLO models export to TensorRT and ONNX [1].</a:t>
            </a:r>
            <a:endParaRPr lang="en-US" sz="1400" dirty="0"/>
          </a:p>
        </p:txBody>
      </p:sp>
      <p:sp>
        <p:nvSpPr>
          <p:cNvPr id="20" name="text-70"/>
          <p:cNvSpPr txBox="1"/>
          <p:nvPr/>
        </p:nvSpPr>
        <p:spPr>
          <a:xfrm>
            <a:off x="548640" y="5870448"/>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AI-TOD-R: 28,036 images · 752,460 oriented boxes · 8 classes · often more than 100 objects per image [3]</a:t>
            </a:r>
            <a:endParaRPr lang="en-US" sz="12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Too small for the grid, no training signal</a:t>
            </a:r>
            <a:endParaRPr lang="en-US" sz="3000" dirty="0"/>
          </a:p>
        </p:txBody>
      </p:sp>
      <p:sp>
        <p:nvSpPr>
          <p:cNvPr id="3" name="card-71"/>
          <p:cNvSpPr/>
          <p:nvPr/>
        </p:nvSpPr>
        <p:spPr>
          <a:xfrm>
            <a:off x="548640" y="1417320"/>
            <a:ext cx="3291840" cy="2240280"/>
          </a:xfrm>
          <a:prstGeom prst="roundRect">
            <a:avLst>
              <a:gd name="adj" fmla="val 3265"/>
            </a:avLst>
          </a:prstGeom>
          <a:solidFill>
            <a:srgbClr val="FDEBDD"/>
          </a:solidFill>
          <a:ln w="12700">
            <a:solidFill>
              <a:srgbClr val="FDEBDD"/>
            </a:solidFill>
            <a:prstDash val="solid"/>
          </a:ln>
        </p:spPr>
      </p:sp>
      <p:sp>
        <p:nvSpPr>
          <p:cNvPr id="4" name="badge-72"/>
          <p:cNvSpPr/>
          <p:nvPr/>
        </p:nvSpPr>
        <p:spPr>
          <a:xfrm>
            <a:off x="822960" y="1645920"/>
            <a:ext cx="457200" cy="457200"/>
          </a:xfrm>
          <a:prstGeom prst="ellipse">
            <a:avLst/>
          </a:prstGeom>
          <a:solidFill>
            <a:schemeClr val="tx1"/>
          </a:solidFill>
          <a:ln w="12700">
            <a:solidFill>
              <a:schemeClr val="tx1"/>
            </a:solidFill>
            <a:prstDash val="solid"/>
          </a:ln>
        </p:spPr>
      </p:sp>
      <p:sp>
        <p:nvSpPr>
          <p:cNvPr id="5" name="text-73"/>
          <p:cNvSpPr txBox="1"/>
          <p:nvPr/>
        </p:nvSpPr>
        <p:spPr>
          <a:xfrm>
            <a:off x="82296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74"/>
          <p:cNvSpPr txBox="1"/>
          <p:nvPr/>
        </p:nvSpPr>
        <p:spPr>
          <a:xfrm>
            <a:off x="1417320" y="1691640"/>
            <a:ext cx="2286000" cy="411480"/>
          </a:xfrm>
          <a:prstGeom prst="rect">
            <a:avLst/>
          </a:prstGeom>
          <a:noFill/>
          <a:ln/>
        </p:spPr>
        <p:txBody>
          <a:bodyPr wrap="square" lIns="0" tIns="0" rIns="0" bIns="0" rtlCol="0" anchor="t"/>
          <a:lstStyle/>
          <a:p>
            <a:pPr indent="0" marL="0">
              <a:buNone/>
            </a:pPr>
            <a:r>
              <a:rPr lang="en-US" sz="1700" b="1" dirty="0">
                <a:solidFill>
                  <a:schemeClr val="tx1"/>
                </a:solidFill>
              </a:rPr>
              <a:t>Candidate selection</a:t>
            </a:r>
            <a:endParaRPr lang="en-US" sz="1700" dirty="0"/>
          </a:p>
        </p:txBody>
      </p:sp>
      <p:sp>
        <p:nvSpPr>
          <p:cNvPr id="7" name="text-75"/>
          <p:cNvSpPr txBox="1"/>
          <p:nvPr/>
        </p:nvSpPr>
        <p:spPr>
          <a:xfrm>
            <a:off x="822960" y="2286000"/>
            <a:ext cx="2788920" cy="914400"/>
          </a:xfrm>
          <a:prstGeom prst="rect">
            <a:avLst/>
          </a:prstGeom>
          <a:noFill/>
          <a:ln/>
        </p:spPr>
        <p:txBody>
          <a:bodyPr wrap="square" lIns="0" tIns="0" rIns="0" bIns="0" rtlCol="0" anchor="t"/>
          <a:lstStyle/>
          <a:p>
            <a:pPr indent="0" marL="0">
              <a:buNone/>
            </a:pPr>
            <a:r>
              <a:rPr lang="en-US" sz="1400" dirty="0">
                <a:solidFill>
                  <a:schemeClr val="tx1"/>
                </a:solidFill>
              </a:rPr>
              <a:t>Keep anchor points whose centres fall inside a candidate region around the ground-truth (GT) box.</a:t>
            </a:r>
            <a:endParaRPr lang="en-US" sz="1400" dirty="0"/>
          </a:p>
        </p:txBody>
      </p:sp>
      <p:sp>
        <p:nvSpPr>
          <p:cNvPr id="8" name="text-76"/>
          <p:cNvSpPr txBox="1"/>
          <p:nvPr/>
        </p:nvSpPr>
        <p:spPr>
          <a:xfrm>
            <a:off x="822960" y="3273552"/>
            <a:ext cx="27889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STUDIED IN THIS PROJECT</a:t>
            </a:r>
            <a:endParaRPr lang="en-US" sz="1100" dirty="0"/>
          </a:p>
        </p:txBody>
      </p:sp>
      <p:sp>
        <p:nvSpPr>
          <p:cNvPr id="9" name="arrow-77"/>
          <p:cNvSpPr/>
          <p:nvPr/>
        </p:nvSpPr>
        <p:spPr>
          <a:xfrm>
            <a:off x="3913632" y="2377440"/>
            <a:ext cx="338328" cy="320040"/>
          </a:xfrm>
          <a:prstGeom prst="rightArrow">
            <a:avLst/>
          </a:prstGeom>
          <a:solidFill>
            <a:schemeClr val="accent6"/>
          </a:solidFill>
          <a:ln w="12700">
            <a:solidFill>
              <a:schemeClr val="accent6"/>
            </a:solidFill>
            <a:prstDash val="solid"/>
          </a:ln>
        </p:spPr>
      </p:sp>
      <p:sp>
        <p:nvSpPr>
          <p:cNvPr id="10" name="card-78"/>
          <p:cNvSpPr/>
          <p:nvPr/>
        </p:nvSpPr>
        <p:spPr>
          <a:xfrm>
            <a:off x="4325112" y="1417320"/>
            <a:ext cx="3291840" cy="2240280"/>
          </a:xfrm>
          <a:prstGeom prst="roundRect">
            <a:avLst>
              <a:gd name="adj" fmla="val 3265"/>
            </a:avLst>
          </a:prstGeom>
          <a:solidFill>
            <a:schemeClr val="bg2"/>
          </a:solidFill>
          <a:ln w="12700">
            <a:solidFill>
              <a:schemeClr val="bg2"/>
            </a:solidFill>
            <a:prstDash val="solid"/>
          </a:ln>
        </p:spPr>
      </p:sp>
      <p:sp>
        <p:nvSpPr>
          <p:cNvPr id="11" name="badge-79"/>
          <p:cNvSpPr/>
          <p:nvPr/>
        </p:nvSpPr>
        <p:spPr>
          <a:xfrm>
            <a:off x="4599432" y="1645920"/>
            <a:ext cx="457200" cy="457200"/>
          </a:xfrm>
          <a:prstGeom prst="ellipse">
            <a:avLst/>
          </a:prstGeom>
          <a:solidFill>
            <a:schemeClr val="tx1"/>
          </a:solidFill>
          <a:ln w="12700">
            <a:solidFill>
              <a:schemeClr val="tx1"/>
            </a:solidFill>
            <a:prstDash val="solid"/>
          </a:ln>
        </p:spPr>
      </p:sp>
      <p:sp>
        <p:nvSpPr>
          <p:cNvPr id="12" name="text-80"/>
          <p:cNvSpPr txBox="1"/>
          <p:nvPr/>
        </p:nvSpPr>
        <p:spPr>
          <a:xfrm>
            <a:off x="4599432"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81"/>
          <p:cNvSpPr txBox="1"/>
          <p:nvPr/>
        </p:nvSpPr>
        <p:spPr>
          <a:xfrm>
            <a:off x="5193792" y="1691640"/>
            <a:ext cx="2286000" cy="411480"/>
          </a:xfrm>
          <a:prstGeom prst="rect">
            <a:avLst/>
          </a:prstGeom>
          <a:noFill/>
          <a:ln/>
        </p:spPr>
        <p:txBody>
          <a:bodyPr wrap="square" lIns="0" tIns="0" rIns="0" bIns="0" rtlCol="0" anchor="t"/>
          <a:lstStyle/>
          <a:p>
            <a:pPr indent="0" marL="0">
              <a:buNone/>
            </a:pPr>
            <a:r>
              <a:rPr lang="en-US" sz="1700" b="1" dirty="0">
                <a:solidFill>
                  <a:schemeClr val="tx1"/>
                </a:solidFill>
              </a:rPr>
              <a:t>Ranking</a:t>
            </a:r>
            <a:endParaRPr lang="en-US" sz="1700" dirty="0"/>
          </a:p>
        </p:txBody>
      </p:sp>
      <p:sp>
        <p:nvSpPr>
          <p:cNvPr id="14" name="text-82"/>
          <p:cNvSpPr txBox="1"/>
          <p:nvPr/>
        </p:nvSpPr>
        <p:spPr>
          <a:xfrm>
            <a:off x="4599432" y="2286000"/>
            <a:ext cx="2788920" cy="914400"/>
          </a:xfrm>
          <a:prstGeom prst="rect">
            <a:avLst/>
          </a:prstGeom>
          <a:noFill/>
          <a:ln/>
        </p:spPr>
        <p:txBody>
          <a:bodyPr wrap="square" lIns="0" tIns="0" rIns="0" bIns="0" rtlCol="0" anchor="t"/>
          <a:lstStyle/>
          <a:p>
            <a:pPr indent="0" marL="0">
              <a:buNone/>
            </a:pPr>
            <a:r>
              <a:rPr lang="en-US" sz="1400" dirty="0">
                <a:solidFill>
                  <a:schemeClr val="tx1"/>
                </a:solidFill>
              </a:rPr>
              <a:t>Score candidates by classification confidence and box overlap; the best become positives.</a:t>
            </a:r>
            <a:endParaRPr lang="en-US" sz="1400" dirty="0"/>
          </a:p>
        </p:txBody>
      </p:sp>
      <p:sp>
        <p:nvSpPr>
          <p:cNvPr id="15" name="arrow-83"/>
          <p:cNvSpPr/>
          <p:nvPr/>
        </p:nvSpPr>
        <p:spPr>
          <a:xfrm>
            <a:off x="7690104" y="2377440"/>
            <a:ext cx="338328" cy="320040"/>
          </a:xfrm>
          <a:prstGeom prst="rightArrow">
            <a:avLst/>
          </a:prstGeom>
          <a:solidFill>
            <a:schemeClr val="accent6"/>
          </a:solidFill>
          <a:ln w="12700">
            <a:solidFill>
              <a:schemeClr val="accent6"/>
            </a:solidFill>
            <a:prstDash val="solid"/>
          </a:ln>
        </p:spPr>
      </p:sp>
      <p:sp>
        <p:nvSpPr>
          <p:cNvPr id="16" name="card-84"/>
          <p:cNvSpPr/>
          <p:nvPr/>
        </p:nvSpPr>
        <p:spPr>
          <a:xfrm>
            <a:off x="8101584" y="1417320"/>
            <a:ext cx="3291840" cy="2240280"/>
          </a:xfrm>
          <a:prstGeom prst="roundRect">
            <a:avLst>
              <a:gd name="adj" fmla="val 3265"/>
            </a:avLst>
          </a:prstGeom>
          <a:solidFill>
            <a:srgbClr val="FDEBDD"/>
          </a:solidFill>
          <a:ln w="12700">
            <a:solidFill>
              <a:srgbClr val="FDEBDD"/>
            </a:solidFill>
            <a:prstDash val="solid"/>
          </a:ln>
        </p:spPr>
      </p:sp>
      <p:sp>
        <p:nvSpPr>
          <p:cNvPr id="17" name="badge-85"/>
          <p:cNvSpPr/>
          <p:nvPr/>
        </p:nvSpPr>
        <p:spPr>
          <a:xfrm>
            <a:off x="8375904" y="1645920"/>
            <a:ext cx="457200" cy="457200"/>
          </a:xfrm>
          <a:prstGeom prst="ellipse">
            <a:avLst/>
          </a:prstGeom>
          <a:solidFill>
            <a:schemeClr val="tx1"/>
          </a:solidFill>
          <a:ln w="12700">
            <a:solidFill>
              <a:schemeClr val="tx1"/>
            </a:solidFill>
            <a:prstDash val="solid"/>
          </a:ln>
        </p:spPr>
      </p:sp>
      <p:sp>
        <p:nvSpPr>
          <p:cNvPr id="18" name="text-86"/>
          <p:cNvSpPr txBox="1"/>
          <p:nvPr/>
        </p:nvSpPr>
        <p:spPr>
          <a:xfrm>
            <a:off x="8375904"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87"/>
          <p:cNvSpPr txBox="1"/>
          <p:nvPr/>
        </p:nvSpPr>
        <p:spPr>
          <a:xfrm>
            <a:off x="8970264" y="1691640"/>
            <a:ext cx="2286000" cy="411480"/>
          </a:xfrm>
          <a:prstGeom prst="rect">
            <a:avLst/>
          </a:prstGeom>
          <a:noFill/>
          <a:ln/>
        </p:spPr>
        <p:txBody>
          <a:bodyPr wrap="square" lIns="0" tIns="0" rIns="0" bIns="0" rtlCol="0" anchor="t"/>
          <a:lstStyle/>
          <a:p>
            <a:pPr indent="0" marL="0">
              <a:buNone/>
            </a:pPr>
            <a:r>
              <a:rPr lang="en-US" sz="1700" b="1" dirty="0">
                <a:solidFill>
                  <a:schemeClr val="tx1"/>
                </a:solidFill>
              </a:rPr>
              <a:t>Conflict resolution</a:t>
            </a:r>
            <a:endParaRPr lang="en-US" sz="1700" dirty="0"/>
          </a:p>
        </p:txBody>
      </p:sp>
      <p:sp>
        <p:nvSpPr>
          <p:cNvPr id="20" name="text-88"/>
          <p:cNvSpPr txBox="1"/>
          <p:nvPr/>
        </p:nvSpPr>
        <p:spPr>
          <a:xfrm>
            <a:off x="8375904" y="2286000"/>
            <a:ext cx="2788920" cy="914400"/>
          </a:xfrm>
          <a:prstGeom prst="rect">
            <a:avLst/>
          </a:prstGeom>
          <a:noFill/>
          <a:ln/>
        </p:spPr>
        <p:txBody>
          <a:bodyPr wrap="square" lIns="0" tIns="0" rIns="0" bIns="0" rtlCol="0" anchor="t"/>
          <a:lstStyle/>
          <a:p>
            <a:pPr indent="0" marL="0">
              <a:buNone/>
            </a:pPr>
            <a:r>
              <a:rPr lang="en-US" sz="1400" dirty="0">
                <a:solidFill>
                  <a:schemeClr val="tx1"/>
                </a:solidFill>
              </a:rPr>
              <a:t>An anchor that is positive for several GTs goes to the GT with the highest overlap.</a:t>
            </a:r>
            <a:endParaRPr lang="en-US" sz="1400" dirty="0"/>
          </a:p>
        </p:txBody>
      </p:sp>
      <p:sp>
        <p:nvSpPr>
          <p:cNvPr id="21" name="text-89"/>
          <p:cNvSpPr txBox="1"/>
          <p:nvPr/>
        </p:nvSpPr>
        <p:spPr>
          <a:xfrm>
            <a:off x="8375904" y="3273552"/>
            <a:ext cx="27889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STUDIED IN THIS PROJECT</a:t>
            </a:r>
            <a:endParaRPr lang="en-US" sz="1100" dirty="0"/>
          </a:p>
        </p:txBody>
      </p:sp>
      <p:sp>
        <p:nvSpPr>
          <p:cNvPr id="22" name="card-90"/>
          <p:cNvSpPr/>
          <p:nvPr/>
        </p:nvSpPr>
        <p:spPr>
          <a:xfrm>
            <a:off x="548640" y="3931920"/>
            <a:ext cx="3931920" cy="2240280"/>
          </a:xfrm>
          <a:prstGeom prst="roundRect">
            <a:avLst>
              <a:gd name="adj" fmla="val 3265"/>
            </a:avLst>
          </a:prstGeom>
          <a:solidFill>
            <a:schemeClr val="bg2"/>
          </a:solidFill>
          <a:ln w="12700">
            <a:solidFill>
              <a:schemeClr val="bg2"/>
            </a:solidFill>
            <a:prstDash val="solid"/>
          </a:ln>
        </p:spPr>
      </p:sp>
      <p:sp>
        <p:nvSpPr>
          <p:cNvPr id="23" name="grid-dot-91"/>
          <p:cNvSpPr/>
          <p:nvPr/>
        </p:nvSpPr>
        <p:spPr>
          <a:xfrm>
            <a:off x="1005840" y="4297680"/>
            <a:ext cx="91440" cy="91440"/>
          </a:xfrm>
          <a:prstGeom prst="ellipse">
            <a:avLst/>
          </a:prstGeom>
          <a:solidFill>
            <a:schemeClr val="accent6"/>
          </a:solidFill>
          <a:ln w="12700">
            <a:solidFill>
              <a:schemeClr val="accent6"/>
            </a:solidFill>
            <a:prstDash val="solid"/>
          </a:ln>
        </p:spPr>
      </p:sp>
      <p:sp>
        <p:nvSpPr>
          <p:cNvPr id="24" name="grid-dot-92"/>
          <p:cNvSpPr/>
          <p:nvPr/>
        </p:nvSpPr>
        <p:spPr>
          <a:xfrm>
            <a:off x="1572768" y="4297680"/>
            <a:ext cx="91440" cy="91440"/>
          </a:xfrm>
          <a:prstGeom prst="ellipse">
            <a:avLst/>
          </a:prstGeom>
          <a:solidFill>
            <a:schemeClr val="accent6"/>
          </a:solidFill>
          <a:ln w="12700">
            <a:solidFill>
              <a:schemeClr val="accent6"/>
            </a:solidFill>
            <a:prstDash val="solid"/>
          </a:ln>
        </p:spPr>
      </p:sp>
      <p:sp>
        <p:nvSpPr>
          <p:cNvPr id="25" name="grid-dot-93"/>
          <p:cNvSpPr/>
          <p:nvPr/>
        </p:nvSpPr>
        <p:spPr>
          <a:xfrm>
            <a:off x="2139696" y="4297680"/>
            <a:ext cx="91440" cy="91440"/>
          </a:xfrm>
          <a:prstGeom prst="ellipse">
            <a:avLst/>
          </a:prstGeom>
          <a:solidFill>
            <a:schemeClr val="accent6"/>
          </a:solidFill>
          <a:ln w="12700">
            <a:solidFill>
              <a:schemeClr val="accent6"/>
            </a:solidFill>
            <a:prstDash val="solid"/>
          </a:ln>
        </p:spPr>
      </p:sp>
      <p:sp>
        <p:nvSpPr>
          <p:cNvPr id="26" name="grid-dot-94"/>
          <p:cNvSpPr/>
          <p:nvPr/>
        </p:nvSpPr>
        <p:spPr>
          <a:xfrm>
            <a:off x="2706624" y="4297680"/>
            <a:ext cx="91440" cy="91440"/>
          </a:xfrm>
          <a:prstGeom prst="ellipse">
            <a:avLst/>
          </a:prstGeom>
          <a:solidFill>
            <a:schemeClr val="accent6"/>
          </a:solidFill>
          <a:ln w="12700">
            <a:solidFill>
              <a:schemeClr val="accent6"/>
            </a:solidFill>
            <a:prstDash val="solid"/>
          </a:ln>
        </p:spPr>
      </p:sp>
      <p:sp>
        <p:nvSpPr>
          <p:cNvPr id="27" name="grid-dot-95"/>
          <p:cNvSpPr/>
          <p:nvPr/>
        </p:nvSpPr>
        <p:spPr>
          <a:xfrm>
            <a:off x="3273552" y="4297680"/>
            <a:ext cx="91440" cy="91440"/>
          </a:xfrm>
          <a:prstGeom prst="ellipse">
            <a:avLst/>
          </a:prstGeom>
          <a:solidFill>
            <a:schemeClr val="accent6"/>
          </a:solidFill>
          <a:ln w="12700">
            <a:solidFill>
              <a:schemeClr val="accent6"/>
            </a:solidFill>
            <a:prstDash val="solid"/>
          </a:ln>
        </p:spPr>
      </p:sp>
      <p:sp>
        <p:nvSpPr>
          <p:cNvPr id="28" name="grid-dot-96"/>
          <p:cNvSpPr/>
          <p:nvPr/>
        </p:nvSpPr>
        <p:spPr>
          <a:xfrm>
            <a:off x="3840480" y="4297680"/>
            <a:ext cx="91440" cy="91440"/>
          </a:xfrm>
          <a:prstGeom prst="ellipse">
            <a:avLst/>
          </a:prstGeom>
          <a:solidFill>
            <a:schemeClr val="accent6"/>
          </a:solidFill>
          <a:ln w="12700">
            <a:solidFill>
              <a:schemeClr val="accent6"/>
            </a:solidFill>
            <a:prstDash val="solid"/>
          </a:ln>
        </p:spPr>
      </p:sp>
      <p:sp>
        <p:nvSpPr>
          <p:cNvPr id="29" name="grid-dot-97"/>
          <p:cNvSpPr/>
          <p:nvPr/>
        </p:nvSpPr>
        <p:spPr>
          <a:xfrm>
            <a:off x="1005840" y="4864608"/>
            <a:ext cx="91440" cy="91440"/>
          </a:xfrm>
          <a:prstGeom prst="ellipse">
            <a:avLst/>
          </a:prstGeom>
          <a:solidFill>
            <a:schemeClr val="accent6"/>
          </a:solidFill>
          <a:ln w="12700">
            <a:solidFill>
              <a:schemeClr val="accent6"/>
            </a:solidFill>
            <a:prstDash val="solid"/>
          </a:ln>
        </p:spPr>
      </p:sp>
      <p:sp>
        <p:nvSpPr>
          <p:cNvPr id="30" name="grid-dot-98"/>
          <p:cNvSpPr/>
          <p:nvPr/>
        </p:nvSpPr>
        <p:spPr>
          <a:xfrm>
            <a:off x="1572768" y="4864608"/>
            <a:ext cx="91440" cy="91440"/>
          </a:xfrm>
          <a:prstGeom prst="ellipse">
            <a:avLst/>
          </a:prstGeom>
          <a:solidFill>
            <a:schemeClr val="accent6"/>
          </a:solidFill>
          <a:ln w="12700">
            <a:solidFill>
              <a:schemeClr val="accent6"/>
            </a:solidFill>
            <a:prstDash val="solid"/>
          </a:ln>
        </p:spPr>
      </p:sp>
      <p:sp>
        <p:nvSpPr>
          <p:cNvPr id="31" name="grid-dot-99"/>
          <p:cNvSpPr/>
          <p:nvPr/>
        </p:nvSpPr>
        <p:spPr>
          <a:xfrm>
            <a:off x="2139696" y="4864608"/>
            <a:ext cx="91440" cy="91440"/>
          </a:xfrm>
          <a:prstGeom prst="ellipse">
            <a:avLst/>
          </a:prstGeom>
          <a:solidFill>
            <a:schemeClr val="accent6"/>
          </a:solidFill>
          <a:ln w="12700">
            <a:solidFill>
              <a:schemeClr val="accent6"/>
            </a:solidFill>
            <a:prstDash val="solid"/>
          </a:ln>
        </p:spPr>
      </p:sp>
      <p:sp>
        <p:nvSpPr>
          <p:cNvPr id="32" name="grid-dot-100"/>
          <p:cNvSpPr/>
          <p:nvPr/>
        </p:nvSpPr>
        <p:spPr>
          <a:xfrm>
            <a:off x="2706624" y="4864608"/>
            <a:ext cx="91440" cy="91440"/>
          </a:xfrm>
          <a:prstGeom prst="ellipse">
            <a:avLst/>
          </a:prstGeom>
          <a:solidFill>
            <a:schemeClr val="accent6"/>
          </a:solidFill>
          <a:ln w="12700">
            <a:solidFill>
              <a:schemeClr val="accent6"/>
            </a:solidFill>
            <a:prstDash val="solid"/>
          </a:ln>
        </p:spPr>
      </p:sp>
      <p:sp>
        <p:nvSpPr>
          <p:cNvPr id="33" name="grid-dot-101"/>
          <p:cNvSpPr/>
          <p:nvPr/>
        </p:nvSpPr>
        <p:spPr>
          <a:xfrm>
            <a:off x="3273552" y="4864608"/>
            <a:ext cx="91440" cy="91440"/>
          </a:xfrm>
          <a:prstGeom prst="ellipse">
            <a:avLst/>
          </a:prstGeom>
          <a:solidFill>
            <a:schemeClr val="accent6"/>
          </a:solidFill>
          <a:ln w="12700">
            <a:solidFill>
              <a:schemeClr val="accent6"/>
            </a:solidFill>
            <a:prstDash val="solid"/>
          </a:ln>
        </p:spPr>
      </p:sp>
      <p:sp>
        <p:nvSpPr>
          <p:cNvPr id="34" name="grid-dot-102"/>
          <p:cNvSpPr/>
          <p:nvPr/>
        </p:nvSpPr>
        <p:spPr>
          <a:xfrm>
            <a:off x="3840480" y="4864608"/>
            <a:ext cx="91440" cy="91440"/>
          </a:xfrm>
          <a:prstGeom prst="ellipse">
            <a:avLst/>
          </a:prstGeom>
          <a:solidFill>
            <a:schemeClr val="accent6"/>
          </a:solidFill>
          <a:ln w="12700">
            <a:solidFill>
              <a:schemeClr val="accent6"/>
            </a:solidFill>
            <a:prstDash val="solid"/>
          </a:ln>
        </p:spPr>
      </p:sp>
      <p:sp>
        <p:nvSpPr>
          <p:cNvPr id="35" name="grid-dot-103"/>
          <p:cNvSpPr/>
          <p:nvPr/>
        </p:nvSpPr>
        <p:spPr>
          <a:xfrm>
            <a:off x="1005840" y="5431536"/>
            <a:ext cx="91440" cy="91440"/>
          </a:xfrm>
          <a:prstGeom prst="ellipse">
            <a:avLst/>
          </a:prstGeom>
          <a:solidFill>
            <a:schemeClr val="accent6"/>
          </a:solidFill>
          <a:ln w="12700">
            <a:solidFill>
              <a:schemeClr val="accent6"/>
            </a:solidFill>
            <a:prstDash val="solid"/>
          </a:ln>
        </p:spPr>
      </p:sp>
      <p:sp>
        <p:nvSpPr>
          <p:cNvPr id="36" name="grid-dot-104"/>
          <p:cNvSpPr/>
          <p:nvPr/>
        </p:nvSpPr>
        <p:spPr>
          <a:xfrm>
            <a:off x="1572768" y="5431536"/>
            <a:ext cx="91440" cy="91440"/>
          </a:xfrm>
          <a:prstGeom prst="ellipse">
            <a:avLst/>
          </a:prstGeom>
          <a:solidFill>
            <a:schemeClr val="accent6"/>
          </a:solidFill>
          <a:ln w="12700">
            <a:solidFill>
              <a:schemeClr val="accent6"/>
            </a:solidFill>
            <a:prstDash val="solid"/>
          </a:ln>
        </p:spPr>
      </p:sp>
      <p:sp>
        <p:nvSpPr>
          <p:cNvPr id="37" name="grid-dot-105"/>
          <p:cNvSpPr/>
          <p:nvPr/>
        </p:nvSpPr>
        <p:spPr>
          <a:xfrm>
            <a:off x="2139696" y="5431536"/>
            <a:ext cx="91440" cy="91440"/>
          </a:xfrm>
          <a:prstGeom prst="ellipse">
            <a:avLst/>
          </a:prstGeom>
          <a:solidFill>
            <a:schemeClr val="accent6"/>
          </a:solidFill>
          <a:ln w="12700">
            <a:solidFill>
              <a:schemeClr val="accent6"/>
            </a:solidFill>
            <a:prstDash val="solid"/>
          </a:ln>
        </p:spPr>
      </p:sp>
      <p:sp>
        <p:nvSpPr>
          <p:cNvPr id="38" name="grid-dot-106"/>
          <p:cNvSpPr/>
          <p:nvPr/>
        </p:nvSpPr>
        <p:spPr>
          <a:xfrm>
            <a:off x="2706624" y="5431536"/>
            <a:ext cx="91440" cy="91440"/>
          </a:xfrm>
          <a:prstGeom prst="ellipse">
            <a:avLst/>
          </a:prstGeom>
          <a:solidFill>
            <a:schemeClr val="accent6"/>
          </a:solidFill>
          <a:ln w="12700">
            <a:solidFill>
              <a:schemeClr val="accent6"/>
            </a:solidFill>
            <a:prstDash val="solid"/>
          </a:ln>
        </p:spPr>
      </p:sp>
      <p:sp>
        <p:nvSpPr>
          <p:cNvPr id="39" name="grid-dot-107"/>
          <p:cNvSpPr/>
          <p:nvPr/>
        </p:nvSpPr>
        <p:spPr>
          <a:xfrm>
            <a:off x="3273552" y="5431536"/>
            <a:ext cx="91440" cy="91440"/>
          </a:xfrm>
          <a:prstGeom prst="ellipse">
            <a:avLst/>
          </a:prstGeom>
          <a:solidFill>
            <a:schemeClr val="accent6"/>
          </a:solidFill>
          <a:ln w="12700">
            <a:solidFill>
              <a:schemeClr val="accent6"/>
            </a:solidFill>
            <a:prstDash val="solid"/>
          </a:ln>
        </p:spPr>
      </p:sp>
      <p:sp>
        <p:nvSpPr>
          <p:cNvPr id="40" name="grid-dot-108"/>
          <p:cNvSpPr/>
          <p:nvPr/>
        </p:nvSpPr>
        <p:spPr>
          <a:xfrm>
            <a:off x="3840480" y="5431536"/>
            <a:ext cx="91440" cy="91440"/>
          </a:xfrm>
          <a:prstGeom prst="ellipse">
            <a:avLst/>
          </a:prstGeom>
          <a:solidFill>
            <a:schemeClr val="accent6"/>
          </a:solidFill>
          <a:ln w="12700">
            <a:solidFill>
              <a:schemeClr val="accent6"/>
            </a:solidFill>
            <a:prstDash val="solid"/>
          </a:ln>
        </p:spPr>
      </p:sp>
      <p:sp>
        <p:nvSpPr>
          <p:cNvPr id="41" name="tiny-box-grid"/>
          <p:cNvSpPr/>
          <p:nvPr/>
        </p:nvSpPr>
        <p:spPr>
          <a:xfrm rot="-600000">
            <a:off x="2043684" y="4485132"/>
            <a:ext cx="850392" cy="283464"/>
          </a:xfrm>
          <a:prstGeom prst="rect">
            <a:avLst/>
          </a:prstGeom>
          <a:solidFill>
            <a:schemeClr val="accent1"/>
          </a:solidFill>
          <a:ln w="12700">
            <a:solidFill>
              <a:schemeClr val="accent1"/>
            </a:solidFill>
            <a:prstDash val="solid"/>
          </a:ln>
        </p:spPr>
      </p:sp>
      <p:sp>
        <p:nvSpPr>
          <p:cNvPr id="42" name="text-109"/>
          <p:cNvSpPr txBox="1"/>
          <p:nvPr/>
        </p:nvSpPr>
        <p:spPr>
          <a:xfrm>
            <a:off x="777240" y="5669280"/>
            <a:ext cx="3566160" cy="411480"/>
          </a:xfrm>
          <a:prstGeom prst="rect">
            <a:avLst/>
          </a:prstGeom>
          <a:noFill/>
          <a:ln/>
        </p:spPr>
        <p:txBody>
          <a:bodyPr wrap="square" lIns="0" tIns="0" rIns="0" bIns="0" rtlCol="0" anchor="t"/>
          <a:lstStyle/>
          <a:p>
            <a:pPr indent="0" marL="0">
              <a:buNone/>
            </a:pPr>
            <a:r>
              <a:rPr lang="en-US" sz="1100" i="1" dirty="0">
                <a:solidFill>
                  <a:schemeClr val="accent6"/>
                </a:solidFill>
              </a:rPr>
              <a:t>stride-8 grid: the 4×12 px box (orange) holds no anchor centre</a:t>
            </a:r>
            <a:endParaRPr lang="en-US" sz="1100" dirty="0"/>
          </a:p>
        </p:txBody>
      </p:sp>
      <p:sp>
        <p:nvSpPr>
          <p:cNvPr id="43" name="text-110"/>
          <p:cNvSpPr txBox="1"/>
          <p:nvPr/>
        </p:nvSpPr>
        <p:spPr>
          <a:xfrm>
            <a:off x="4800600" y="4069080"/>
            <a:ext cx="67665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Anchor points lie on grids with stride 8, 16 and 32 px.</a:t>
            </a:r>
            <a:endParaRPr lang="en-US" sz="1600" dirty="0"/>
          </a:p>
          <a:p>
            <a:pPr marL="342900" indent="-342900">
              <a:spcAft>
                <a:spcPts val="1000"/>
              </a:spcAft>
              <a:buSzPct val="100000"/>
              <a:buChar char="•"/>
            </a:pPr>
            <a:r>
              <a:rPr lang="en-US" sz="1600" dirty="0">
                <a:solidFill>
                  <a:schemeClr val="tx1"/>
                </a:solidFill>
              </a:rPr>
              <a:t>A 4×12 px object can fall between grid points: no candidate, so no positive and no training signal.</a:t>
            </a:r>
            <a:endParaRPr lang="en-US" sz="1600" dirty="0"/>
          </a:p>
          <a:p>
            <a:pPr marL="342900" indent="-342900">
              <a:spcAft>
                <a:spcPts val="1000"/>
              </a:spcAft>
              <a:buSzPct val="100000"/>
              <a:buChar char="•"/>
            </a:pPr>
            <a:r>
              <a:rPr lang="en-US" sz="1600" dirty="0">
                <a:solidFill>
                  <a:schemeClr val="tx1"/>
                </a:solidFill>
              </a:rPr>
              <a:t>STAL enlarges the candidate region in step 1 only; the true box is still used for regression [1].</a:t>
            </a:r>
            <a:endParaRPr lang="en-US" sz="16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STAL: one fix, four versions in 2026</a:t>
            </a:r>
            <a:endParaRPr lang="en-US" sz="3000" dirty="0"/>
          </a:p>
        </p:txBody>
      </p:sp>
      <p:sp>
        <p:nvSpPr>
          <p:cNvPr id="3" name="card-111"/>
          <p:cNvSpPr/>
          <p:nvPr/>
        </p:nvSpPr>
        <p:spPr>
          <a:xfrm>
            <a:off x="548640" y="1417320"/>
            <a:ext cx="4572000" cy="4754880"/>
          </a:xfrm>
          <a:prstGeom prst="roundRect">
            <a:avLst>
              <a:gd name="adj" fmla="val 1600"/>
            </a:avLst>
          </a:prstGeom>
          <a:solidFill>
            <a:schemeClr val="bg2"/>
          </a:solidFill>
          <a:ln w="12700">
            <a:solidFill>
              <a:schemeClr val="bg2"/>
            </a:solidFill>
            <a:prstDash val="solid"/>
          </a:ln>
        </p:spPr>
      </p:sp>
      <p:sp>
        <p:nvSpPr>
          <p:cNvPr id="4" name="text-112"/>
          <p:cNvSpPr txBox="1"/>
          <p:nvPr/>
        </p:nvSpPr>
        <p:spPr>
          <a:xfrm>
            <a:off x="822960" y="1645920"/>
            <a:ext cx="4023360" cy="411480"/>
          </a:xfrm>
          <a:prstGeom prst="rect">
            <a:avLst/>
          </a:prstGeom>
          <a:noFill/>
          <a:ln/>
        </p:spPr>
        <p:txBody>
          <a:bodyPr wrap="square" lIns="0" tIns="0" rIns="0" bIns="0" rtlCol="0" anchor="t"/>
          <a:lstStyle/>
          <a:p>
            <a:pPr indent="0" marL="0">
              <a:buNone/>
            </a:pPr>
            <a:r>
              <a:rPr lang="en-US" sz="1800" b="1" dirty="0">
                <a:solidFill>
                  <a:schemeClr val="tx1"/>
                </a:solidFill>
              </a:rPr>
              <a:t>STAL in YOLO26 [1]</a:t>
            </a:r>
            <a:endParaRPr lang="en-US" sz="1800" dirty="0"/>
          </a:p>
        </p:txBody>
      </p:sp>
      <p:sp>
        <p:nvSpPr>
          <p:cNvPr id="5" name="text-113"/>
          <p:cNvSpPr txBox="1"/>
          <p:nvPr/>
        </p:nvSpPr>
        <p:spPr>
          <a:xfrm>
            <a:off x="822960" y="2148840"/>
            <a:ext cx="4023360" cy="1143000"/>
          </a:xfrm>
          <a:prstGeom prst="rect">
            <a:avLst/>
          </a:prstGeom>
          <a:noFill/>
          <a:ln/>
        </p:spPr>
        <p:txBody>
          <a:bodyPr wrap="square" lIns="0" tIns="0" rIns="0" bIns="0" rtlCol="0" anchor="t"/>
          <a:lstStyle/>
          <a:p>
            <a:pPr indent="0" marL="0">
              <a:buNone/>
            </a:pPr>
            <a:r>
              <a:rPr lang="en-US" sz="1500" dirty="0">
                <a:solidFill>
                  <a:schemeClr val="tx1"/>
                </a:solidFill>
              </a:rPr>
              <a:t>Small-Target-Aware Label Assignment: during candidate selection only, any box side shorter than 8 px is enlarged to 16 px.</a:t>
            </a:r>
            <a:endParaRPr lang="en-US" sz="1500" dirty="0"/>
          </a:p>
        </p:txBody>
      </p:sp>
      <p:sp>
        <p:nvSpPr>
          <p:cNvPr id="6" name="text-114"/>
          <p:cNvSpPr txBox="1"/>
          <p:nvPr/>
        </p:nvSpPr>
        <p:spPr>
          <a:xfrm>
            <a:off x="822960" y="3246120"/>
            <a:ext cx="4023360" cy="594360"/>
          </a:xfrm>
          <a:prstGeom prst="rect">
            <a:avLst/>
          </a:prstGeom>
          <a:noFill/>
          <a:ln/>
        </p:spPr>
        <p:txBody>
          <a:bodyPr wrap="square" lIns="0" tIns="0" rIns="0" bIns="0" rtlCol="0" anchor="t"/>
          <a:lstStyle/>
          <a:p>
            <a:pPr indent="0" marL="0">
              <a:buNone/>
            </a:pPr>
            <a:r>
              <a:rPr lang="en-US" sz="3000" b="1" dirty="0">
                <a:solidFill>
                  <a:schemeClr val="accent2"/>
                </a:solidFill>
              </a:rPr>
              <a:t>46.6 → 46.8 AP</a:t>
            </a:r>
            <a:endParaRPr lang="en-US" sz="3000" dirty="0"/>
          </a:p>
        </p:txBody>
      </p:sp>
      <p:sp>
        <p:nvSpPr>
          <p:cNvPr id="7" name="text-115"/>
          <p:cNvSpPr txBox="1"/>
          <p:nvPr/>
        </p:nvSpPr>
        <p:spPr>
          <a:xfrm>
            <a:off x="822960" y="3886200"/>
            <a:ext cx="4023360" cy="365760"/>
          </a:xfrm>
          <a:prstGeom prst="rect">
            <a:avLst/>
          </a:prstGeom>
          <a:noFill/>
          <a:ln/>
        </p:spPr>
        <p:txBody>
          <a:bodyPr wrap="square" lIns="0" tIns="0" rIns="0" bIns="0" rtlCol="0" anchor="t"/>
          <a:lstStyle/>
          <a:p>
            <a:pPr indent="0" marL="0">
              <a:buNone/>
            </a:pPr>
            <a:r>
              <a:rPr lang="en-US" sz="1400" dirty="0">
                <a:solidFill>
                  <a:schemeClr val="tx1"/>
                </a:solidFill>
              </a:rPr>
              <a:t>AP</a:t>
            </a:r>
            <a:pPr indent="0" marL="0">
              <a:buNone/>
            </a:pPr>
            <a:r>
              <a:rPr lang="en-US" sz="1400" baseline="-40000" dirty="0">
                <a:solidFill>
                  <a:schemeClr val="tx1"/>
                </a:solidFill>
              </a:rPr>
              <a:t>S</a:t>
            </a:r>
            <a:pPr indent="0" marL="0">
              <a:buNone/>
            </a:pPr>
            <a:r>
              <a:rPr lang="en-US" sz="1400" dirty="0">
                <a:solidFill>
                  <a:schemeClr val="tx1"/>
                </a:solidFill>
              </a:rPr>
              <a:t> 29.0 → 29.6 · COCO, YOLO11s, single runs</a:t>
            </a:r>
            <a:endParaRPr lang="en-US" sz="1400" dirty="0"/>
          </a:p>
        </p:txBody>
      </p:sp>
      <p:sp>
        <p:nvSpPr>
          <p:cNvPr id="8" name="text-116"/>
          <p:cNvSpPr txBox="1"/>
          <p:nvPr/>
        </p:nvSpPr>
        <p:spPr>
          <a:xfrm>
            <a:off x="822960" y="4572000"/>
            <a:ext cx="4023360" cy="1188720"/>
          </a:xfrm>
          <a:prstGeom prst="rect">
            <a:avLst/>
          </a:prstGeom>
          <a:noFill/>
          <a:ln/>
        </p:spPr>
        <p:txBody>
          <a:bodyPr wrap="square" lIns="0" tIns="0" rIns="0" bIns="0" rtlCol="0" anchor="t"/>
          <a:lstStyle/>
          <a:p>
            <a:pPr indent="0" marL="0">
              <a:buNone/>
            </a:pPr>
            <a:r>
              <a:rPr lang="en-US" sz="1500" dirty="0">
                <a:solidFill>
                  <a:schemeClr val="accent6"/>
                </a:solidFill>
              </a:rPr>
              <a:t>Ablated only on COCO with horizontal boxes. We found no published evaluation on oriented boxes or tiny-object data.</a:t>
            </a:r>
            <a:endParaRPr lang="en-US" sz="1500" dirty="0"/>
          </a:p>
        </p:txBody>
      </p:sp>
      <p:sp>
        <p:nvSpPr>
          <p:cNvPr id="9" name="timeline-line"/>
          <p:cNvSpPr/>
          <p:nvPr/>
        </p:nvSpPr>
        <p:spPr>
          <a:xfrm>
            <a:off x="5824728" y="1691640"/>
            <a:ext cx="0" cy="3886200"/>
          </a:xfrm>
          <a:prstGeom prst="line">
            <a:avLst/>
          </a:prstGeom>
          <a:noFill/>
          <a:ln w="19050">
            <a:solidFill>
              <a:schemeClr val="accent6"/>
            </a:solidFill>
            <a:prstDash val="solid"/>
          </a:ln>
        </p:spPr>
      </p:sp>
      <p:sp>
        <p:nvSpPr>
          <p:cNvPr id="10" name="timeline-node-117"/>
          <p:cNvSpPr/>
          <p:nvPr/>
        </p:nvSpPr>
        <p:spPr>
          <a:xfrm>
            <a:off x="5687568" y="1572768"/>
            <a:ext cx="274320" cy="274320"/>
          </a:xfrm>
          <a:prstGeom prst="ellipse">
            <a:avLst/>
          </a:prstGeom>
          <a:solidFill>
            <a:schemeClr val="bg1"/>
          </a:solidFill>
          <a:ln w="19050">
            <a:solidFill>
              <a:schemeClr val="accent6"/>
            </a:solidFill>
            <a:prstDash val="solid"/>
          </a:ln>
        </p:spPr>
      </p:sp>
      <p:sp>
        <p:nvSpPr>
          <p:cNvPr id="11" name="text-118"/>
          <p:cNvSpPr txBox="1"/>
          <p:nvPr/>
        </p:nvSpPr>
        <p:spPr>
          <a:xfrm>
            <a:off x="6217920" y="1508760"/>
            <a:ext cx="2103120" cy="365760"/>
          </a:xfrm>
          <a:prstGeom prst="rect">
            <a:avLst/>
          </a:prstGeom>
          <a:noFill/>
          <a:ln/>
        </p:spPr>
        <p:txBody>
          <a:bodyPr wrap="square" lIns="0" tIns="0" rIns="0" bIns="0" rtlCol="0" anchor="t"/>
          <a:lstStyle/>
          <a:p>
            <a:pPr indent="0" marL="0">
              <a:buNone/>
            </a:pPr>
            <a:r>
              <a:rPr lang="en-US" sz="1600" b="1" dirty="0">
                <a:solidFill>
                  <a:schemeClr val="tx1"/>
                </a:solidFill>
              </a:rPr>
              <a:t>≤ 8.4.7</a:t>
            </a:r>
            <a:endParaRPr lang="en-US" sz="1600" dirty="0"/>
          </a:p>
        </p:txBody>
      </p:sp>
      <p:sp>
        <p:nvSpPr>
          <p:cNvPr id="12" name="text-119"/>
          <p:cNvSpPr txBox="1"/>
          <p:nvPr/>
        </p:nvSpPr>
        <p:spPr>
          <a:xfrm>
            <a:off x="6217920" y="1892808"/>
            <a:ext cx="2194560" cy="502920"/>
          </a:xfrm>
          <a:prstGeom prst="rect">
            <a:avLst/>
          </a:prstGeom>
          <a:noFill/>
          <a:ln/>
        </p:spPr>
        <p:txBody>
          <a:bodyPr wrap="square" lIns="0" tIns="0" rIns="0" bIns="0" rtlCol="0" anchor="t"/>
          <a:lstStyle/>
          <a:p>
            <a:pPr indent="0" marL="0">
              <a:buNone/>
            </a:pPr>
            <a:r>
              <a:rPr lang="en-US" sz="1100" dirty="0">
                <a:solidFill>
                  <a:schemeClr val="accent6"/>
                </a:solidFill>
              </a:rPr>
              <a:t>incl. YOLO26 release 8.4.0, Jan 2026</a:t>
            </a:r>
            <a:endParaRPr lang="en-US" sz="1100" dirty="0"/>
          </a:p>
        </p:txBody>
      </p:sp>
      <p:sp>
        <p:nvSpPr>
          <p:cNvPr id="13" name="text-120"/>
          <p:cNvSpPr txBox="1"/>
          <p:nvPr/>
        </p:nvSpPr>
        <p:spPr>
          <a:xfrm>
            <a:off x="8503920" y="1508760"/>
            <a:ext cx="3154680" cy="868680"/>
          </a:xfrm>
          <a:prstGeom prst="rect">
            <a:avLst/>
          </a:prstGeom>
          <a:noFill/>
          <a:ln/>
        </p:spPr>
        <p:txBody>
          <a:bodyPr wrap="square" lIns="0" tIns="0" rIns="0" bIns="0" rtlCol="0" anchor="t"/>
          <a:lstStyle/>
          <a:p>
            <a:pPr indent="0" marL="0">
              <a:buNone/>
            </a:pPr>
            <a:r>
              <a:rPr lang="en-US" sz="1400" dirty="0">
                <a:solidFill>
                  <a:schemeClr val="tx1"/>
                </a:solidFill>
              </a:rPr>
              <a:t>No size floor</a:t>
            </a:r>
            <a:endParaRPr lang="en-US" sz="1400" dirty="0"/>
          </a:p>
        </p:txBody>
      </p:sp>
      <p:sp>
        <p:nvSpPr>
          <p:cNvPr id="14" name="timeline-node-121"/>
          <p:cNvSpPr/>
          <p:nvPr/>
        </p:nvSpPr>
        <p:spPr>
          <a:xfrm>
            <a:off x="5687568" y="2670048"/>
            <a:ext cx="274320" cy="274320"/>
          </a:xfrm>
          <a:prstGeom prst="ellipse">
            <a:avLst/>
          </a:prstGeom>
          <a:solidFill>
            <a:schemeClr val="bg1"/>
          </a:solidFill>
          <a:ln w="19050">
            <a:solidFill>
              <a:schemeClr val="accent6"/>
            </a:solidFill>
            <a:prstDash val="solid"/>
          </a:ln>
        </p:spPr>
      </p:sp>
      <p:sp>
        <p:nvSpPr>
          <p:cNvPr id="15" name="text-122"/>
          <p:cNvSpPr txBox="1"/>
          <p:nvPr/>
        </p:nvSpPr>
        <p:spPr>
          <a:xfrm>
            <a:off x="6217920" y="26060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8.4.8 – 8.4.38</a:t>
            </a:r>
            <a:endParaRPr lang="en-US" sz="1600" dirty="0"/>
          </a:p>
        </p:txBody>
      </p:sp>
      <p:sp>
        <p:nvSpPr>
          <p:cNvPr id="16" name="text-123"/>
          <p:cNvSpPr txBox="1"/>
          <p:nvPr/>
        </p:nvSpPr>
        <p:spPr>
          <a:xfrm>
            <a:off x="8503920" y="2606040"/>
            <a:ext cx="3154680" cy="868680"/>
          </a:xfrm>
          <a:prstGeom prst="rect">
            <a:avLst/>
          </a:prstGeom>
          <a:noFill/>
          <a:ln/>
        </p:spPr>
        <p:txBody>
          <a:bodyPr wrap="square" lIns="0" tIns="0" rIns="0" bIns="0" rtlCol="0" anchor="t"/>
          <a:lstStyle/>
          <a:p>
            <a:pPr indent="0" marL="0">
              <a:buNone/>
            </a:pPr>
            <a:r>
              <a:rPr lang="en-US" sz="1400" dirty="0">
                <a:solidFill>
                  <a:schemeClr val="tx1"/>
                </a:solidFill>
              </a:rPr>
              <a:t>Sides &lt; 8 px → 16 px, applied to the real labels (bug, fixed in 8.4.39)</a:t>
            </a:r>
            <a:endParaRPr lang="en-US" sz="1400" dirty="0"/>
          </a:p>
        </p:txBody>
      </p:sp>
      <p:sp>
        <p:nvSpPr>
          <p:cNvPr id="17" name="timeline-node-124"/>
          <p:cNvSpPr/>
          <p:nvPr/>
        </p:nvSpPr>
        <p:spPr>
          <a:xfrm>
            <a:off x="5687568" y="3767328"/>
            <a:ext cx="274320" cy="274320"/>
          </a:xfrm>
          <a:prstGeom prst="ellipse">
            <a:avLst/>
          </a:prstGeom>
          <a:solidFill>
            <a:schemeClr val="bg1"/>
          </a:solidFill>
          <a:ln w="19050">
            <a:solidFill>
              <a:schemeClr val="accent6"/>
            </a:solidFill>
            <a:prstDash val="solid"/>
          </a:ln>
        </p:spPr>
      </p:sp>
      <p:sp>
        <p:nvSpPr>
          <p:cNvPr id="18" name="text-125"/>
          <p:cNvSpPr txBox="1"/>
          <p:nvPr/>
        </p:nvSpPr>
        <p:spPr>
          <a:xfrm>
            <a:off x="6217920" y="3703320"/>
            <a:ext cx="2103120" cy="365760"/>
          </a:xfrm>
          <a:prstGeom prst="rect">
            <a:avLst/>
          </a:prstGeom>
          <a:noFill/>
          <a:ln/>
        </p:spPr>
        <p:txBody>
          <a:bodyPr wrap="square" lIns="0" tIns="0" rIns="0" bIns="0" rtlCol="0" anchor="t"/>
          <a:lstStyle/>
          <a:p>
            <a:pPr indent="0" marL="0">
              <a:buNone/>
            </a:pPr>
            <a:r>
              <a:rPr lang="en-US" sz="1600" b="1" dirty="0">
                <a:solidFill>
                  <a:schemeClr val="tx1"/>
                </a:solidFill>
              </a:rPr>
              <a:t>8.4.39 – 8.4.127</a:t>
            </a:r>
            <a:endParaRPr lang="en-US" sz="1600" dirty="0"/>
          </a:p>
        </p:txBody>
      </p:sp>
      <p:sp>
        <p:nvSpPr>
          <p:cNvPr id="19" name="text-126"/>
          <p:cNvSpPr txBox="1"/>
          <p:nvPr/>
        </p:nvSpPr>
        <p:spPr>
          <a:xfrm>
            <a:off x="8503920" y="3703320"/>
            <a:ext cx="3154680" cy="868680"/>
          </a:xfrm>
          <a:prstGeom prst="rect">
            <a:avLst/>
          </a:prstGeom>
          <a:noFill/>
          <a:ln/>
        </p:spPr>
        <p:txBody>
          <a:bodyPr wrap="square" lIns="0" tIns="0" rIns="0" bIns="0" rtlCol="0" anchor="t"/>
          <a:lstStyle/>
          <a:p>
            <a:pPr indent="0" marL="0">
              <a:buNone/>
            </a:pPr>
            <a:r>
              <a:rPr lang="en-US" sz="1400" dirty="0">
                <a:solidFill>
                  <a:schemeClr val="tx1"/>
                </a:solidFill>
              </a:rPr>
              <a:t>Sides &lt; 8 px → 16 px on a copy = published rule, “STAL-8”</a:t>
            </a:r>
            <a:endParaRPr lang="en-US" sz="1400" dirty="0"/>
          </a:p>
        </p:txBody>
      </p:sp>
      <p:sp>
        <p:nvSpPr>
          <p:cNvPr id="20" name="timeline-node-127"/>
          <p:cNvSpPr/>
          <p:nvPr/>
        </p:nvSpPr>
        <p:spPr>
          <a:xfrm>
            <a:off x="5687568" y="4864608"/>
            <a:ext cx="274320" cy="274320"/>
          </a:xfrm>
          <a:prstGeom prst="ellipse">
            <a:avLst/>
          </a:prstGeom>
          <a:solidFill>
            <a:schemeClr val="accent1"/>
          </a:solidFill>
          <a:ln w="19050">
            <a:solidFill>
              <a:schemeClr val="accent1"/>
            </a:solidFill>
            <a:prstDash val="solid"/>
          </a:ln>
        </p:spPr>
      </p:sp>
      <p:sp>
        <p:nvSpPr>
          <p:cNvPr id="21" name="text-128"/>
          <p:cNvSpPr txBox="1"/>
          <p:nvPr/>
        </p:nvSpPr>
        <p:spPr>
          <a:xfrm>
            <a:off x="6217920" y="4800600"/>
            <a:ext cx="2103120" cy="365760"/>
          </a:xfrm>
          <a:prstGeom prst="rect">
            <a:avLst/>
          </a:prstGeom>
          <a:noFill/>
          <a:ln/>
        </p:spPr>
        <p:txBody>
          <a:bodyPr wrap="square" lIns="0" tIns="0" rIns="0" bIns="0" rtlCol="0" anchor="t"/>
          <a:lstStyle/>
          <a:p>
            <a:pPr indent="0" marL="0">
              <a:buNone/>
            </a:pPr>
            <a:r>
              <a:rPr lang="en-US" sz="1600" b="1" dirty="0">
                <a:solidFill>
                  <a:schemeClr val="accent2"/>
                </a:solidFill>
              </a:rPr>
              <a:t>≥ 8.4.128</a:t>
            </a:r>
            <a:endParaRPr lang="en-US" sz="1600" dirty="0"/>
          </a:p>
        </p:txBody>
      </p:sp>
      <p:sp>
        <p:nvSpPr>
          <p:cNvPr id="22" name="text-129"/>
          <p:cNvSpPr txBox="1"/>
          <p:nvPr/>
        </p:nvSpPr>
        <p:spPr>
          <a:xfrm>
            <a:off x="6217920" y="5184648"/>
            <a:ext cx="2194560" cy="502920"/>
          </a:xfrm>
          <a:prstGeom prst="rect">
            <a:avLst/>
          </a:prstGeom>
          <a:noFill/>
          <a:ln/>
        </p:spPr>
        <p:txBody>
          <a:bodyPr wrap="square" lIns="0" tIns="0" rIns="0" bIns="0" rtlCol="0" anchor="t"/>
          <a:lstStyle/>
          <a:p>
            <a:pPr indent="0" marL="0">
              <a:buNone/>
            </a:pPr>
            <a:r>
              <a:rPr lang="en-US" sz="1100" dirty="0">
                <a:solidFill>
                  <a:schemeClr val="accent6"/>
                </a:solidFill>
              </a:rPr>
              <a:t>Aug 2026; current 8.4.174</a:t>
            </a:r>
            <a:endParaRPr lang="en-US" sz="1100" dirty="0"/>
          </a:p>
        </p:txBody>
      </p:sp>
      <p:sp>
        <p:nvSpPr>
          <p:cNvPr id="23" name="text-130"/>
          <p:cNvSpPr txBox="1"/>
          <p:nvPr/>
        </p:nvSpPr>
        <p:spPr>
          <a:xfrm>
            <a:off x="8503920" y="4800600"/>
            <a:ext cx="3154680" cy="868680"/>
          </a:xfrm>
          <a:prstGeom prst="rect">
            <a:avLst/>
          </a:prstGeom>
          <a:noFill/>
          <a:ln/>
        </p:spPr>
        <p:txBody>
          <a:bodyPr wrap="square" lIns="0" tIns="0" rIns="0" bIns="0" rtlCol="0" anchor="t"/>
          <a:lstStyle/>
          <a:p>
            <a:pPr indent="0" marL="0">
              <a:buNone/>
            </a:pPr>
            <a:r>
              <a:rPr lang="en-US" sz="1400" dirty="0">
                <a:solidFill>
                  <a:schemeClr val="tx1"/>
                </a:solidFill>
              </a:rPr>
              <a:t>Sides &lt; 16 px → 16 px, “STAL-16”</a:t>
            </a:r>
            <a:endParaRPr lang="en-US" sz="1400" dirty="0"/>
          </a:p>
        </p:txBody>
      </p:sp>
      <p:sp>
        <p:nvSpPr>
          <p:cNvPr id="24" name="text-131"/>
          <p:cNvSpPr txBox="1"/>
          <p:nvPr/>
        </p:nvSpPr>
        <p:spPr>
          <a:xfrm>
            <a:off x="6217920" y="5760720"/>
            <a:ext cx="5440680" cy="548640"/>
          </a:xfrm>
          <a:prstGeom prst="rect">
            <a:avLst/>
          </a:prstGeom>
          <a:noFill/>
          <a:ln/>
        </p:spPr>
        <p:txBody>
          <a:bodyPr wrap="square" lIns="0" tIns="0" rIns="0" bIns="0" rtlCol="0" anchor="t"/>
          <a:lstStyle/>
          <a:p>
            <a:pPr indent="0" marL="0">
              <a:buNone/>
            </a:pPr>
            <a:r>
              <a:rPr lang="en-US" sz="1100" dirty="0">
                <a:solidFill>
                  <a:schemeClr val="accent6"/>
                </a:solidFill>
              </a:rPr>
              <a:t>Release tags checked 08/10/2026 [2]. YOLOv8- and YOLO11-OBB trained with today’s package use the same shared assigner, so results from different versions are not comparable.</a:t>
            </a:r>
            <a:endParaRPr lang="en-US" sz="11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Related work leaves this regime open</a:t>
            </a:r>
            <a:endParaRPr lang="en-US" sz="3000" dirty="0"/>
          </a:p>
        </p:txBody>
      </p:sp>
      <p:graphicFrame>
        <p:nvGraphicFramePr>
          <p:cNvPr id="6" name="related-work-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31720"/>
                <a:gridCol w="3291840"/>
                <a:gridCol w="2816352"/>
                <a:gridCol w="2651760"/>
              </a:tblGrid>
              <a:tr h="566928">
                <a:tc>
                  <a:txBody>
                    <a:bodyPr/>
                    <a:lstStyle/>
                    <a:p>
                      <a:pPr indent="0" marL="0">
                        <a:buNone/>
                      </a:pPr>
                      <a:r>
                        <a:rPr lang="en-US" sz="1300" b="1" dirty="0">
                          <a:solidFill>
                            <a:schemeClr val="bg1"/>
                          </a:solidFill>
                        </a:rPr>
                        <a:t>Work</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it does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Reported result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Gap for this project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r>
              <a:tr h="566928">
                <a:tc>
                  <a:txBody>
                    <a:bodyPr/>
                    <a:lstStyle/>
                    <a:p>
                      <a:pPr indent="0" marL="0">
                        <a:buNone/>
                      </a:pPr>
                      <a:r>
                        <a:rPr lang="en-US" sz="1300" b="1" dirty="0">
                          <a:solidFill>
                            <a:schemeClr val="tx1"/>
                          </a:solidFill>
                        </a:rPr>
                        <a:t>AI-TOD-R + DCFL [3]</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Rotated Gaussian candidates, coarse-to-fine assignment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17.5 AP; 6.5 AP</a:t>
                      </a:r>
                      <a:pPr indent="0" marL="0">
                        <a:buNone/>
                      </a:pPr>
                      <a:r>
                        <a:rPr lang="en-US" sz="1300" baseline="-40000" dirty="0">
                          <a:solidFill>
                            <a:schemeClr val="tx1"/>
                          </a:solidFill>
                        </a:rPr>
                        <a:t>vt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Not real-time; no YOLO, no speed</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NWD-RKA [5]</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Wasserstein similarity + ranking (horizontal boxes)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Faster R-CNN 12.8 → 21.4; RetinaNet +1.6</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Large two-stage, small one-stage gains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RFLA [6]</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Gaussian receptive-field prior (horizontal boxes)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Faster R-CNN 11.1 → 21.1; RetinaNet 8.7 → 9.1</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Same pattern; no rotation</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GCD [7]</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Scale-invariant Gaussian distance (horizontal boxes)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Faster R-CNN 20.1 AP</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Verified mainly for horizontal detection</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EARL · SARFA-Net · RDCNet [8–10]</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Shape-aware candidates (ellipse / rotated frame)</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 tiny-object dataset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tx1"/>
                          </a:solidFill>
                        </a:rPr>
                        <a:t>YOLO26 STAL [1]</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Enlarges tiny boxes at candidate selection</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COCO AP 46.6 → 46.8 (single runs)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tested on OBB or tiny data</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DIA-YOLO [4]</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YOLOv11-OBB with depth input</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Compared with AI-TOD-R AP50</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18,730 images, 4-channel input, no size bins</a:t>
                      </a:r>
                      <a:endParaRPr lang="en-US" sz="1300" dirty="0"/>
                    </a:p>
                  </a:txBody>
                  <a:tcPr marL="91440" marR="91440" marT="36576" marB="36576"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bl>
          </a:graphicData>
        </a:graphic>
      </p:graphicFrame>
      <p:sp>
        <p:nvSpPr>
          <p:cNvPr id="4" name="text-132"/>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Numbers as reported by the authors; settings differ between papers, so rows are not ranked against each other.</a:t>
            </a:r>
            <a:endParaRPr lang="en-US" sz="11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Six gaps this project targets</a:t>
            </a:r>
            <a:endParaRPr lang="en-US" sz="3000" dirty="0"/>
          </a:p>
        </p:txBody>
      </p:sp>
      <p:sp>
        <p:nvSpPr>
          <p:cNvPr id="3" name="card-133"/>
          <p:cNvSpPr/>
          <p:nvPr/>
        </p:nvSpPr>
        <p:spPr>
          <a:xfrm>
            <a:off x="548640" y="1417320"/>
            <a:ext cx="3538728" cy="2194560"/>
          </a:xfrm>
          <a:prstGeom prst="roundRect">
            <a:avLst>
              <a:gd name="adj" fmla="val 3333"/>
            </a:avLst>
          </a:prstGeom>
          <a:solidFill>
            <a:schemeClr val="bg2"/>
          </a:solidFill>
          <a:ln w="12700">
            <a:solidFill>
              <a:schemeClr val="bg2"/>
            </a:solidFill>
            <a:prstDash val="solid"/>
          </a:ln>
        </p:spPr>
      </p:sp>
      <p:sp>
        <p:nvSpPr>
          <p:cNvPr id="4" name="badge-134"/>
          <p:cNvSpPr/>
          <p:nvPr/>
        </p:nvSpPr>
        <p:spPr>
          <a:xfrm>
            <a:off x="822960" y="1691640"/>
            <a:ext cx="502920" cy="502920"/>
          </a:xfrm>
          <a:prstGeom prst="ellipse">
            <a:avLst/>
          </a:prstGeom>
          <a:solidFill>
            <a:schemeClr val="accent2"/>
          </a:solidFill>
          <a:ln w="12700">
            <a:solidFill>
              <a:schemeClr val="accent2"/>
            </a:solidFill>
            <a:prstDash val="solid"/>
          </a:ln>
        </p:spPr>
      </p:sp>
      <p:sp>
        <p:nvSpPr>
          <p:cNvPr id="5" name="text-135"/>
          <p:cNvSpPr txBox="1"/>
          <p:nvPr/>
        </p:nvSpPr>
        <p:spPr>
          <a:xfrm>
            <a:off x="822960"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136"/>
          <p:cNvSpPr txBox="1"/>
          <p:nvPr/>
        </p:nvSpPr>
        <p:spPr>
          <a:xfrm>
            <a:off x="822960" y="2331720"/>
            <a:ext cx="3017520" cy="594360"/>
          </a:xfrm>
          <a:prstGeom prst="rect">
            <a:avLst/>
          </a:prstGeom>
          <a:noFill/>
          <a:ln/>
        </p:spPr>
        <p:txBody>
          <a:bodyPr wrap="square" lIns="0" tIns="0" rIns="0" bIns="0" rtlCol="0" anchor="t"/>
          <a:lstStyle/>
          <a:p>
            <a:pPr indent="0" marL="0">
              <a:buNone/>
            </a:pPr>
            <a:r>
              <a:rPr lang="en-US" sz="1600" b="1" dirty="0">
                <a:solidFill>
                  <a:schemeClr val="tx1"/>
                </a:solidFill>
              </a:rPr>
              <a:t>STAL is untested where it matters</a:t>
            </a:r>
            <a:endParaRPr lang="en-US" sz="1600" dirty="0"/>
          </a:p>
        </p:txBody>
      </p:sp>
      <p:sp>
        <p:nvSpPr>
          <p:cNvPr id="7" name="text-137"/>
          <p:cNvSpPr txBox="1"/>
          <p:nvPr/>
        </p:nvSpPr>
        <p:spPr>
          <a:xfrm>
            <a:off x="822960" y="2898648"/>
            <a:ext cx="3017520" cy="658368"/>
          </a:xfrm>
          <a:prstGeom prst="rect">
            <a:avLst/>
          </a:prstGeom>
          <a:noFill/>
          <a:ln/>
        </p:spPr>
        <p:txBody>
          <a:bodyPr wrap="square" lIns="0" tIns="0" rIns="0" bIns="0" rtlCol="0" anchor="t"/>
          <a:lstStyle/>
          <a:p>
            <a:pPr indent="0" marL="0">
              <a:buNone/>
            </a:pPr>
            <a:r>
              <a:rPr lang="en-US" sz="1300" dirty="0">
                <a:solidFill>
                  <a:schemeClr val="tx1"/>
                </a:solidFill>
              </a:rPr>
              <a:t>Ablated only on COCO with horizontal boxes [1].</a:t>
            </a:r>
            <a:endParaRPr lang="en-US" sz="1300" dirty="0"/>
          </a:p>
        </p:txBody>
      </p:sp>
      <p:sp>
        <p:nvSpPr>
          <p:cNvPr id="8" name="card-138"/>
          <p:cNvSpPr/>
          <p:nvPr/>
        </p:nvSpPr>
        <p:spPr>
          <a:xfrm>
            <a:off x="4325112" y="1417320"/>
            <a:ext cx="3538728" cy="2194560"/>
          </a:xfrm>
          <a:prstGeom prst="roundRect">
            <a:avLst>
              <a:gd name="adj" fmla="val 3333"/>
            </a:avLst>
          </a:prstGeom>
          <a:solidFill>
            <a:schemeClr val="bg2"/>
          </a:solidFill>
          <a:ln w="12700">
            <a:solidFill>
              <a:schemeClr val="bg2"/>
            </a:solidFill>
            <a:prstDash val="solid"/>
          </a:ln>
        </p:spPr>
      </p:sp>
      <p:sp>
        <p:nvSpPr>
          <p:cNvPr id="9" name="badge-139"/>
          <p:cNvSpPr/>
          <p:nvPr/>
        </p:nvSpPr>
        <p:spPr>
          <a:xfrm>
            <a:off x="4599432" y="1691640"/>
            <a:ext cx="502920" cy="502920"/>
          </a:xfrm>
          <a:prstGeom prst="ellipse">
            <a:avLst/>
          </a:prstGeom>
          <a:solidFill>
            <a:schemeClr val="accent2"/>
          </a:solidFill>
          <a:ln w="12700">
            <a:solidFill>
              <a:schemeClr val="accent2"/>
            </a:solidFill>
            <a:prstDash val="solid"/>
          </a:ln>
        </p:spPr>
      </p:sp>
      <p:sp>
        <p:nvSpPr>
          <p:cNvPr id="10" name="text-140"/>
          <p:cNvSpPr txBox="1"/>
          <p:nvPr/>
        </p:nvSpPr>
        <p:spPr>
          <a:xfrm>
            <a:off x="4599432"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141"/>
          <p:cNvSpPr txBox="1"/>
          <p:nvPr/>
        </p:nvSpPr>
        <p:spPr>
          <a:xfrm>
            <a:off x="4599432" y="2331720"/>
            <a:ext cx="3017520" cy="594360"/>
          </a:xfrm>
          <a:prstGeom prst="rect">
            <a:avLst/>
          </a:prstGeom>
          <a:noFill/>
          <a:ln/>
        </p:spPr>
        <p:txBody>
          <a:bodyPr wrap="square" lIns="0" tIns="0" rIns="0" bIns="0" rtlCol="0" anchor="t"/>
          <a:lstStyle/>
          <a:p>
            <a:pPr indent="0" marL="0">
              <a:buNone/>
            </a:pPr>
            <a:r>
              <a:rPr lang="en-US" sz="1600" b="1" dirty="0">
                <a:solidFill>
                  <a:schemeClr val="tx1"/>
                </a:solidFill>
              </a:rPr>
              <a:t>“STAL” is not one rule</a:t>
            </a:r>
            <a:endParaRPr lang="en-US" sz="1600" dirty="0"/>
          </a:p>
        </p:txBody>
      </p:sp>
      <p:sp>
        <p:nvSpPr>
          <p:cNvPr id="12" name="text-142"/>
          <p:cNvSpPr txBox="1"/>
          <p:nvPr/>
        </p:nvSpPr>
        <p:spPr>
          <a:xfrm>
            <a:off x="4599432" y="2898648"/>
            <a:ext cx="3017520" cy="658368"/>
          </a:xfrm>
          <a:prstGeom prst="rect">
            <a:avLst/>
          </a:prstGeom>
          <a:noFill/>
          <a:ln/>
        </p:spPr>
        <p:txBody>
          <a:bodyPr wrap="square" lIns="0" tIns="0" rIns="0" bIns="0" rtlCol="0" anchor="t"/>
          <a:lstStyle/>
          <a:p>
            <a:pPr indent="0" marL="0">
              <a:buNone/>
            </a:pPr>
            <a:r>
              <a:rPr lang="en-US" sz="1300" dirty="0">
                <a:solidFill>
                  <a:schemeClr val="tx1"/>
                </a:solidFill>
              </a:rPr>
              <a:t>The oriented-box rule changed three times in 2026 [2].</a:t>
            </a:r>
            <a:endParaRPr lang="en-US" sz="1300" dirty="0"/>
          </a:p>
        </p:txBody>
      </p:sp>
      <p:sp>
        <p:nvSpPr>
          <p:cNvPr id="13" name="card-143"/>
          <p:cNvSpPr/>
          <p:nvPr/>
        </p:nvSpPr>
        <p:spPr>
          <a:xfrm>
            <a:off x="8101584" y="1417320"/>
            <a:ext cx="3538728" cy="2194560"/>
          </a:xfrm>
          <a:prstGeom prst="roundRect">
            <a:avLst>
              <a:gd name="adj" fmla="val 3333"/>
            </a:avLst>
          </a:prstGeom>
          <a:solidFill>
            <a:schemeClr val="bg2"/>
          </a:solidFill>
          <a:ln w="12700">
            <a:solidFill>
              <a:schemeClr val="bg2"/>
            </a:solidFill>
            <a:prstDash val="solid"/>
          </a:ln>
        </p:spPr>
      </p:sp>
      <p:sp>
        <p:nvSpPr>
          <p:cNvPr id="14" name="badge-144"/>
          <p:cNvSpPr/>
          <p:nvPr/>
        </p:nvSpPr>
        <p:spPr>
          <a:xfrm>
            <a:off x="8375904" y="1691640"/>
            <a:ext cx="502920" cy="502920"/>
          </a:xfrm>
          <a:prstGeom prst="ellipse">
            <a:avLst/>
          </a:prstGeom>
          <a:solidFill>
            <a:schemeClr val="accent2"/>
          </a:solidFill>
          <a:ln w="12700">
            <a:solidFill>
              <a:schemeClr val="accent2"/>
            </a:solidFill>
            <a:prstDash val="solid"/>
          </a:ln>
        </p:spPr>
      </p:sp>
      <p:sp>
        <p:nvSpPr>
          <p:cNvPr id="15" name="text-145"/>
          <p:cNvSpPr txBox="1"/>
          <p:nvPr/>
        </p:nvSpPr>
        <p:spPr>
          <a:xfrm>
            <a:off x="8375904" y="16916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146"/>
          <p:cNvSpPr txBox="1"/>
          <p:nvPr/>
        </p:nvSpPr>
        <p:spPr>
          <a:xfrm>
            <a:off x="8375904" y="2331720"/>
            <a:ext cx="3017520" cy="594360"/>
          </a:xfrm>
          <a:prstGeom prst="rect">
            <a:avLst/>
          </a:prstGeom>
          <a:noFill/>
          <a:ln/>
        </p:spPr>
        <p:txBody>
          <a:bodyPr wrap="square" lIns="0" tIns="0" rIns="0" bIns="0" rtlCol="0" anchor="t"/>
          <a:lstStyle/>
          <a:p>
            <a:pPr indent="0" marL="0">
              <a:buNone/>
            </a:pPr>
            <a:r>
              <a:rPr lang="en-US" sz="1600" b="1" dirty="0">
                <a:solidFill>
                  <a:schemeClr val="tx1"/>
                </a:solidFill>
              </a:rPr>
              <a:t>No real-time detector in the benchmark</a:t>
            </a:r>
            <a:endParaRPr lang="en-US" sz="1600" dirty="0"/>
          </a:p>
        </p:txBody>
      </p:sp>
      <p:sp>
        <p:nvSpPr>
          <p:cNvPr id="17" name="text-147"/>
          <p:cNvSpPr txBox="1"/>
          <p:nvPr/>
        </p:nvSpPr>
        <p:spPr>
          <a:xfrm>
            <a:off x="8375904" y="2898648"/>
            <a:ext cx="3017520" cy="658368"/>
          </a:xfrm>
          <a:prstGeom prst="rect">
            <a:avLst/>
          </a:prstGeom>
          <a:noFill/>
          <a:ln/>
        </p:spPr>
        <p:txBody>
          <a:bodyPr wrap="square" lIns="0" tIns="0" rIns="0" bIns="0" rtlCol="0" anchor="t"/>
          <a:lstStyle/>
          <a:p>
            <a:pPr indent="0" marL="0">
              <a:buNone/>
            </a:pPr>
            <a:r>
              <a:rPr lang="en-US" sz="1300" dirty="0">
                <a:solidFill>
                  <a:schemeClr val="tx1"/>
                </a:solidFill>
              </a:rPr>
              <a:t>27 configurations of slow detectors, no speed reported [3].</a:t>
            </a:r>
            <a:endParaRPr lang="en-US" sz="1300" dirty="0"/>
          </a:p>
        </p:txBody>
      </p:sp>
      <p:sp>
        <p:nvSpPr>
          <p:cNvPr id="18" name="card-148"/>
          <p:cNvSpPr/>
          <p:nvPr/>
        </p:nvSpPr>
        <p:spPr>
          <a:xfrm>
            <a:off x="548640" y="3840480"/>
            <a:ext cx="3538728" cy="2194560"/>
          </a:xfrm>
          <a:prstGeom prst="roundRect">
            <a:avLst>
              <a:gd name="adj" fmla="val 3333"/>
            </a:avLst>
          </a:prstGeom>
          <a:solidFill>
            <a:schemeClr val="bg2"/>
          </a:solidFill>
          <a:ln w="12700">
            <a:solidFill>
              <a:schemeClr val="bg2"/>
            </a:solidFill>
            <a:prstDash val="solid"/>
          </a:ln>
        </p:spPr>
      </p:sp>
      <p:sp>
        <p:nvSpPr>
          <p:cNvPr id="19" name="badge-149"/>
          <p:cNvSpPr/>
          <p:nvPr/>
        </p:nvSpPr>
        <p:spPr>
          <a:xfrm>
            <a:off x="822960" y="4114800"/>
            <a:ext cx="502920" cy="502920"/>
          </a:xfrm>
          <a:prstGeom prst="ellipse">
            <a:avLst/>
          </a:prstGeom>
          <a:solidFill>
            <a:schemeClr val="accent2"/>
          </a:solidFill>
          <a:ln w="12700">
            <a:solidFill>
              <a:schemeClr val="accent2"/>
            </a:solidFill>
            <a:prstDash val="solid"/>
          </a:ln>
        </p:spPr>
      </p:sp>
      <p:sp>
        <p:nvSpPr>
          <p:cNvPr id="20" name="text-150"/>
          <p:cNvSpPr txBox="1"/>
          <p:nvPr/>
        </p:nvSpPr>
        <p:spPr>
          <a:xfrm>
            <a:off x="822960" y="41148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151"/>
          <p:cNvSpPr txBox="1"/>
          <p:nvPr/>
        </p:nvSpPr>
        <p:spPr>
          <a:xfrm>
            <a:off x="822960"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Shape-aware assignment untested here</a:t>
            </a:r>
            <a:endParaRPr lang="en-US" sz="1600" dirty="0"/>
          </a:p>
        </p:txBody>
      </p:sp>
      <p:sp>
        <p:nvSpPr>
          <p:cNvPr id="22" name="text-152"/>
          <p:cNvSpPr txBox="1"/>
          <p:nvPr/>
        </p:nvSpPr>
        <p:spPr>
          <a:xfrm>
            <a:off x="822960" y="5321808"/>
            <a:ext cx="3017520" cy="658368"/>
          </a:xfrm>
          <a:prstGeom prst="rect">
            <a:avLst/>
          </a:prstGeom>
          <a:noFill/>
          <a:ln/>
        </p:spPr>
        <p:txBody>
          <a:bodyPr wrap="square" lIns="0" tIns="0" rIns="0" bIns="0" rtlCol="0" anchor="t"/>
          <a:lstStyle/>
          <a:p>
            <a:pPr indent="0" marL="0">
              <a:buNone/>
            </a:pPr>
            <a:r>
              <a:rPr lang="en-US" sz="1300" dirty="0">
                <a:solidFill>
                  <a:schemeClr val="tx1"/>
                </a:solidFill>
              </a:rPr>
              <a:t>EARL, SARFA-Net, RDCNet: DOTA-like data only [8–10].</a:t>
            </a:r>
            <a:endParaRPr lang="en-US" sz="1300" dirty="0"/>
          </a:p>
        </p:txBody>
      </p:sp>
      <p:sp>
        <p:nvSpPr>
          <p:cNvPr id="23" name="card-153"/>
          <p:cNvSpPr/>
          <p:nvPr/>
        </p:nvSpPr>
        <p:spPr>
          <a:xfrm>
            <a:off x="4325112" y="3840480"/>
            <a:ext cx="3538728" cy="2194560"/>
          </a:xfrm>
          <a:prstGeom prst="roundRect">
            <a:avLst>
              <a:gd name="adj" fmla="val 3333"/>
            </a:avLst>
          </a:prstGeom>
          <a:solidFill>
            <a:schemeClr val="bg2"/>
          </a:solidFill>
          <a:ln w="12700">
            <a:solidFill>
              <a:schemeClr val="bg2"/>
            </a:solidFill>
            <a:prstDash val="solid"/>
          </a:ln>
        </p:spPr>
      </p:sp>
      <p:sp>
        <p:nvSpPr>
          <p:cNvPr id="24" name="badge-154"/>
          <p:cNvSpPr/>
          <p:nvPr/>
        </p:nvSpPr>
        <p:spPr>
          <a:xfrm>
            <a:off x="4599432" y="4114800"/>
            <a:ext cx="502920" cy="502920"/>
          </a:xfrm>
          <a:prstGeom prst="ellipse">
            <a:avLst/>
          </a:prstGeom>
          <a:solidFill>
            <a:schemeClr val="accent2"/>
          </a:solidFill>
          <a:ln w="12700">
            <a:solidFill>
              <a:schemeClr val="accent2"/>
            </a:solidFill>
            <a:prstDash val="solid"/>
          </a:ln>
        </p:spPr>
      </p:sp>
      <p:sp>
        <p:nvSpPr>
          <p:cNvPr id="25" name="text-155"/>
          <p:cNvSpPr txBox="1"/>
          <p:nvPr/>
        </p:nvSpPr>
        <p:spPr>
          <a:xfrm>
            <a:off x="4599432" y="41148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156"/>
          <p:cNvSpPr txBox="1"/>
          <p:nvPr/>
        </p:nvSpPr>
        <p:spPr>
          <a:xfrm>
            <a:off x="4599432"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The diagnosis is thin</a:t>
            </a:r>
            <a:endParaRPr lang="en-US" sz="1600" dirty="0"/>
          </a:p>
        </p:txBody>
      </p:sp>
      <p:sp>
        <p:nvSpPr>
          <p:cNvPr id="27" name="text-157"/>
          <p:cNvSpPr txBox="1"/>
          <p:nvPr/>
        </p:nvSpPr>
        <p:spPr>
          <a:xfrm>
            <a:off x="4599432" y="5321808"/>
            <a:ext cx="3017520" cy="658368"/>
          </a:xfrm>
          <a:prstGeom prst="rect">
            <a:avLst/>
          </a:prstGeom>
          <a:noFill/>
          <a:ln/>
        </p:spPr>
        <p:txBody>
          <a:bodyPr wrap="square" lIns="0" tIns="0" rIns="0" bIns="0" rtlCol="0" anchor="t"/>
          <a:lstStyle/>
          <a:p>
            <a:pPr indent="0" marL="0">
              <a:buNone/>
            </a:pPr>
            <a:r>
              <a:rPr lang="en-US" sz="1300" dirty="0">
                <a:solidFill>
                  <a:schemeClr val="tx1"/>
                </a:solidFill>
              </a:rPr>
              <a:t>Nobody measures neighbours competing for anchors, despite &gt; 100 objects per image [3].</a:t>
            </a:r>
            <a:endParaRPr lang="en-US" sz="1300" dirty="0"/>
          </a:p>
        </p:txBody>
      </p:sp>
      <p:sp>
        <p:nvSpPr>
          <p:cNvPr id="28" name="card-158"/>
          <p:cNvSpPr/>
          <p:nvPr/>
        </p:nvSpPr>
        <p:spPr>
          <a:xfrm>
            <a:off x="8101584" y="3840480"/>
            <a:ext cx="3538728" cy="2194560"/>
          </a:xfrm>
          <a:prstGeom prst="roundRect">
            <a:avLst>
              <a:gd name="adj" fmla="val 3333"/>
            </a:avLst>
          </a:prstGeom>
          <a:solidFill>
            <a:schemeClr val="bg2"/>
          </a:solidFill>
          <a:ln w="12700">
            <a:solidFill>
              <a:schemeClr val="bg2"/>
            </a:solidFill>
            <a:prstDash val="solid"/>
          </a:ln>
        </p:spPr>
      </p:sp>
      <p:sp>
        <p:nvSpPr>
          <p:cNvPr id="29" name="badge-159"/>
          <p:cNvSpPr/>
          <p:nvPr/>
        </p:nvSpPr>
        <p:spPr>
          <a:xfrm>
            <a:off x="8375904" y="4114800"/>
            <a:ext cx="502920" cy="502920"/>
          </a:xfrm>
          <a:prstGeom prst="ellipse">
            <a:avLst/>
          </a:prstGeom>
          <a:solidFill>
            <a:schemeClr val="accent2"/>
          </a:solidFill>
          <a:ln w="12700">
            <a:solidFill>
              <a:schemeClr val="accent2"/>
            </a:solidFill>
            <a:prstDash val="solid"/>
          </a:ln>
        </p:spPr>
      </p:sp>
      <p:sp>
        <p:nvSpPr>
          <p:cNvPr id="30" name="text-160"/>
          <p:cNvSpPr txBox="1"/>
          <p:nvPr/>
        </p:nvSpPr>
        <p:spPr>
          <a:xfrm>
            <a:off x="8375904" y="41148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161"/>
          <p:cNvSpPr txBox="1"/>
          <p:nvPr/>
        </p:nvSpPr>
        <p:spPr>
          <a:xfrm>
            <a:off x="8375904"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Evaluation settings differ silently</a:t>
            </a:r>
            <a:endParaRPr lang="en-US" sz="1600" dirty="0"/>
          </a:p>
        </p:txBody>
      </p:sp>
      <p:sp>
        <p:nvSpPr>
          <p:cNvPr id="32" name="text-162"/>
          <p:cNvSpPr txBox="1"/>
          <p:nvPr/>
        </p:nvSpPr>
        <p:spPr>
          <a:xfrm>
            <a:off x="8375904" y="5321808"/>
            <a:ext cx="3017520" cy="658368"/>
          </a:xfrm>
          <a:prstGeom prst="rect">
            <a:avLst/>
          </a:prstGeom>
          <a:noFill/>
          <a:ln/>
        </p:spPr>
        <p:txBody>
          <a:bodyPr wrap="square" lIns="0" tIns="0" rIns="0" bIns="0" rtlCol="0" anchor="t"/>
          <a:lstStyle/>
          <a:p>
            <a:pPr indent="0" marL="0">
              <a:buNone/>
            </a:pPr>
            <a:r>
              <a:rPr lang="en-US" sz="1300" dirty="0">
                <a:solidFill>
                  <a:schemeClr val="tx1"/>
                </a:solidFill>
              </a:rPr>
              <a:t>Official evaluator keeps 1,500 detections per image; Ultralytics keeps 300 [2, 15].</a:t>
            </a:r>
            <a:endParaRPr lang="en-US" sz="13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Hypothesis and research questions</a:t>
            </a:r>
            <a:endParaRPr lang="en-US" sz="3000" dirty="0"/>
          </a:p>
        </p:txBody>
      </p:sp>
      <p:sp>
        <p:nvSpPr>
          <p:cNvPr id="3" name="card-163"/>
          <p:cNvSpPr/>
          <p:nvPr/>
        </p:nvSpPr>
        <p:spPr>
          <a:xfrm>
            <a:off x="548640" y="1371600"/>
            <a:ext cx="11091672" cy="1417320"/>
          </a:xfrm>
          <a:prstGeom prst="roundRect">
            <a:avLst>
              <a:gd name="adj" fmla="val 5161"/>
            </a:avLst>
          </a:prstGeom>
          <a:solidFill>
            <a:srgbClr val="FDEBDD"/>
          </a:solidFill>
          <a:ln w="12700">
            <a:solidFill>
              <a:srgbClr val="FDEBDD"/>
            </a:solidFill>
            <a:prstDash val="solid"/>
          </a:ln>
        </p:spPr>
      </p:sp>
      <p:sp>
        <p:nvSpPr>
          <p:cNvPr id="4" name="text-164"/>
          <p:cNvSpPr txBox="1"/>
          <p:nvPr/>
        </p:nvSpPr>
        <p:spPr>
          <a:xfrm>
            <a:off x="868680" y="1536192"/>
            <a:ext cx="36576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CENTRAL HYPOTHESIS</a:t>
            </a:r>
            <a:endParaRPr lang="en-US" sz="1200" dirty="0"/>
          </a:p>
        </p:txBody>
      </p:sp>
      <p:sp>
        <p:nvSpPr>
          <p:cNvPr id="5" name="text-165"/>
          <p:cNvSpPr txBox="1"/>
          <p:nvPr/>
        </p:nvSpPr>
        <p:spPr>
          <a:xfrm>
            <a:off x="868680" y="1828800"/>
            <a:ext cx="10515600" cy="868680"/>
          </a:xfrm>
          <a:prstGeom prst="rect">
            <a:avLst/>
          </a:prstGeom>
          <a:noFill/>
          <a:ln/>
        </p:spPr>
        <p:txBody>
          <a:bodyPr wrap="square" lIns="0" tIns="0" rIns="0" bIns="0" rtlCol="0" anchor="t"/>
          <a:lstStyle/>
          <a:p>
            <a:pPr indent="0" marL="0">
              <a:buNone/>
            </a:pPr>
            <a:r>
              <a:rPr lang="en-US" sz="1500" dirty="0">
                <a:solidFill>
                  <a:schemeClr val="tx1"/>
                </a:solidFill>
              </a:rPr>
              <a:t>For AI-TOD-R-sized objects, the threshold (8 vs 16 px) sets how many candidates an object gets; the shape only sets where they fall and how often neighbours compete. A shape-preserving rule can therefore help only elongated objects in specific layouts, and this is predictable from the labels before training.</a:t>
            </a:r>
            <a:endParaRPr lang="en-US" sz="1500" dirty="0"/>
          </a:p>
        </p:txBody>
      </p:sp>
      <p:sp>
        <p:nvSpPr>
          <p:cNvPr id="6" name="card-166"/>
          <p:cNvSpPr/>
          <p:nvPr/>
        </p:nvSpPr>
        <p:spPr>
          <a:xfrm>
            <a:off x="548640" y="3017520"/>
            <a:ext cx="2606040" cy="2743200"/>
          </a:xfrm>
          <a:prstGeom prst="roundRect">
            <a:avLst>
              <a:gd name="adj" fmla="val 2807"/>
            </a:avLst>
          </a:prstGeom>
          <a:solidFill>
            <a:schemeClr val="bg2"/>
          </a:solidFill>
          <a:ln w="12700">
            <a:solidFill>
              <a:schemeClr val="bg2"/>
            </a:solidFill>
            <a:prstDash val="solid"/>
          </a:ln>
        </p:spPr>
      </p:sp>
      <p:sp>
        <p:nvSpPr>
          <p:cNvPr id="7" name="icon-disc-167"/>
          <p:cNvSpPr/>
          <p:nvPr/>
        </p:nvSpPr>
        <p:spPr>
          <a:xfrm>
            <a:off x="777240" y="3218688"/>
            <a:ext cx="530352" cy="530352"/>
          </a:xfrm>
          <a:prstGeom prst="ellipse">
            <a:avLst/>
          </a:prstGeom>
          <a:solidFill>
            <a:schemeClr val="tx1"/>
          </a:solidFill>
          <a:ln w="12700">
            <a:solidFill>
              <a:schemeClr val="tx1"/>
            </a:solidFill>
            <a:prstDash val="solid"/>
          </a:ln>
        </p:spPr>
      </p:sp>
      <p:pic>
        <p:nvPicPr>
          <p:cNvPr id="8" name="icon-168" descr="icon">    </p:cNvPr>
          <p:cNvPicPr>
            <a:picLocks noChangeAspect="1"/>
          </p:cNvPicPr>
          <p:nvPr/>
        </p:nvPicPr>
        <p:blipFill>
          <a:blip r:embed="rId1"/>
          <a:stretch>
            <a:fillRect/>
          </a:stretch>
        </p:blipFill>
        <p:spPr>
          <a:xfrm>
            <a:off x="904524" y="3345972"/>
            <a:ext cx="275783" cy="275783"/>
          </a:xfrm>
          <a:prstGeom prst="rect">
            <a:avLst/>
          </a:prstGeom>
        </p:spPr>
      </p:pic>
      <p:sp>
        <p:nvSpPr>
          <p:cNvPr id="9" name="text-169"/>
          <p:cNvSpPr txBox="1"/>
          <p:nvPr/>
        </p:nvSpPr>
        <p:spPr>
          <a:xfrm>
            <a:off x="2423160" y="3291840"/>
            <a:ext cx="502920" cy="365760"/>
          </a:xfrm>
          <a:prstGeom prst="rect">
            <a:avLst/>
          </a:prstGeom>
          <a:noFill/>
          <a:ln/>
        </p:spPr>
        <p:txBody>
          <a:bodyPr wrap="square" lIns="0" tIns="0" rIns="0" bIns="0" rtlCol="0" anchor="t"/>
          <a:lstStyle/>
          <a:p>
            <a:pPr algn="r" indent="0" marL="0">
              <a:buNone/>
            </a:pPr>
            <a:r>
              <a:rPr lang="en-US" sz="1300" b="1" dirty="0">
                <a:solidFill>
                  <a:schemeClr val="accent2"/>
                </a:solidFill>
              </a:rPr>
              <a:t>O1</a:t>
            </a:r>
            <a:endParaRPr lang="en-US" sz="1300" dirty="0"/>
          </a:p>
        </p:txBody>
      </p:sp>
      <p:sp>
        <p:nvSpPr>
          <p:cNvPr id="10" name="text-170"/>
          <p:cNvSpPr txBox="1"/>
          <p:nvPr/>
        </p:nvSpPr>
        <p:spPr>
          <a:xfrm>
            <a:off x="777240" y="3886200"/>
            <a:ext cx="2194560" cy="365760"/>
          </a:xfrm>
          <a:prstGeom prst="rect">
            <a:avLst/>
          </a:prstGeom>
          <a:noFill/>
          <a:ln/>
        </p:spPr>
        <p:txBody>
          <a:bodyPr wrap="square" lIns="0" tIns="0" rIns="0" bIns="0" rtlCol="0" anchor="t"/>
          <a:lstStyle/>
          <a:p>
            <a:pPr indent="0" marL="0">
              <a:buNone/>
            </a:pPr>
            <a:r>
              <a:rPr lang="en-US" sz="1600" b="1" dirty="0">
                <a:solidFill>
                  <a:schemeClr val="tx1"/>
                </a:solidFill>
              </a:rPr>
              <a:t>RQ1 · Benchmark</a:t>
            </a:r>
            <a:endParaRPr lang="en-US" sz="1600" dirty="0"/>
          </a:p>
        </p:txBody>
      </p:sp>
      <p:sp>
        <p:nvSpPr>
          <p:cNvPr id="11" name="text-171"/>
          <p:cNvSpPr txBox="1"/>
          <p:nvPr/>
        </p:nvSpPr>
        <p:spPr>
          <a:xfrm>
            <a:off x="777240" y="4315968"/>
            <a:ext cx="2194560" cy="1371600"/>
          </a:xfrm>
          <a:prstGeom prst="rect">
            <a:avLst/>
          </a:prstGeom>
          <a:noFill/>
          <a:ln/>
        </p:spPr>
        <p:txBody>
          <a:bodyPr wrap="square" lIns="0" tIns="0" rIns="0" bIns="0" rtlCol="0" anchor="t"/>
          <a:lstStyle/>
          <a:p>
            <a:pPr indent="0" marL="0">
              <a:buNone/>
            </a:pPr>
            <a:r>
              <a:rPr lang="en-US" sz="1300" dirty="0">
                <a:solidFill>
                  <a:schemeClr val="tx1"/>
                </a:solidFill>
              </a:rPr>
              <a:t>How do YOLO11-OBB and YOLO26-OBB perform on AI-TOD-R with the official evaluator, by object size and class?</a:t>
            </a:r>
            <a:endParaRPr lang="en-US" sz="1300" dirty="0"/>
          </a:p>
        </p:txBody>
      </p:sp>
      <p:sp>
        <p:nvSpPr>
          <p:cNvPr id="12" name="card-172"/>
          <p:cNvSpPr/>
          <p:nvPr/>
        </p:nvSpPr>
        <p:spPr>
          <a:xfrm>
            <a:off x="3364992" y="3017520"/>
            <a:ext cx="2606040" cy="2743200"/>
          </a:xfrm>
          <a:prstGeom prst="roundRect">
            <a:avLst>
              <a:gd name="adj" fmla="val 2807"/>
            </a:avLst>
          </a:prstGeom>
          <a:solidFill>
            <a:schemeClr val="bg2"/>
          </a:solidFill>
          <a:ln w="12700">
            <a:solidFill>
              <a:schemeClr val="bg2"/>
            </a:solidFill>
            <a:prstDash val="solid"/>
          </a:ln>
        </p:spPr>
      </p:sp>
      <p:sp>
        <p:nvSpPr>
          <p:cNvPr id="13" name="icon-disc-173"/>
          <p:cNvSpPr/>
          <p:nvPr/>
        </p:nvSpPr>
        <p:spPr>
          <a:xfrm>
            <a:off x="3593592" y="3218688"/>
            <a:ext cx="530352" cy="530352"/>
          </a:xfrm>
          <a:prstGeom prst="ellipse">
            <a:avLst/>
          </a:prstGeom>
          <a:solidFill>
            <a:schemeClr val="tx1"/>
          </a:solidFill>
          <a:ln w="12700">
            <a:solidFill>
              <a:schemeClr val="tx1"/>
            </a:solidFill>
            <a:prstDash val="solid"/>
          </a:ln>
        </p:spPr>
      </p:sp>
      <p:pic>
        <p:nvPicPr>
          <p:cNvPr id="14" name="icon-174" descr="icon">    </p:cNvPr>
          <p:cNvPicPr>
            <a:picLocks noChangeAspect="1"/>
          </p:cNvPicPr>
          <p:nvPr/>
        </p:nvPicPr>
        <p:blipFill>
          <a:blip r:embed="rId2"/>
          <a:stretch>
            <a:fillRect/>
          </a:stretch>
        </p:blipFill>
        <p:spPr>
          <a:xfrm>
            <a:off x="3720876" y="3345972"/>
            <a:ext cx="275783" cy="275783"/>
          </a:xfrm>
          <a:prstGeom prst="rect">
            <a:avLst/>
          </a:prstGeom>
        </p:spPr>
      </p:pic>
      <p:sp>
        <p:nvSpPr>
          <p:cNvPr id="15" name="text-175"/>
          <p:cNvSpPr txBox="1"/>
          <p:nvPr/>
        </p:nvSpPr>
        <p:spPr>
          <a:xfrm>
            <a:off x="5239512" y="3291840"/>
            <a:ext cx="502920" cy="365760"/>
          </a:xfrm>
          <a:prstGeom prst="rect">
            <a:avLst/>
          </a:prstGeom>
          <a:noFill/>
          <a:ln/>
        </p:spPr>
        <p:txBody>
          <a:bodyPr wrap="square" lIns="0" tIns="0" rIns="0" bIns="0" rtlCol="0" anchor="t"/>
          <a:lstStyle/>
          <a:p>
            <a:pPr algn="r" indent="0" marL="0">
              <a:buNone/>
            </a:pPr>
            <a:r>
              <a:rPr lang="en-US" sz="1300" b="1" dirty="0">
                <a:solidFill>
                  <a:schemeClr val="accent2"/>
                </a:solidFill>
              </a:rPr>
              <a:t>O2</a:t>
            </a:r>
            <a:endParaRPr lang="en-US" sz="1300" dirty="0"/>
          </a:p>
        </p:txBody>
      </p:sp>
      <p:sp>
        <p:nvSpPr>
          <p:cNvPr id="16" name="text-176"/>
          <p:cNvSpPr txBox="1"/>
          <p:nvPr/>
        </p:nvSpPr>
        <p:spPr>
          <a:xfrm>
            <a:off x="3593592" y="3886200"/>
            <a:ext cx="2194560" cy="365760"/>
          </a:xfrm>
          <a:prstGeom prst="rect">
            <a:avLst/>
          </a:prstGeom>
          <a:noFill/>
          <a:ln/>
        </p:spPr>
        <p:txBody>
          <a:bodyPr wrap="square" lIns="0" tIns="0" rIns="0" bIns="0" rtlCol="0" anchor="t"/>
          <a:lstStyle/>
          <a:p>
            <a:pPr indent="0" marL="0">
              <a:buNone/>
            </a:pPr>
            <a:r>
              <a:rPr lang="en-US" sz="1600" b="1" dirty="0">
                <a:solidFill>
                  <a:schemeClr val="tx1"/>
                </a:solidFill>
              </a:rPr>
              <a:t>RQ2 · Diagnosis</a:t>
            </a:r>
            <a:endParaRPr lang="en-US" sz="1600" dirty="0"/>
          </a:p>
        </p:txBody>
      </p:sp>
      <p:sp>
        <p:nvSpPr>
          <p:cNvPr id="17" name="text-177"/>
          <p:cNvSpPr txBox="1"/>
          <p:nvPr/>
        </p:nvSpPr>
        <p:spPr>
          <a:xfrm>
            <a:off x="3593592" y="4315968"/>
            <a:ext cx="2194560" cy="1371600"/>
          </a:xfrm>
          <a:prstGeom prst="rect">
            <a:avLst/>
          </a:prstGeom>
          <a:noFill/>
          <a:ln/>
        </p:spPr>
        <p:txBody>
          <a:bodyPr wrap="square" lIns="0" tIns="0" rIns="0" bIns="0" rtlCol="0" anchor="t"/>
          <a:lstStyle/>
          <a:p>
            <a:pPr indent="0" marL="0">
              <a:buNone/>
            </a:pPr>
            <a:r>
              <a:rPr lang="en-US" sz="1300" dirty="0">
                <a:solidFill>
                  <a:schemeClr val="tx1"/>
                </a:solidFill>
              </a:rPr>
              <a:t>How do the candidate rules change candidate counts, placement and conflicts between neighbours?</a:t>
            </a:r>
            <a:endParaRPr lang="en-US" sz="1300" dirty="0"/>
          </a:p>
        </p:txBody>
      </p:sp>
      <p:sp>
        <p:nvSpPr>
          <p:cNvPr id="18" name="card-178"/>
          <p:cNvSpPr/>
          <p:nvPr/>
        </p:nvSpPr>
        <p:spPr>
          <a:xfrm>
            <a:off x="6181344" y="3017520"/>
            <a:ext cx="2606040" cy="2743200"/>
          </a:xfrm>
          <a:prstGeom prst="roundRect">
            <a:avLst>
              <a:gd name="adj" fmla="val 2807"/>
            </a:avLst>
          </a:prstGeom>
          <a:solidFill>
            <a:schemeClr val="bg2"/>
          </a:solidFill>
          <a:ln w="12700">
            <a:solidFill>
              <a:schemeClr val="bg2"/>
            </a:solidFill>
            <a:prstDash val="solid"/>
          </a:ln>
        </p:spPr>
      </p:sp>
      <p:sp>
        <p:nvSpPr>
          <p:cNvPr id="19" name="icon-disc-179"/>
          <p:cNvSpPr/>
          <p:nvPr/>
        </p:nvSpPr>
        <p:spPr>
          <a:xfrm>
            <a:off x="6409944" y="3218688"/>
            <a:ext cx="530352" cy="530352"/>
          </a:xfrm>
          <a:prstGeom prst="ellipse">
            <a:avLst/>
          </a:prstGeom>
          <a:solidFill>
            <a:schemeClr val="tx1"/>
          </a:solidFill>
          <a:ln w="12700">
            <a:solidFill>
              <a:schemeClr val="tx1"/>
            </a:solidFill>
            <a:prstDash val="solid"/>
          </a:ln>
        </p:spPr>
      </p:sp>
      <p:pic>
        <p:nvPicPr>
          <p:cNvPr id="20" name="icon-180" descr="icon">    </p:cNvPr>
          <p:cNvPicPr>
            <a:picLocks noChangeAspect="1"/>
          </p:cNvPicPr>
          <p:nvPr/>
        </p:nvPicPr>
        <p:blipFill>
          <a:blip r:embed="rId3"/>
          <a:stretch>
            <a:fillRect/>
          </a:stretch>
        </p:blipFill>
        <p:spPr>
          <a:xfrm>
            <a:off x="6537228" y="3345972"/>
            <a:ext cx="275783" cy="275783"/>
          </a:xfrm>
          <a:prstGeom prst="rect">
            <a:avLst/>
          </a:prstGeom>
        </p:spPr>
      </p:pic>
      <p:sp>
        <p:nvSpPr>
          <p:cNvPr id="21" name="text-181"/>
          <p:cNvSpPr txBox="1"/>
          <p:nvPr/>
        </p:nvSpPr>
        <p:spPr>
          <a:xfrm>
            <a:off x="8055864" y="3291840"/>
            <a:ext cx="502920" cy="365760"/>
          </a:xfrm>
          <a:prstGeom prst="rect">
            <a:avLst/>
          </a:prstGeom>
          <a:noFill/>
          <a:ln/>
        </p:spPr>
        <p:txBody>
          <a:bodyPr wrap="square" lIns="0" tIns="0" rIns="0" bIns="0" rtlCol="0" anchor="t"/>
          <a:lstStyle/>
          <a:p>
            <a:pPr algn="r" indent="0" marL="0">
              <a:buNone/>
            </a:pPr>
            <a:r>
              <a:rPr lang="en-US" sz="1300" b="1" dirty="0">
                <a:solidFill>
                  <a:schemeClr val="accent2"/>
                </a:solidFill>
              </a:rPr>
              <a:t>O3</a:t>
            </a:r>
            <a:endParaRPr lang="en-US" sz="1300" dirty="0"/>
          </a:p>
        </p:txBody>
      </p:sp>
      <p:sp>
        <p:nvSpPr>
          <p:cNvPr id="22" name="text-182"/>
          <p:cNvSpPr txBox="1"/>
          <p:nvPr/>
        </p:nvSpPr>
        <p:spPr>
          <a:xfrm>
            <a:off x="6409944" y="3886200"/>
            <a:ext cx="2194560" cy="365760"/>
          </a:xfrm>
          <a:prstGeom prst="rect">
            <a:avLst/>
          </a:prstGeom>
          <a:noFill/>
          <a:ln/>
        </p:spPr>
        <p:txBody>
          <a:bodyPr wrap="square" lIns="0" tIns="0" rIns="0" bIns="0" rtlCol="0" anchor="t"/>
          <a:lstStyle/>
          <a:p>
            <a:pPr indent="0" marL="0">
              <a:buNone/>
            </a:pPr>
            <a:r>
              <a:rPr lang="en-US" sz="1600" b="1" dirty="0">
                <a:solidFill>
                  <a:schemeClr val="tx1"/>
                </a:solidFill>
              </a:rPr>
              <a:t>RQ3 · Intervention</a:t>
            </a:r>
            <a:endParaRPr lang="en-US" sz="1600" dirty="0"/>
          </a:p>
        </p:txBody>
      </p:sp>
      <p:sp>
        <p:nvSpPr>
          <p:cNvPr id="23" name="text-183"/>
          <p:cNvSpPr txBox="1"/>
          <p:nvPr/>
        </p:nvSpPr>
        <p:spPr>
          <a:xfrm>
            <a:off x="6409944" y="4315968"/>
            <a:ext cx="2194560" cy="1371600"/>
          </a:xfrm>
          <a:prstGeom prst="rect">
            <a:avLst/>
          </a:prstGeom>
          <a:noFill/>
          <a:ln/>
        </p:spPr>
        <p:txBody>
          <a:bodyPr wrap="square" lIns="0" tIns="0" rIns="0" bIns="0" rtlCol="0" anchor="t"/>
          <a:lstStyle/>
          <a:p>
            <a:pPr indent="0" marL="0">
              <a:buNone/>
            </a:pPr>
            <a:r>
              <a:rPr lang="en-US" sz="1300" dirty="0">
                <a:solidFill>
                  <a:schemeClr val="tx1"/>
                </a:solidFill>
              </a:rPr>
              <a:t>Does OA-STAL v2 with a conflict rule improve tiny-object AP at zero inference cost?</a:t>
            </a:r>
            <a:endParaRPr lang="en-US" sz="1300" dirty="0"/>
          </a:p>
        </p:txBody>
      </p:sp>
      <p:sp>
        <p:nvSpPr>
          <p:cNvPr id="24" name="card-184"/>
          <p:cNvSpPr/>
          <p:nvPr/>
        </p:nvSpPr>
        <p:spPr>
          <a:xfrm>
            <a:off x="8997696" y="3017520"/>
            <a:ext cx="2606040" cy="2743200"/>
          </a:xfrm>
          <a:prstGeom prst="roundRect">
            <a:avLst>
              <a:gd name="adj" fmla="val 2807"/>
            </a:avLst>
          </a:prstGeom>
          <a:solidFill>
            <a:schemeClr val="bg2"/>
          </a:solidFill>
          <a:ln w="12700">
            <a:solidFill>
              <a:schemeClr val="bg2"/>
            </a:solidFill>
            <a:prstDash val="solid"/>
          </a:ln>
        </p:spPr>
      </p:sp>
      <p:sp>
        <p:nvSpPr>
          <p:cNvPr id="25" name="icon-disc-185"/>
          <p:cNvSpPr/>
          <p:nvPr/>
        </p:nvSpPr>
        <p:spPr>
          <a:xfrm>
            <a:off x="9226296" y="3218688"/>
            <a:ext cx="530352" cy="530352"/>
          </a:xfrm>
          <a:prstGeom prst="ellipse">
            <a:avLst/>
          </a:prstGeom>
          <a:solidFill>
            <a:schemeClr val="tx1"/>
          </a:solidFill>
          <a:ln w="12700">
            <a:solidFill>
              <a:schemeClr val="tx1"/>
            </a:solidFill>
            <a:prstDash val="solid"/>
          </a:ln>
        </p:spPr>
      </p:sp>
      <p:pic>
        <p:nvPicPr>
          <p:cNvPr id="26" name="icon-186" descr="icon">    </p:cNvPr>
          <p:cNvPicPr>
            <a:picLocks noChangeAspect="1"/>
          </p:cNvPicPr>
          <p:nvPr/>
        </p:nvPicPr>
        <p:blipFill>
          <a:blip r:embed="rId4"/>
          <a:stretch>
            <a:fillRect/>
          </a:stretch>
        </p:blipFill>
        <p:spPr>
          <a:xfrm>
            <a:off x="9353580" y="3345972"/>
            <a:ext cx="275783" cy="275783"/>
          </a:xfrm>
          <a:prstGeom prst="rect">
            <a:avLst/>
          </a:prstGeom>
        </p:spPr>
      </p:pic>
      <p:sp>
        <p:nvSpPr>
          <p:cNvPr id="27" name="text-187"/>
          <p:cNvSpPr txBox="1"/>
          <p:nvPr/>
        </p:nvSpPr>
        <p:spPr>
          <a:xfrm>
            <a:off x="10872216" y="3291840"/>
            <a:ext cx="502920" cy="365760"/>
          </a:xfrm>
          <a:prstGeom prst="rect">
            <a:avLst/>
          </a:prstGeom>
          <a:noFill/>
          <a:ln/>
        </p:spPr>
        <p:txBody>
          <a:bodyPr wrap="square" lIns="0" tIns="0" rIns="0" bIns="0" rtlCol="0" anchor="t"/>
          <a:lstStyle/>
          <a:p>
            <a:pPr algn="r" indent="0" marL="0">
              <a:buNone/>
            </a:pPr>
            <a:r>
              <a:rPr lang="en-US" sz="1300" b="1" dirty="0">
                <a:solidFill>
                  <a:schemeClr val="accent2"/>
                </a:solidFill>
              </a:rPr>
              <a:t>O4</a:t>
            </a:r>
            <a:endParaRPr lang="en-US" sz="1300" dirty="0"/>
          </a:p>
        </p:txBody>
      </p:sp>
      <p:sp>
        <p:nvSpPr>
          <p:cNvPr id="28" name="text-188"/>
          <p:cNvSpPr txBox="1"/>
          <p:nvPr/>
        </p:nvSpPr>
        <p:spPr>
          <a:xfrm>
            <a:off x="9226296" y="3886200"/>
            <a:ext cx="2194560" cy="365760"/>
          </a:xfrm>
          <a:prstGeom prst="rect">
            <a:avLst/>
          </a:prstGeom>
          <a:noFill/>
          <a:ln/>
        </p:spPr>
        <p:txBody>
          <a:bodyPr wrap="square" lIns="0" tIns="0" rIns="0" bIns="0" rtlCol="0" anchor="t"/>
          <a:lstStyle/>
          <a:p>
            <a:pPr indent="0" marL="0">
              <a:buNone/>
            </a:pPr>
            <a:r>
              <a:rPr lang="en-US" sz="1600" b="1" dirty="0">
                <a:solidFill>
                  <a:schemeClr val="tx1"/>
                </a:solidFill>
              </a:rPr>
              <a:t>RQ4 · Transfer</a:t>
            </a:r>
            <a:endParaRPr lang="en-US" sz="1600" dirty="0"/>
          </a:p>
        </p:txBody>
      </p:sp>
      <p:sp>
        <p:nvSpPr>
          <p:cNvPr id="29" name="text-189"/>
          <p:cNvSpPr txBox="1"/>
          <p:nvPr/>
        </p:nvSpPr>
        <p:spPr>
          <a:xfrm>
            <a:off x="9226296" y="4315968"/>
            <a:ext cx="2194560" cy="1371600"/>
          </a:xfrm>
          <a:prstGeom prst="rect">
            <a:avLst/>
          </a:prstGeom>
          <a:noFill/>
          <a:ln/>
        </p:spPr>
        <p:txBody>
          <a:bodyPr wrap="square" lIns="0" tIns="0" rIns="0" bIns="0" rtlCol="0" anchor="t"/>
          <a:lstStyle/>
          <a:p>
            <a:pPr indent="0" marL="0">
              <a:buNone/>
            </a:pPr>
            <a:r>
              <a:rPr lang="en-US" sz="1300" dirty="0">
                <a:solidFill>
                  <a:schemeClr val="tx1"/>
                </a:solidFill>
              </a:rPr>
              <a:t>Do the findings transfer to a second dataset, in proportion to the objects affected?</a:t>
            </a:r>
            <a:endParaRPr lang="en-US" sz="1300" dirty="0"/>
          </a:p>
        </p:txBody>
      </p:sp>
      <p:sp>
        <p:nvSpPr>
          <p:cNvPr id="30" name="text-190"/>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b="1" dirty="0">
                <a:solidFill>
                  <a:schemeClr val="accent2"/>
                </a:solidFill>
              </a:rPr>
              <a:t>O5 · </a:t>
            </a:r>
            <a:pPr indent="0" marL="0">
              <a:buNone/>
            </a:pPr>
            <a:r>
              <a:rPr lang="en-US" sz="1300" dirty="0">
                <a:solidFill>
                  <a:schemeClr val="tx1"/>
                </a:solidFill>
              </a:rPr>
              <a:t>Release code, configurations, prediction files and a written protocol so every table can be reproduced.</a:t>
            </a:r>
            <a:endParaRPr lang="en-US" sz="13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Only the label assigner changes</a:t>
            </a:r>
            <a:endParaRPr lang="en-US" sz="3000" dirty="0"/>
          </a:p>
        </p:txBody>
      </p:sp>
      <p:pic>
        <p:nvPicPr>
          <p:cNvPr id="3" name="fig1" descr="Research framework: data preparation, training with a swappable label assigner, official evaluation, statistics, and an offline RQ2 diagnosis">    </p:cNvPr>
          <p:cNvPicPr>
            <a:picLocks noChangeAspect="1"/>
          </p:cNvPicPr>
          <p:nvPr/>
        </p:nvPicPr>
        <p:blipFill>
          <a:blip r:embed="rId1"/>
          <a:stretch>
            <a:fillRect/>
          </a:stretch>
        </p:blipFill>
        <p:spPr>
          <a:xfrm>
            <a:off x="548640" y="1325880"/>
            <a:ext cx="8183880" cy="4663440"/>
          </a:xfrm>
          <a:prstGeom prst="rect">
            <a:avLst/>
          </a:prstGeom>
        </p:spPr>
      </p:pic>
      <p:sp>
        <p:nvSpPr>
          <p:cNvPr id="4" name="legend-swatch-191"/>
          <p:cNvSpPr/>
          <p:nvPr/>
        </p:nvSpPr>
        <p:spPr>
          <a:xfrm>
            <a:off x="9006840" y="1508760"/>
            <a:ext cx="292608" cy="292608"/>
          </a:xfrm>
          <a:prstGeom prst="roundRect">
            <a:avLst>
              <a:gd name="adj" fmla="val 15625"/>
            </a:avLst>
          </a:prstGeom>
          <a:solidFill>
            <a:schemeClr val="accent5"/>
          </a:solidFill>
          <a:ln w="12700">
            <a:solidFill>
              <a:schemeClr val="accent5"/>
            </a:solidFill>
            <a:prstDash val="solid"/>
          </a:ln>
        </p:spPr>
      </p:sp>
      <p:sp>
        <p:nvSpPr>
          <p:cNvPr id="5" name="text-192"/>
          <p:cNvSpPr txBox="1"/>
          <p:nvPr/>
        </p:nvSpPr>
        <p:spPr>
          <a:xfrm>
            <a:off x="9464040" y="1463040"/>
            <a:ext cx="2194560" cy="365760"/>
          </a:xfrm>
          <a:prstGeom prst="rect">
            <a:avLst/>
          </a:prstGeom>
          <a:noFill/>
          <a:ln/>
        </p:spPr>
        <p:txBody>
          <a:bodyPr wrap="square" lIns="0" tIns="0" rIns="0" bIns="0" rtlCol="0" anchor="t"/>
          <a:lstStyle/>
          <a:p>
            <a:pPr indent="0" marL="0">
              <a:buNone/>
            </a:pPr>
            <a:r>
              <a:rPr lang="en-US" sz="1500" b="1" dirty="0">
                <a:solidFill>
                  <a:schemeClr val="tx1"/>
                </a:solidFill>
              </a:rPr>
              <a:t>Red block</a:t>
            </a:r>
            <a:endParaRPr lang="en-US" sz="1500" dirty="0"/>
          </a:p>
        </p:txBody>
      </p:sp>
      <p:sp>
        <p:nvSpPr>
          <p:cNvPr id="6" name="text-193"/>
          <p:cNvSpPr txBox="1"/>
          <p:nvPr/>
        </p:nvSpPr>
        <p:spPr>
          <a:xfrm>
            <a:off x="9464040" y="1847088"/>
            <a:ext cx="2194560" cy="1051560"/>
          </a:xfrm>
          <a:prstGeom prst="rect">
            <a:avLst/>
          </a:prstGeom>
          <a:noFill/>
          <a:ln/>
        </p:spPr>
        <p:txBody>
          <a:bodyPr wrap="square" lIns="0" tIns="0" rIns="0" bIns="0" rtlCol="0" anchor="t"/>
          <a:lstStyle/>
          <a:p>
            <a:pPr indent="0" marL="0">
              <a:buNone/>
            </a:pPr>
            <a:r>
              <a:rPr lang="en-US" sz="1200" dirty="0">
                <a:solidFill>
                  <a:schemeClr val="tx1"/>
                </a:solidFill>
              </a:rPr>
              <a:t>the label assigner: candidate-region rule and conflict rule. The only part that differs between experiments.</a:t>
            </a:r>
            <a:endParaRPr lang="en-US" sz="1200" dirty="0"/>
          </a:p>
        </p:txBody>
      </p:sp>
      <p:sp>
        <p:nvSpPr>
          <p:cNvPr id="7" name="legend-swatch-194"/>
          <p:cNvSpPr/>
          <p:nvPr/>
        </p:nvSpPr>
        <p:spPr>
          <a:xfrm>
            <a:off x="9006840" y="3017520"/>
            <a:ext cx="292608" cy="292608"/>
          </a:xfrm>
          <a:prstGeom prst="roundRect">
            <a:avLst>
              <a:gd name="adj" fmla="val 15625"/>
            </a:avLst>
          </a:prstGeom>
          <a:solidFill>
            <a:schemeClr val="accent4"/>
          </a:solidFill>
          <a:ln w="12700">
            <a:solidFill>
              <a:schemeClr val="accent4"/>
            </a:solidFill>
            <a:prstDash val="solid"/>
          </a:ln>
        </p:spPr>
      </p:sp>
      <p:sp>
        <p:nvSpPr>
          <p:cNvPr id="8" name="text-195"/>
          <p:cNvSpPr txBox="1"/>
          <p:nvPr/>
        </p:nvSpPr>
        <p:spPr>
          <a:xfrm>
            <a:off x="9464040" y="2971800"/>
            <a:ext cx="2194560" cy="365760"/>
          </a:xfrm>
          <a:prstGeom prst="rect">
            <a:avLst/>
          </a:prstGeom>
          <a:noFill/>
          <a:ln/>
        </p:spPr>
        <p:txBody>
          <a:bodyPr wrap="square" lIns="0" tIns="0" rIns="0" bIns="0" rtlCol="0" anchor="t"/>
          <a:lstStyle/>
          <a:p>
            <a:pPr indent="0" marL="0">
              <a:buNone/>
            </a:pPr>
            <a:r>
              <a:rPr lang="en-US" sz="1500" b="1" dirty="0">
                <a:solidFill>
                  <a:schemeClr val="tx1"/>
                </a:solidFill>
              </a:rPr>
              <a:t>Green block</a:t>
            </a:r>
            <a:endParaRPr lang="en-US" sz="1500" dirty="0"/>
          </a:p>
        </p:txBody>
      </p:sp>
      <p:sp>
        <p:nvSpPr>
          <p:cNvPr id="9" name="text-196"/>
          <p:cNvSpPr txBox="1"/>
          <p:nvPr/>
        </p:nvSpPr>
        <p:spPr>
          <a:xfrm>
            <a:off x="9464040" y="3355848"/>
            <a:ext cx="2194560" cy="1051560"/>
          </a:xfrm>
          <a:prstGeom prst="rect">
            <a:avLst/>
          </a:prstGeom>
          <a:noFill/>
          <a:ln/>
        </p:spPr>
        <p:txBody>
          <a:bodyPr wrap="square" lIns="0" tIns="0" rIns="0" bIns="0" rtlCol="0" anchor="t"/>
          <a:lstStyle/>
          <a:p>
            <a:pPr indent="0" marL="0">
              <a:buNone/>
            </a:pPr>
            <a:r>
              <a:rPr lang="en-US" sz="1200" dirty="0">
                <a:solidFill>
                  <a:schemeClr val="tx1"/>
                </a:solidFill>
              </a:rPr>
              <a:t>RQ2 diagnosis runs first on the labels alone and fixes the predictions that training must confirm or reject.</a:t>
            </a:r>
            <a:endParaRPr lang="en-US" sz="1200" dirty="0"/>
          </a:p>
        </p:txBody>
      </p:sp>
      <p:sp>
        <p:nvSpPr>
          <p:cNvPr id="10" name="legend-swatch-197"/>
          <p:cNvSpPr/>
          <p:nvPr/>
        </p:nvSpPr>
        <p:spPr>
          <a:xfrm>
            <a:off x="9006840" y="4526280"/>
            <a:ext cx="292608" cy="292608"/>
          </a:xfrm>
          <a:prstGeom prst="roundRect">
            <a:avLst>
              <a:gd name="adj" fmla="val 15625"/>
            </a:avLst>
          </a:prstGeom>
          <a:solidFill>
            <a:schemeClr val="tx1"/>
          </a:solidFill>
          <a:ln w="12700">
            <a:solidFill>
              <a:schemeClr val="tx1"/>
            </a:solidFill>
            <a:prstDash val="solid"/>
          </a:ln>
        </p:spPr>
      </p:sp>
      <p:sp>
        <p:nvSpPr>
          <p:cNvPr id="11" name="text-198"/>
          <p:cNvSpPr txBox="1"/>
          <p:nvPr/>
        </p:nvSpPr>
        <p:spPr>
          <a:xfrm>
            <a:off x="9464040" y="4480560"/>
            <a:ext cx="2194560" cy="365760"/>
          </a:xfrm>
          <a:prstGeom prst="rect">
            <a:avLst/>
          </a:prstGeom>
          <a:noFill/>
          <a:ln/>
        </p:spPr>
        <p:txBody>
          <a:bodyPr wrap="square" lIns="0" tIns="0" rIns="0" bIns="0" rtlCol="0" anchor="t"/>
          <a:lstStyle/>
          <a:p>
            <a:pPr indent="0" marL="0">
              <a:buNone/>
            </a:pPr>
            <a:r>
              <a:rPr lang="en-US" sz="1500" b="1" dirty="0">
                <a:solidFill>
                  <a:schemeClr val="tx1"/>
                </a:solidFill>
              </a:rPr>
              <a:t>Right column</a:t>
            </a:r>
            <a:endParaRPr lang="en-US" sz="1500" dirty="0"/>
          </a:p>
        </p:txBody>
      </p:sp>
      <p:sp>
        <p:nvSpPr>
          <p:cNvPr id="12" name="text-199"/>
          <p:cNvSpPr txBox="1"/>
          <p:nvPr/>
        </p:nvSpPr>
        <p:spPr>
          <a:xfrm>
            <a:off x="9464040" y="4864608"/>
            <a:ext cx="2194560" cy="1051560"/>
          </a:xfrm>
          <a:prstGeom prst="rect">
            <a:avLst/>
          </a:prstGeom>
          <a:noFill/>
          <a:ln/>
        </p:spPr>
        <p:txBody>
          <a:bodyPr wrap="square" lIns="0" tIns="0" rIns="0" bIns="0" rtlCol="0" anchor="t"/>
          <a:lstStyle/>
          <a:p>
            <a:pPr indent="0" marL="0">
              <a:buNone/>
            </a:pPr>
            <a:r>
              <a:rPr lang="en-US" sz="1200" dirty="0">
                <a:solidFill>
                  <a:schemeClr val="tx1"/>
                </a:solidFill>
              </a:rPr>
              <a:t>every prediction is scored by the official AITODReval; inference cost is identical.</a:t>
            </a:r>
            <a:endParaRPr lang="en-US" sz="1200" dirty="0"/>
          </a:p>
        </p:txBody>
      </p:sp>
      <p:sp>
        <p:nvSpPr>
          <p:cNvPr id="13" name="text-200"/>
          <p:cNvSpPr txBox="1"/>
          <p:nvPr/>
        </p:nvSpPr>
        <p:spPr>
          <a:xfrm>
            <a:off x="548640" y="6053328"/>
            <a:ext cx="8138160" cy="274320"/>
          </a:xfrm>
          <a:prstGeom prst="rect">
            <a:avLst/>
          </a:prstGeom>
          <a:noFill/>
          <a:ln/>
        </p:spPr>
        <p:txBody>
          <a:bodyPr wrap="square" lIns="0" tIns="0" rIns="0" bIns="0" rtlCol="0" anchor="t"/>
          <a:lstStyle/>
          <a:p>
            <a:pPr indent="0" marL="0">
              <a:buNone/>
            </a:pPr>
            <a:r>
              <a:rPr lang="en-US" sz="1100" dirty="0">
                <a:solidFill>
                  <a:schemeClr val="accent6"/>
                </a:solidFill>
              </a:rPr>
              <a:t>Figure 1 of the proposal. One pinned Ultralytics fork, COCO initialisation.</a:t>
            </a:r>
            <a:endParaRPr lang="en-US" sz="11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Four candidate rules, one 4×12 px object</a:t>
            </a:r>
            <a:endParaRPr lang="en-US" sz="3000" dirty="0"/>
          </a:p>
        </p:txBody>
      </p:sp>
      <p:pic>
        <p:nvPicPr>
          <p:cNvPr id="3" name="fig2" descr="Candidate regions of TAL, STAL-8, STAL-16 and OA-STAL v2 for one rotated 4x12 px object">    </p:cNvPr>
          <p:cNvPicPr>
            <a:picLocks noChangeAspect="1"/>
          </p:cNvPicPr>
          <p:nvPr/>
        </p:nvPicPr>
        <p:blipFill>
          <a:blip r:embed="rId1"/>
          <a:stretch>
            <a:fillRect/>
          </a:stretch>
        </p:blipFill>
        <p:spPr>
          <a:xfrm>
            <a:off x="548640" y="1325880"/>
            <a:ext cx="11091672" cy="2615184"/>
          </a:xfrm>
          <a:prstGeom prst="rect">
            <a:avLst/>
          </a:prstGeom>
        </p:spPr>
      </p:pic>
      <p:sp>
        <p:nvSpPr>
          <p:cNvPr id="4" name="text-201"/>
          <p:cNvSpPr txBox="1"/>
          <p:nvPr/>
        </p:nvSpPr>
        <p:spPr>
          <a:xfrm>
            <a:off x="548640" y="397764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Computed for one placement on the anchor grid (proposal Figure 2).</a:t>
            </a:r>
            <a:endParaRPr lang="en-US" sz="1100" dirty="0"/>
          </a:p>
        </p:txBody>
      </p:sp>
      <p:sp>
        <p:nvSpPr>
          <p:cNvPr id="5" name="card-202"/>
          <p:cNvSpPr/>
          <p:nvPr/>
        </p:nvSpPr>
        <p:spPr>
          <a:xfrm>
            <a:off x="548640" y="4389120"/>
            <a:ext cx="3538728" cy="1783080"/>
          </a:xfrm>
          <a:prstGeom prst="roundRect">
            <a:avLst>
              <a:gd name="adj" fmla="val 4103"/>
            </a:avLst>
          </a:prstGeom>
          <a:solidFill>
            <a:schemeClr val="bg2"/>
          </a:solidFill>
          <a:ln w="12700">
            <a:solidFill>
              <a:schemeClr val="bg2"/>
            </a:solidFill>
            <a:prstDash val="solid"/>
          </a:ln>
        </p:spPr>
      </p:sp>
      <p:sp>
        <p:nvSpPr>
          <p:cNvPr id="6" name="text-203"/>
          <p:cNvSpPr txBox="1"/>
          <p:nvPr/>
        </p:nvSpPr>
        <p:spPr>
          <a:xfrm>
            <a:off x="822960" y="4553712"/>
            <a:ext cx="3017520" cy="320040"/>
          </a:xfrm>
          <a:prstGeom prst="rect">
            <a:avLst/>
          </a:prstGeom>
          <a:noFill/>
          <a:ln/>
        </p:spPr>
        <p:txBody>
          <a:bodyPr wrap="square" lIns="0" tIns="0" rIns="0" bIns="0" rtlCol="0" anchor="t"/>
          <a:lstStyle/>
          <a:p>
            <a:pPr indent="0" marL="0">
              <a:buNone/>
            </a:pPr>
            <a:r>
              <a:rPr lang="en-US" sz="1500" b="1" dirty="0">
                <a:solidFill>
                  <a:schemeClr val="tx1"/>
                </a:solidFill>
              </a:rPr>
              <a:t>Side by side</a:t>
            </a:r>
            <a:endParaRPr lang="en-US" sz="1500" dirty="0"/>
          </a:p>
        </p:txBody>
      </p:sp>
      <p:sp>
        <p:nvSpPr>
          <p:cNvPr id="7" name="text-204"/>
          <p:cNvSpPr txBox="1"/>
          <p:nvPr/>
        </p:nvSpPr>
        <p:spPr>
          <a:xfrm>
            <a:off x="822960" y="4873752"/>
            <a:ext cx="3017520" cy="548640"/>
          </a:xfrm>
          <a:prstGeom prst="rect">
            <a:avLst/>
          </a:prstGeom>
          <a:noFill/>
          <a:ln/>
        </p:spPr>
        <p:txBody>
          <a:bodyPr wrap="square" lIns="0" tIns="0" rIns="0" bIns="0" rtlCol="0" anchor="t"/>
          <a:lstStyle/>
          <a:p>
            <a:pPr indent="0" marL="0">
              <a:buNone/>
            </a:pPr>
            <a:r>
              <a:rPr lang="en-US" sz="2800" b="1" dirty="0">
                <a:solidFill>
                  <a:schemeClr val="accent2"/>
                </a:solidFill>
              </a:rPr>
              <a:t>0.63 → 0.34</a:t>
            </a:r>
            <a:endParaRPr lang="en-US" sz="2800" dirty="0"/>
          </a:p>
        </p:txBody>
      </p:sp>
      <p:sp>
        <p:nvSpPr>
          <p:cNvPr id="8" name="text-205"/>
          <p:cNvSpPr txBox="1"/>
          <p:nvPr/>
        </p:nvSpPr>
        <p:spPr>
          <a:xfrm>
            <a:off x="822960" y="5440680"/>
            <a:ext cx="3017520" cy="685800"/>
          </a:xfrm>
          <a:prstGeom prst="rect">
            <a:avLst/>
          </a:prstGeom>
          <a:noFill/>
          <a:ln/>
        </p:spPr>
        <p:txBody>
          <a:bodyPr wrap="square" lIns="0" tIns="0" rIns="0" bIns="0" rtlCol="0" anchor="t"/>
          <a:lstStyle/>
          <a:p>
            <a:pPr indent="0" marL="0">
              <a:buNone/>
            </a:pPr>
            <a:r>
              <a:rPr lang="en-US" sz="1200" dirty="0">
                <a:solidFill>
                  <a:schemeClr val="tx1"/>
                </a:solidFill>
              </a:rPr>
              <a:t>two parallel 4×12 px objects: share of candidates claimed by both, STAL-16 → similar enlargement</a:t>
            </a:r>
            <a:endParaRPr lang="en-US" sz="1200" dirty="0"/>
          </a:p>
        </p:txBody>
      </p:sp>
      <p:sp>
        <p:nvSpPr>
          <p:cNvPr id="9" name="card-206"/>
          <p:cNvSpPr/>
          <p:nvPr/>
        </p:nvSpPr>
        <p:spPr>
          <a:xfrm>
            <a:off x="4325112" y="4389120"/>
            <a:ext cx="3538728" cy="1783080"/>
          </a:xfrm>
          <a:prstGeom prst="roundRect">
            <a:avLst>
              <a:gd name="adj" fmla="val 4103"/>
            </a:avLst>
          </a:prstGeom>
          <a:solidFill>
            <a:schemeClr val="bg2"/>
          </a:solidFill>
          <a:ln w="12700">
            <a:solidFill>
              <a:schemeClr val="bg2"/>
            </a:solidFill>
            <a:prstDash val="solid"/>
          </a:ln>
        </p:spPr>
      </p:sp>
      <p:sp>
        <p:nvSpPr>
          <p:cNvPr id="10" name="text-207"/>
          <p:cNvSpPr txBox="1"/>
          <p:nvPr/>
        </p:nvSpPr>
        <p:spPr>
          <a:xfrm>
            <a:off x="4599432" y="4553712"/>
            <a:ext cx="3017520" cy="320040"/>
          </a:xfrm>
          <a:prstGeom prst="rect">
            <a:avLst/>
          </a:prstGeom>
          <a:noFill/>
          <a:ln/>
        </p:spPr>
        <p:txBody>
          <a:bodyPr wrap="square" lIns="0" tIns="0" rIns="0" bIns="0" rtlCol="0" anchor="t"/>
          <a:lstStyle/>
          <a:p>
            <a:pPr indent="0" marL="0">
              <a:buNone/>
            </a:pPr>
            <a:r>
              <a:rPr lang="en-US" sz="1500" b="1" dirty="0">
                <a:solidFill>
                  <a:schemeClr val="tx1"/>
                </a:solidFill>
              </a:rPr>
              <a:t>End to end</a:t>
            </a:r>
            <a:endParaRPr lang="en-US" sz="1500" dirty="0"/>
          </a:p>
        </p:txBody>
      </p:sp>
      <p:sp>
        <p:nvSpPr>
          <p:cNvPr id="11" name="text-208"/>
          <p:cNvSpPr txBox="1"/>
          <p:nvPr/>
        </p:nvSpPr>
        <p:spPr>
          <a:xfrm>
            <a:off x="4599432" y="4873752"/>
            <a:ext cx="3017520" cy="548640"/>
          </a:xfrm>
          <a:prstGeom prst="rect">
            <a:avLst/>
          </a:prstGeom>
          <a:noFill/>
          <a:ln/>
        </p:spPr>
        <p:txBody>
          <a:bodyPr wrap="square" lIns="0" tIns="0" rIns="0" bIns="0" rtlCol="0" anchor="t"/>
          <a:lstStyle/>
          <a:p>
            <a:pPr indent="0" marL="0">
              <a:buNone/>
            </a:pPr>
            <a:r>
              <a:rPr lang="en-US" sz="2800" b="1" dirty="0">
                <a:solidFill>
                  <a:schemeClr val="accent2"/>
                </a:solidFill>
              </a:rPr>
              <a:t>0.12 → 0.49</a:t>
            </a:r>
            <a:endParaRPr lang="en-US" sz="2800" dirty="0"/>
          </a:p>
        </p:txBody>
      </p:sp>
      <p:sp>
        <p:nvSpPr>
          <p:cNvPr id="12" name="text-209"/>
          <p:cNvSpPr txBox="1"/>
          <p:nvPr/>
        </p:nvSpPr>
        <p:spPr>
          <a:xfrm>
            <a:off x="4599432" y="5440680"/>
            <a:ext cx="3017520" cy="685800"/>
          </a:xfrm>
          <a:prstGeom prst="rect">
            <a:avLst/>
          </a:prstGeom>
          <a:noFill/>
          <a:ln/>
        </p:spPr>
        <p:txBody>
          <a:bodyPr wrap="square" lIns="0" tIns="0" rIns="0" bIns="0" rtlCol="0" anchor="t"/>
          <a:lstStyle/>
          <a:p>
            <a:pPr indent="0" marL="0">
              <a:buNone/>
            </a:pPr>
            <a:r>
              <a:rPr lang="en-US" sz="1200" dirty="0">
                <a:solidFill>
                  <a:schemeClr val="tx1"/>
                </a:solidFill>
              </a:rPr>
              <a:t>the same two objects placed end to end: the shape-preserving region now overlaps more</a:t>
            </a:r>
            <a:endParaRPr lang="en-US" sz="1200" dirty="0"/>
          </a:p>
        </p:txBody>
      </p:sp>
      <p:sp>
        <p:nvSpPr>
          <p:cNvPr id="13" name="card-210"/>
          <p:cNvSpPr/>
          <p:nvPr/>
        </p:nvSpPr>
        <p:spPr>
          <a:xfrm>
            <a:off x="8101584" y="4389120"/>
            <a:ext cx="3538728" cy="1783080"/>
          </a:xfrm>
          <a:prstGeom prst="roundRect">
            <a:avLst>
              <a:gd name="adj" fmla="val 4103"/>
            </a:avLst>
          </a:prstGeom>
          <a:solidFill>
            <a:srgbClr val="FDEBDD"/>
          </a:solidFill>
          <a:ln w="12700">
            <a:solidFill>
              <a:srgbClr val="FDEBDD"/>
            </a:solidFill>
            <a:prstDash val="solid"/>
          </a:ln>
        </p:spPr>
      </p:sp>
      <p:sp>
        <p:nvSpPr>
          <p:cNvPr id="14" name="text-211"/>
          <p:cNvSpPr txBox="1"/>
          <p:nvPr/>
        </p:nvSpPr>
        <p:spPr>
          <a:xfrm>
            <a:off x="8375904" y="4572000"/>
            <a:ext cx="3017520" cy="1463040"/>
          </a:xfrm>
          <a:prstGeom prst="rect">
            <a:avLst/>
          </a:prstGeom>
          <a:noFill/>
          <a:ln/>
        </p:spPr>
        <p:txBody>
          <a:bodyPr wrap="square" lIns="0" tIns="0" rIns="0" bIns="0" rtlCol="0" anchor="t"/>
          <a:lstStyle/>
          <a:p>
            <a:pPr indent="0" marL="0">
              <a:buNone/>
            </a:pPr>
            <a:r>
              <a:rPr lang="en-US" sz="1500" dirty="0">
                <a:solidFill>
                  <a:schemeClr val="tx1"/>
                </a:solidFill>
              </a:rPr>
              <a:t>Which layout dominates AI-TOD-R is counted from the labels before training, so the expected sign of the effect is fixed in advance.</a:t>
            </a:r>
            <a:endParaRPr lang="en-US" sz="15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Area sets the count, shape the placement</a:t>
            </a:r>
            <a:endParaRPr lang="en-US" sz="3000" dirty="0"/>
          </a:p>
        </p:txBody>
      </p:sp>
      <p:sp>
        <p:nvSpPr>
          <p:cNvPr id="3" name="card-212"/>
          <p:cNvSpPr/>
          <p:nvPr/>
        </p:nvSpPr>
        <p:spPr>
          <a:xfrm>
            <a:off x="548640" y="1371600"/>
            <a:ext cx="11091672" cy="1600200"/>
          </a:xfrm>
          <a:prstGeom prst="roundRect">
            <a:avLst>
              <a:gd name="adj" fmla="val 4571"/>
            </a:avLst>
          </a:prstGeom>
          <a:solidFill>
            <a:schemeClr val="tx1"/>
          </a:solidFill>
          <a:ln w="12700">
            <a:solidFill>
              <a:schemeClr val="tx1"/>
            </a:solidFill>
            <a:prstDash val="solid"/>
          </a:ln>
        </p:spPr>
      </p:sp>
      <p:sp>
        <p:nvSpPr>
          <p:cNvPr id="4" name="text-213"/>
          <p:cNvSpPr txBox="1"/>
          <p:nvPr/>
        </p:nvSpPr>
        <p:spPr>
          <a:xfrm>
            <a:off x="868680" y="1536192"/>
            <a:ext cx="73152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PROPOSITION 1 · EXPECTED NUMBER OF CANDIDATES</a:t>
            </a:r>
            <a:endParaRPr lang="en-US" sz="1200" dirty="0"/>
          </a:p>
        </p:txBody>
      </p:sp>
      <p:sp>
        <p:nvSpPr>
          <p:cNvPr id="5" name="text-214"/>
          <p:cNvSpPr txBox="1"/>
          <p:nvPr/>
        </p:nvSpPr>
        <p:spPr>
          <a:xfrm>
            <a:off x="868680" y="1874520"/>
            <a:ext cx="10515600" cy="5029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E[N] = area(R) × (1/8² + 1/16² + 1/32²) = (21/1024) × area(R) ≈ 0.0205 × area(R)</a:t>
            </a:r>
            <a:endParaRPr lang="en-US" sz="2200" dirty="0"/>
          </a:p>
        </p:txBody>
      </p:sp>
      <p:sp>
        <p:nvSpPr>
          <p:cNvPr id="6" name="text-215"/>
          <p:cNvSpPr txBox="1"/>
          <p:nvPr/>
        </p:nvSpPr>
        <p:spPr>
          <a:xfrm>
            <a:off x="868680" y="2395728"/>
            <a:ext cx="10515600" cy="502920"/>
          </a:xfrm>
          <a:prstGeom prst="rect">
            <a:avLst/>
          </a:prstGeom>
          <a:noFill/>
          <a:ln/>
        </p:spPr>
        <p:txBody>
          <a:bodyPr wrap="square" lIns="0" tIns="0" rIns="0" bIns="0" rtlCol="0" anchor="t"/>
          <a:lstStyle/>
          <a:p>
            <a:pPr indent="0" marL="0">
              <a:buNone/>
            </a:pPr>
            <a:r>
              <a:rPr lang="en-US" sz="1200" dirty="0">
                <a:solidFill>
                  <a:srgbClr val="B9C7D6"/>
                </a:solidFill>
              </a:rPr>
              <a:t>Region R placed at a random position on the three anchor grids. Check: simulation of the code’s rotated test gives 5.2–5.3 for a 16×16 region (predicted 5.25) and 2.05 for a 10×10 box (predicted 2.05).</a:t>
            </a:r>
            <a:endParaRPr lang="en-US" sz="1200" dirty="0"/>
          </a:p>
        </p:txBody>
      </p:sp>
      <p:sp>
        <p:nvSpPr>
          <p:cNvPr id="7" name="card-216"/>
          <p:cNvSpPr/>
          <p:nvPr/>
        </p:nvSpPr>
        <p:spPr>
          <a:xfrm>
            <a:off x="548640" y="3200400"/>
            <a:ext cx="3538728" cy="2971800"/>
          </a:xfrm>
          <a:prstGeom prst="roundRect">
            <a:avLst>
              <a:gd name="adj" fmla="val 2462"/>
            </a:avLst>
          </a:prstGeom>
          <a:solidFill>
            <a:schemeClr val="bg2"/>
          </a:solidFill>
          <a:ln w="12700">
            <a:solidFill>
              <a:schemeClr val="bg2"/>
            </a:solidFill>
            <a:prstDash val="solid"/>
          </a:ln>
        </p:spPr>
      </p:sp>
      <p:sp>
        <p:nvSpPr>
          <p:cNvPr id="8" name="text-217"/>
          <p:cNvSpPr txBox="1"/>
          <p:nvPr/>
        </p:nvSpPr>
        <p:spPr>
          <a:xfrm>
            <a:off x="822960" y="3383280"/>
            <a:ext cx="3017520" cy="685800"/>
          </a:xfrm>
          <a:prstGeom prst="rect">
            <a:avLst/>
          </a:prstGeom>
          <a:noFill/>
          <a:ln/>
        </p:spPr>
        <p:txBody>
          <a:bodyPr wrap="square" lIns="0" tIns="0" rIns="0" bIns="0" rtlCol="0" anchor="t"/>
          <a:lstStyle/>
          <a:p>
            <a:pPr indent="0" marL="0">
              <a:buNone/>
            </a:pPr>
            <a:r>
              <a:rPr lang="en-US" sz="3600" b="1" dirty="0">
                <a:solidFill>
                  <a:schemeClr val="accent2"/>
                </a:solidFill>
              </a:rPr>
              <a:t>≥ 67%</a:t>
            </a:r>
            <a:endParaRPr lang="en-US" sz="3600" dirty="0"/>
          </a:p>
        </p:txBody>
      </p:sp>
      <p:sp>
        <p:nvSpPr>
          <p:cNvPr id="9" name="text-218"/>
          <p:cNvSpPr txBox="1"/>
          <p:nvPr/>
        </p:nvSpPr>
        <p:spPr>
          <a:xfrm>
            <a:off x="822960" y="4114800"/>
            <a:ext cx="3017520" cy="685800"/>
          </a:xfrm>
          <a:prstGeom prst="rect">
            <a:avLst/>
          </a:prstGeom>
          <a:noFill/>
          <a:ln/>
        </p:spPr>
        <p:txBody>
          <a:bodyPr wrap="square" lIns="0" tIns="0" rIns="0" bIns="0" rtlCol="0" anchor="t"/>
          <a:lstStyle/>
          <a:p>
            <a:pPr indent="0" marL="0">
              <a:buNone/>
            </a:pPr>
            <a:r>
              <a:rPr lang="en-US" sz="1600" b="1" dirty="0">
                <a:solidFill>
                  <a:schemeClr val="tx1"/>
                </a:solidFill>
              </a:rPr>
              <a:t>Tiny boxes can be missed</a:t>
            </a:r>
            <a:endParaRPr lang="en-US" sz="1600" dirty="0"/>
          </a:p>
        </p:txBody>
      </p:sp>
      <p:sp>
        <p:nvSpPr>
          <p:cNvPr id="10" name="text-219"/>
          <p:cNvSpPr txBox="1"/>
          <p:nvPr/>
        </p:nvSpPr>
        <p:spPr>
          <a:xfrm>
            <a:off x="822960" y="4846320"/>
            <a:ext cx="3017520" cy="1234440"/>
          </a:xfrm>
          <a:prstGeom prst="rect">
            <a:avLst/>
          </a:prstGeom>
          <a:noFill/>
          <a:ln/>
        </p:spPr>
        <p:txBody>
          <a:bodyPr wrap="square" lIns="0" tIns="0" rIns="0" bIns="0" rtlCol="0" anchor="t"/>
          <a:lstStyle/>
          <a:p>
            <a:pPr indent="0" marL="0">
              <a:buNone/>
            </a:pPr>
            <a:r>
              <a:rPr lang="en-US" sz="1300" dirty="0">
                <a:solidFill>
                  <a:schemeClr val="tx1"/>
                </a:solidFill>
              </a:rPr>
              <a:t>A 4×4 px box gets no candidate under plain TAL with probability ≥ 1 − 0.0205 × 16 (simulation: 67.1%). This is what STAL fixes.</a:t>
            </a:r>
            <a:endParaRPr lang="en-US" sz="1300" dirty="0"/>
          </a:p>
        </p:txBody>
      </p:sp>
      <p:sp>
        <p:nvSpPr>
          <p:cNvPr id="11" name="card-220"/>
          <p:cNvSpPr/>
          <p:nvPr/>
        </p:nvSpPr>
        <p:spPr>
          <a:xfrm>
            <a:off x="4325112" y="3200400"/>
            <a:ext cx="3538728" cy="2971800"/>
          </a:xfrm>
          <a:prstGeom prst="roundRect">
            <a:avLst>
              <a:gd name="adj" fmla="val 2462"/>
            </a:avLst>
          </a:prstGeom>
          <a:solidFill>
            <a:schemeClr val="bg2"/>
          </a:solidFill>
          <a:ln w="12700">
            <a:solidFill>
              <a:schemeClr val="bg2"/>
            </a:solidFill>
            <a:prstDash val="solid"/>
          </a:ln>
        </p:spPr>
      </p:sp>
      <p:sp>
        <p:nvSpPr>
          <p:cNvPr id="12" name="text-221"/>
          <p:cNvSpPr txBox="1"/>
          <p:nvPr/>
        </p:nvSpPr>
        <p:spPr>
          <a:xfrm>
            <a:off x="4599432" y="3383280"/>
            <a:ext cx="3017520" cy="685800"/>
          </a:xfrm>
          <a:prstGeom prst="rect">
            <a:avLst/>
          </a:prstGeom>
          <a:noFill/>
          <a:ln/>
        </p:spPr>
        <p:txBody>
          <a:bodyPr wrap="square" lIns="0" tIns="0" rIns="0" bIns="0" rtlCol="0" anchor="t"/>
          <a:lstStyle/>
          <a:p>
            <a:pPr indent="0" marL="0">
              <a:buNone/>
            </a:pPr>
            <a:r>
              <a:rPr lang="en-US" sz="3600" b="1" dirty="0">
                <a:solidFill>
                  <a:schemeClr val="accent2"/>
                </a:solidFill>
              </a:rPr>
              <a:t>= count</a:t>
            </a:r>
            <a:endParaRPr lang="en-US" sz="3600" dirty="0"/>
          </a:p>
        </p:txBody>
      </p:sp>
      <p:sp>
        <p:nvSpPr>
          <p:cNvPr id="13" name="text-222"/>
          <p:cNvSpPr txBox="1"/>
          <p:nvPr/>
        </p:nvSpPr>
        <p:spPr>
          <a:xfrm>
            <a:off x="4599432" y="4114800"/>
            <a:ext cx="3017520" cy="685800"/>
          </a:xfrm>
          <a:prstGeom prst="rect">
            <a:avLst/>
          </a:prstGeom>
          <a:noFill/>
          <a:ln/>
        </p:spPr>
        <p:txBody>
          <a:bodyPr wrap="square" lIns="0" tIns="0" rIns="0" bIns="0" rtlCol="0" anchor="t"/>
          <a:lstStyle/>
          <a:p>
            <a:pPr indent="0" marL="0">
              <a:buNone/>
            </a:pPr>
            <a:r>
              <a:rPr lang="en-US" sz="1600" b="1" dirty="0">
                <a:solidFill>
                  <a:schemeClr val="tx1"/>
                </a:solidFill>
              </a:rPr>
              <a:t>Same area, same expected count</a:t>
            </a:r>
            <a:endParaRPr lang="en-US" sz="1600" dirty="0"/>
          </a:p>
        </p:txBody>
      </p:sp>
      <p:sp>
        <p:nvSpPr>
          <p:cNvPr id="14" name="text-223"/>
          <p:cNvSpPr txBox="1"/>
          <p:nvPr/>
        </p:nvSpPr>
        <p:spPr>
          <a:xfrm>
            <a:off x="4599432" y="4846320"/>
            <a:ext cx="3017520" cy="1234440"/>
          </a:xfrm>
          <a:prstGeom prst="rect">
            <a:avLst/>
          </a:prstGeom>
          <a:noFill/>
          <a:ln/>
        </p:spPr>
        <p:txBody>
          <a:bodyPr wrap="square" lIns="0" tIns="0" rIns="0" bIns="0" rtlCol="0" anchor="t"/>
          <a:lstStyle/>
          <a:p>
            <a:pPr indent="0" marL="0">
              <a:buNone/>
            </a:pPr>
            <a:r>
              <a:rPr lang="en-US" sz="1300" dirty="0">
                <a:solidFill>
                  <a:schemeClr val="tx1"/>
                </a:solidFill>
              </a:rPr>
              <a:t>OA-STAL v2 has the area of STAL-16, so it cannot add candidates on average; it can only move them and change conflicts.</a:t>
            </a:r>
            <a:endParaRPr lang="en-US" sz="1300" dirty="0"/>
          </a:p>
        </p:txBody>
      </p:sp>
      <p:sp>
        <p:nvSpPr>
          <p:cNvPr id="15" name="card-224"/>
          <p:cNvSpPr/>
          <p:nvPr/>
        </p:nvSpPr>
        <p:spPr>
          <a:xfrm>
            <a:off x="8101584" y="3200400"/>
            <a:ext cx="3538728" cy="2971800"/>
          </a:xfrm>
          <a:prstGeom prst="roundRect">
            <a:avLst>
              <a:gd name="adj" fmla="val 2462"/>
            </a:avLst>
          </a:prstGeom>
          <a:solidFill>
            <a:schemeClr val="bg2"/>
          </a:solidFill>
          <a:ln w="12700">
            <a:solidFill>
              <a:schemeClr val="bg2"/>
            </a:solidFill>
            <a:prstDash val="solid"/>
          </a:ln>
        </p:spPr>
      </p:sp>
      <p:sp>
        <p:nvSpPr>
          <p:cNvPr id="16" name="text-225"/>
          <p:cNvSpPr txBox="1"/>
          <p:nvPr/>
        </p:nvSpPr>
        <p:spPr>
          <a:xfrm>
            <a:off x="8375904" y="3383280"/>
            <a:ext cx="3017520" cy="685800"/>
          </a:xfrm>
          <a:prstGeom prst="rect">
            <a:avLst/>
          </a:prstGeom>
          <a:noFill/>
          <a:ln/>
        </p:spPr>
        <p:txBody>
          <a:bodyPr wrap="square" lIns="0" tIns="0" rIns="0" bIns="0" rtlCol="0" anchor="t"/>
          <a:lstStyle/>
          <a:p>
            <a:pPr indent="0" marL="0">
              <a:buNone/>
            </a:pPr>
            <a:r>
              <a:rPr lang="en-US" sz="3600" b="1" dirty="0">
                <a:solidFill>
                  <a:schemeClr val="accent2"/>
                </a:solidFill>
              </a:rPr>
              <a:t>×2.5</a:t>
            </a:r>
            <a:endParaRPr lang="en-US" sz="3600" dirty="0"/>
          </a:p>
        </p:txBody>
      </p:sp>
      <p:sp>
        <p:nvSpPr>
          <p:cNvPr id="17" name="text-226"/>
          <p:cNvSpPr txBox="1"/>
          <p:nvPr/>
        </p:nvSpPr>
        <p:spPr>
          <a:xfrm>
            <a:off x="8375904" y="4114800"/>
            <a:ext cx="3017520" cy="685800"/>
          </a:xfrm>
          <a:prstGeom prst="rect">
            <a:avLst/>
          </a:prstGeom>
          <a:noFill/>
          <a:ln/>
        </p:spPr>
        <p:txBody>
          <a:bodyPr wrap="square" lIns="0" tIns="0" rIns="0" bIns="0" rtlCol="0" anchor="t"/>
          <a:lstStyle/>
          <a:p>
            <a:pPr indent="0" marL="0">
              <a:buNone/>
            </a:pPr>
            <a:r>
              <a:rPr lang="en-US" sz="1600" b="1" dirty="0">
                <a:solidFill>
                  <a:schemeClr val="tx1"/>
                </a:solidFill>
              </a:rPr>
              <a:t>Threshold beats shape</a:t>
            </a:r>
            <a:endParaRPr lang="en-US" sz="1600" dirty="0"/>
          </a:p>
        </p:txBody>
      </p:sp>
      <p:sp>
        <p:nvSpPr>
          <p:cNvPr id="18" name="text-227"/>
          <p:cNvSpPr txBox="1"/>
          <p:nvPr/>
        </p:nvSpPr>
        <p:spPr>
          <a:xfrm>
            <a:off x="8375904" y="4846320"/>
            <a:ext cx="3017520" cy="1234440"/>
          </a:xfrm>
          <a:prstGeom prst="rect">
            <a:avLst/>
          </a:prstGeom>
          <a:noFill/>
          <a:ln/>
        </p:spPr>
        <p:txBody>
          <a:bodyPr wrap="square" lIns="0" tIns="0" rIns="0" bIns="0" rtlCol="0" anchor="t"/>
          <a:lstStyle/>
          <a:p>
            <a:pPr indent="0" marL="0">
              <a:buNone/>
            </a:pPr>
            <a:r>
              <a:rPr lang="en-US" sz="1300" dirty="0">
                <a:solidFill>
                  <a:schemeClr val="tx1"/>
                </a:solidFill>
              </a:rPr>
              <a:t>For a 10×10 px object: 2.05 expected candidates under STAL-8, 5.25 under STAL-16. 73.4% of AI-TOD-v2 objects are 8–16 px [5].</a:t>
            </a:r>
            <a:endParaRPr lang="en-US" sz="13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OA-STAL v2 and the conflict rules</a:t>
            </a:r>
            <a:endParaRPr lang="en-US" sz="3000" dirty="0"/>
          </a:p>
        </p:txBody>
      </p:sp>
      <p:sp>
        <p:nvSpPr>
          <p:cNvPr id="3" name="card-228"/>
          <p:cNvSpPr/>
          <p:nvPr/>
        </p:nvSpPr>
        <p:spPr>
          <a:xfrm>
            <a:off x="548640" y="1371600"/>
            <a:ext cx="6309360" cy="3017520"/>
          </a:xfrm>
          <a:prstGeom prst="roundRect">
            <a:avLst>
              <a:gd name="adj" fmla="val 2424"/>
            </a:avLst>
          </a:prstGeom>
          <a:solidFill>
            <a:schemeClr val="tx1"/>
          </a:solidFill>
          <a:ln w="12700">
            <a:solidFill>
              <a:schemeClr val="tx1"/>
            </a:solidFill>
            <a:prstDash val="solid"/>
          </a:ln>
        </p:spPr>
      </p:sp>
      <p:sp>
        <p:nvSpPr>
          <p:cNvPr id="4" name="text-229"/>
          <p:cNvSpPr txBox="1"/>
          <p:nvPr/>
        </p:nvSpPr>
        <p:spPr>
          <a:xfrm>
            <a:off x="868680" y="1554480"/>
            <a:ext cx="5760720" cy="320040"/>
          </a:xfrm>
          <a:prstGeom prst="rect">
            <a:avLst/>
          </a:prstGeom>
          <a:noFill/>
          <a:ln/>
        </p:spPr>
        <p:txBody>
          <a:bodyPr wrap="square" lIns="0" tIns="0" rIns="0" bIns="0" rtlCol="0" anchor="t"/>
          <a:lstStyle/>
          <a:p>
            <a:pPr indent="0" marL="0">
              <a:buNone/>
            </a:pPr>
            <a:r>
              <a:rPr lang="en-US" sz="1300" b="1" dirty="0">
                <a:solidFill>
                  <a:schemeClr val="accent1"/>
                </a:solidFill>
              </a:rPr>
              <a:t>OA-STAL v2 · GT = (x, y, w, h, θ), w ≥ h</a:t>
            </a:r>
            <a:endParaRPr lang="en-US" sz="1300" dirty="0"/>
          </a:p>
        </p:txBody>
      </p:sp>
      <p:sp>
        <p:nvSpPr>
          <p:cNvPr id="5" name="text-230"/>
          <p:cNvSpPr txBox="1"/>
          <p:nvPr/>
        </p:nvSpPr>
        <p:spPr>
          <a:xfrm>
            <a:off x="868680" y="1965960"/>
            <a:ext cx="5760720" cy="1828800"/>
          </a:xfrm>
          <a:prstGeom prst="rect">
            <a:avLst/>
          </a:prstGeom>
          <a:noFill/>
          <a:ln/>
        </p:spPr>
        <p:txBody>
          <a:bodyPr wrap="square" lIns="0" tIns="0" rIns="0" bIns="0" rtlCol="0" anchor="t"/>
          <a:lstStyle/>
          <a:p>
            <a:pPr indent="0" marL="0">
              <a:spcAft>
                <a:spcPts val="400"/>
              </a:spcAft>
              <a:buNone/>
            </a:pPr>
            <a:r>
              <a:rPr lang="en-US" sz="1800" dirty="0">
                <a:solidFill>
                  <a:schemeClr val="bg1"/>
                </a:solidFill>
                <a:latin typeface="Courier New" pitchFamily="34" charset="0"/>
                <a:ea typeface="Courier New" pitchFamily="34" charset="-122"/>
                <a:cs typeface="Courier New" pitchFamily="34" charset="-120"/>
              </a:rPr>
              <a:t>apply only if √(w·h) &lt; 16 px</a:t>
            </a:r>
            <a:endParaRPr lang="en-US" sz="1800" dirty="0"/>
          </a:p>
          <a:p>
            <a:pPr indent="0" marL="0">
              <a:spcAft>
                <a:spcPts val="400"/>
              </a:spcAft>
              <a:buNone/>
            </a:pPr>
            <a:r>
              <a:rPr lang="en-US" sz="1800" dirty="0">
                <a:solidFill>
                  <a:schemeClr val="bg1"/>
                </a:solidFill>
                <a:latin typeface="Courier New" pitchFamily="34" charset="0"/>
                <a:ea typeface="Courier New" pitchFamily="34" charset="-122"/>
                <a:cs typeface="Courier New" pitchFamily="34" charset="-120"/>
              </a:rPr>
              <a:t>k  = 16 / √(w·h)</a:t>
            </a:r>
            <a:endParaRPr lang="en-US" sz="1800" dirty="0"/>
          </a:p>
          <a:p>
            <a:pPr indent="0" marL="0">
              <a:spcAft>
                <a:spcPts val="400"/>
              </a:spcAft>
              <a:buNone/>
            </a:pPr>
            <a:r>
              <a:rPr lang="en-US" sz="1800" dirty="0">
                <a:solidFill>
                  <a:schemeClr val="bg1"/>
                </a:solidFill>
                <a:latin typeface="Courier New" pitchFamily="34" charset="0"/>
                <a:ea typeface="Courier New" pitchFamily="34" charset="-122"/>
                <a:cs typeface="Courier New" pitchFamily="34" charset="-120"/>
              </a:rPr>
              <a:t>h′ = max(k·h, 8, h)</a:t>
            </a:r>
            <a:endParaRPr lang="en-US" sz="1800" dirty="0"/>
          </a:p>
          <a:p>
            <a:pPr indent="0" marL="0">
              <a:spcAft>
                <a:spcPts val="400"/>
              </a:spcAft>
              <a:buNone/>
            </a:pPr>
            <a:r>
              <a:rPr lang="en-US" sz="1800" dirty="0">
                <a:solidFill>
                  <a:schemeClr val="bg1"/>
                </a:solidFill>
                <a:latin typeface="Courier New" pitchFamily="34" charset="0"/>
                <a:ea typeface="Courier New" pitchFamily="34" charset="-122"/>
                <a:cs typeface="Courier New" pitchFamily="34" charset="-120"/>
              </a:rPr>
              <a:t>w′ = max(min(k·w, max(w, 32)), w)</a:t>
            </a:r>
            <a:endParaRPr lang="en-US" sz="1800" dirty="0"/>
          </a:p>
          <a:p>
            <a:pPr indent="0" marL="0">
              <a:spcAft>
                <a:spcPts val="400"/>
              </a:spcAft>
              <a:buNone/>
            </a:pPr>
            <a:r>
              <a:rPr lang="en-US" sz="1800" dirty="0">
                <a:solidFill>
                  <a:schemeClr val="bg1"/>
                </a:solidFill>
                <a:latin typeface="Courier New" pitchFamily="34" charset="0"/>
                <a:ea typeface="Courier New" pitchFamily="34" charset="-122"/>
                <a:cs typeface="Courier New" pitchFamily="34" charset="-120"/>
              </a:rPr>
              <a:t>region = (x, y, w′, h′, θ)</a:t>
            </a:r>
            <a:endParaRPr lang="en-US" sz="1800" dirty="0"/>
          </a:p>
        </p:txBody>
      </p:sp>
      <p:sp>
        <p:nvSpPr>
          <p:cNvPr id="6" name="text-231"/>
          <p:cNvSpPr txBox="1"/>
          <p:nvPr/>
        </p:nvSpPr>
        <p:spPr>
          <a:xfrm>
            <a:off x="868680" y="3858768"/>
            <a:ext cx="5760720" cy="411480"/>
          </a:xfrm>
          <a:prstGeom prst="rect">
            <a:avLst/>
          </a:prstGeom>
          <a:noFill/>
          <a:ln/>
        </p:spPr>
        <p:txBody>
          <a:bodyPr wrap="square" lIns="0" tIns="0" rIns="0" bIns="0" rtlCol="0" anchor="t"/>
          <a:lstStyle/>
          <a:p>
            <a:pPr indent="0" marL="0">
              <a:buNone/>
            </a:pPr>
            <a:r>
              <a:rPr lang="en-US" sz="1200" dirty="0">
                <a:solidFill>
                  <a:srgbClr val="B9C7D6"/>
                </a:solidFill>
              </a:rPr>
              <a:t>Scoring, targets and regression still use the true box, exactly as in STAL [1].</a:t>
            </a:r>
            <a:endParaRPr lang="en-US" sz="1200" dirty="0"/>
          </a:p>
        </p:txBody>
      </p:sp>
      <p:sp>
        <p:nvSpPr>
          <p:cNvPr id="7" name="text-232"/>
          <p:cNvSpPr txBox="1"/>
          <p:nvPr/>
        </p:nvSpPr>
        <p:spPr>
          <a:xfrm>
            <a:off x="7178040" y="1371600"/>
            <a:ext cx="4480560" cy="548640"/>
          </a:xfrm>
          <a:prstGeom prst="rect">
            <a:avLst/>
          </a:prstGeom>
          <a:noFill/>
          <a:ln/>
        </p:spPr>
        <p:txBody>
          <a:bodyPr wrap="square" lIns="0" tIns="0" rIns="0" bIns="0" rtlCol="0" anchor="t"/>
          <a:lstStyle/>
          <a:p>
            <a:pPr indent="0" marL="0">
              <a:buNone/>
            </a:pPr>
            <a:r>
              <a:rPr lang="en-US" sz="1500" b="1" dirty="0">
                <a:solidFill>
                  <a:schemeClr val="tx1"/>
                </a:solidFill>
              </a:rPr>
              <a:t>Properties (checked by substitution, unit-tested before training)</a:t>
            </a:r>
            <a:endParaRPr lang="en-US" sz="1500" dirty="0"/>
          </a:p>
        </p:txBody>
      </p:sp>
      <p:pic>
        <p:nvPicPr>
          <p:cNvPr id="8" name="check-233" descr="check">    </p:cNvPr>
          <p:cNvPicPr>
            <a:picLocks noChangeAspect="1"/>
          </p:cNvPicPr>
          <p:nvPr/>
        </p:nvPicPr>
        <p:blipFill>
          <a:blip r:embed="rId1"/>
          <a:stretch>
            <a:fillRect/>
          </a:stretch>
        </p:blipFill>
        <p:spPr>
          <a:xfrm>
            <a:off x="7178040" y="2039112"/>
            <a:ext cx="274320" cy="274320"/>
          </a:xfrm>
          <a:prstGeom prst="rect">
            <a:avLst/>
          </a:prstGeom>
        </p:spPr>
      </p:pic>
      <p:sp>
        <p:nvSpPr>
          <p:cNvPr id="9" name="text-234"/>
          <p:cNvSpPr txBox="1"/>
          <p:nvPr/>
        </p:nvSpPr>
        <p:spPr>
          <a:xfrm>
            <a:off x="7589520" y="2011680"/>
            <a:ext cx="4069080" cy="548640"/>
          </a:xfrm>
          <a:prstGeom prst="rect">
            <a:avLst/>
          </a:prstGeom>
          <a:noFill/>
          <a:ln/>
        </p:spPr>
        <p:txBody>
          <a:bodyPr wrap="square" lIns="0" tIns="0" rIns="0" bIns="0" rtlCol="0" anchor="t"/>
          <a:lstStyle/>
          <a:p>
            <a:pPr indent="0" marL="0">
              <a:buNone/>
            </a:pPr>
            <a:r>
              <a:rPr lang="en-US" sz="1300" dirty="0">
                <a:solidFill>
                  <a:schemeClr val="tx1"/>
                </a:solidFill>
              </a:rPr>
              <a:t>Always contains the true box, so never fewer candidates than plain TAL</a:t>
            </a:r>
            <a:endParaRPr lang="en-US" sz="1300" dirty="0"/>
          </a:p>
        </p:txBody>
      </p:sp>
      <p:pic>
        <p:nvPicPr>
          <p:cNvPr id="10" name="check-235" descr="check">    </p:cNvPr>
          <p:cNvPicPr>
            <a:picLocks noChangeAspect="1"/>
          </p:cNvPicPr>
          <p:nvPr/>
        </p:nvPicPr>
        <p:blipFill>
          <a:blip r:embed="rId2"/>
          <a:stretch>
            <a:fillRect/>
          </a:stretch>
        </p:blipFill>
        <p:spPr>
          <a:xfrm>
            <a:off x="7178040" y="2642616"/>
            <a:ext cx="274320" cy="274320"/>
          </a:xfrm>
          <a:prstGeom prst="rect">
            <a:avLst/>
          </a:prstGeom>
        </p:spPr>
      </p:pic>
      <p:sp>
        <p:nvSpPr>
          <p:cNvPr id="11" name="text-236"/>
          <p:cNvSpPr txBox="1"/>
          <p:nvPr/>
        </p:nvSpPr>
        <p:spPr>
          <a:xfrm>
            <a:off x="7589520" y="2615184"/>
            <a:ext cx="4069080" cy="548640"/>
          </a:xfrm>
          <a:prstGeom prst="rect">
            <a:avLst/>
          </a:prstGeom>
          <a:noFill/>
          <a:ln/>
        </p:spPr>
        <p:txBody>
          <a:bodyPr wrap="square" lIns="0" tIns="0" rIns="0" bIns="0" rtlCol="0" anchor="t"/>
          <a:lstStyle/>
          <a:p>
            <a:pPr indent="0" marL="0">
              <a:buNone/>
            </a:pPr>
            <a:r>
              <a:rPr lang="en-US" sz="1300" dirty="0">
                <a:solidFill>
                  <a:schemeClr val="tx1"/>
                </a:solidFill>
              </a:rPr>
              <a:t>Square boxes give exactly the STAL-16 region</a:t>
            </a:r>
            <a:endParaRPr lang="en-US" sz="1300" dirty="0"/>
          </a:p>
        </p:txBody>
      </p:sp>
      <p:pic>
        <p:nvPicPr>
          <p:cNvPr id="12" name="check-237" descr="check">    </p:cNvPr>
          <p:cNvPicPr>
            <a:picLocks noChangeAspect="1"/>
          </p:cNvPicPr>
          <p:nvPr/>
        </p:nvPicPr>
        <p:blipFill>
          <a:blip r:embed="rId3"/>
          <a:stretch>
            <a:fillRect/>
          </a:stretch>
        </p:blipFill>
        <p:spPr>
          <a:xfrm>
            <a:off x="7178040" y="3246120"/>
            <a:ext cx="274320" cy="274320"/>
          </a:xfrm>
          <a:prstGeom prst="rect">
            <a:avLst/>
          </a:prstGeom>
        </p:spPr>
      </p:pic>
      <p:sp>
        <p:nvSpPr>
          <p:cNvPr id="13" name="text-238"/>
          <p:cNvSpPr txBox="1"/>
          <p:nvPr/>
        </p:nvSpPr>
        <p:spPr>
          <a:xfrm>
            <a:off x="7589520" y="3218688"/>
            <a:ext cx="4069080" cy="548640"/>
          </a:xfrm>
          <a:prstGeom prst="rect">
            <a:avLst/>
          </a:prstGeom>
          <a:noFill/>
          <a:ln/>
        </p:spPr>
        <p:txBody>
          <a:bodyPr wrap="square" lIns="0" tIns="0" rIns="0" bIns="0" rtlCol="0" anchor="t"/>
          <a:lstStyle/>
          <a:p>
            <a:pPr indent="0" marL="0">
              <a:buNone/>
            </a:pPr>
            <a:r>
              <a:rPr lang="en-US" sz="1300" dirty="0">
                <a:solidFill>
                  <a:schemeClr val="tx1"/>
                </a:solidFill>
              </a:rPr>
              <a:t>Shape kept exactly for aspect ratios up to 4; short side never below 8 px</a:t>
            </a:r>
            <a:endParaRPr lang="en-US" sz="1300" dirty="0"/>
          </a:p>
        </p:txBody>
      </p:sp>
      <p:pic>
        <p:nvPicPr>
          <p:cNvPr id="14" name="check-239" descr="check">    </p:cNvPr>
          <p:cNvPicPr>
            <a:picLocks noChangeAspect="1"/>
          </p:cNvPicPr>
          <p:nvPr/>
        </p:nvPicPr>
        <p:blipFill>
          <a:blip r:embed="rId4"/>
          <a:stretch>
            <a:fillRect/>
          </a:stretch>
        </p:blipFill>
        <p:spPr>
          <a:xfrm>
            <a:off x="7178040" y="3849624"/>
            <a:ext cx="274320" cy="274320"/>
          </a:xfrm>
          <a:prstGeom prst="rect">
            <a:avLst/>
          </a:prstGeom>
        </p:spPr>
      </p:pic>
      <p:sp>
        <p:nvSpPr>
          <p:cNvPr id="15" name="text-240"/>
          <p:cNvSpPr txBox="1"/>
          <p:nvPr/>
        </p:nvSpPr>
        <p:spPr>
          <a:xfrm>
            <a:off x="7589520" y="3822192"/>
            <a:ext cx="4069080" cy="548640"/>
          </a:xfrm>
          <a:prstGeom prst="rect">
            <a:avLst/>
          </a:prstGeom>
          <a:noFill/>
          <a:ln/>
        </p:spPr>
        <p:txBody>
          <a:bodyPr wrap="square" lIns="0" tIns="0" rIns="0" bIns="0" rtlCol="0" anchor="t"/>
          <a:lstStyle/>
          <a:p>
            <a:pPr indent="0" marL="0">
              <a:buNone/>
            </a:pPr>
            <a:r>
              <a:rPr lang="en-US" sz="1300" dirty="0">
                <a:solidFill>
                  <a:schemeClr val="tx1"/>
                </a:solidFill>
              </a:rPr>
              <a:t>Training-only: model size, speed and deployment unchanged</a:t>
            </a:r>
            <a:endParaRPr lang="en-US" sz="1300" dirty="0"/>
          </a:p>
        </p:txBody>
      </p:sp>
      <p:sp>
        <p:nvSpPr>
          <p:cNvPr id="16" name="text-241"/>
          <p:cNvSpPr txBox="1"/>
          <p:nvPr/>
        </p:nvSpPr>
        <p:spPr>
          <a:xfrm>
            <a:off x="548640" y="4617720"/>
            <a:ext cx="5486400" cy="365760"/>
          </a:xfrm>
          <a:prstGeom prst="rect">
            <a:avLst/>
          </a:prstGeom>
          <a:noFill/>
          <a:ln/>
        </p:spPr>
        <p:txBody>
          <a:bodyPr wrap="square" lIns="0" tIns="0" rIns="0" bIns="0" rtlCol="0" anchor="t"/>
          <a:lstStyle/>
          <a:p>
            <a:pPr indent="0" marL="0">
              <a:buNone/>
            </a:pPr>
            <a:r>
              <a:rPr lang="en-US" sz="1600" b="1" dirty="0">
                <a:solidFill>
                  <a:schemeClr val="tx1"/>
                </a:solidFill>
              </a:rPr>
              <a:t>Conflict rules tested (step 3)</a:t>
            </a:r>
            <a:endParaRPr lang="en-US" sz="1600" dirty="0"/>
          </a:p>
        </p:txBody>
      </p:sp>
      <p:sp>
        <p:nvSpPr>
          <p:cNvPr id="17" name="card-242"/>
          <p:cNvSpPr/>
          <p:nvPr/>
        </p:nvSpPr>
        <p:spPr>
          <a:xfrm>
            <a:off x="548640" y="5074920"/>
            <a:ext cx="3538728" cy="1097280"/>
          </a:xfrm>
          <a:prstGeom prst="roundRect">
            <a:avLst>
              <a:gd name="adj" fmla="val 6667"/>
            </a:avLst>
          </a:prstGeom>
          <a:solidFill>
            <a:schemeClr val="bg2"/>
          </a:solidFill>
          <a:ln w="12700">
            <a:solidFill>
              <a:schemeClr val="bg2"/>
            </a:solidFill>
            <a:prstDash val="solid"/>
          </a:ln>
        </p:spPr>
      </p:sp>
      <p:sp>
        <p:nvSpPr>
          <p:cNvPr id="18" name="text-243"/>
          <p:cNvSpPr txBox="1"/>
          <p:nvPr/>
        </p:nvSpPr>
        <p:spPr>
          <a:xfrm>
            <a:off x="777240" y="5212080"/>
            <a:ext cx="3108960" cy="320040"/>
          </a:xfrm>
          <a:prstGeom prst="rect">
            <a:avLst/>
          </a:prstGeom>
          <a:noFill/>
          <a:ln/>
        </p:spPr>
        <p:txBody>
          <a:bodyPr wrap="square" lIns="0" tIns="0" rIns="0" bIns="0" rtlCol="0" anchor="t"/>
          <a:lstStyle/>
          <a:p>
            <a:pPr indent="0" marL="0">
              <a:buNone/>
            </a:pPr>
            <a:r>
              <a:rPr lang="en-US" sz="1500" b="1" dirty="0">
                <a:solidFill>
                  <a:schemeClr val="tx1"/>
                </a:solidFill>
              </a:rPr>
              <a:t>Default</a:t>
            </a:r>
            <a:endParaRPr lang="en-US" sz="1500" dirty="0"/>
          </a:p>
        </p:txBody>
      </p:sp>
      <p:sp>
        <p:nvSpPr>
          <p:cNvPr id="19" name="text-244"/>
          <p:cNvSpPr txBox="1"/>
          <p:nvPr/>
        </p:nvSpPr>
        <p:spPr>
          <a:xfrm>
            <a:off x="777240" y="5550408"/>
            <a:ext cx="3108960" cy="548640"/>
          </a:xfrm>
          <a:prstGeom prst="rect">
            <a:avLst/>
          </a:prstGeom>
          <a:noFill/>
          <a:ln/>
        </p:spPr>
        <p:txBody>
          <a:bodyPr wrap="square" lIns="0" tIns="0" rIns="0" bIns="0" rtlCol="0" anchor="t"/>
          <a:lstStyle/>
          <a:p>
            <a:pPr indent="0" marL="0">
              <a:buNone/>
            </a:pPr>
            <a:r>
              <a:rPr lang="en-US" sz="1300" dirty="0">
                <a:solidFill>
                  <a:schemeClr val="tx1"/>
                </a:solidFill>
              </a:rPr>
              <a:t>anchor goes to the GT with the highest overlap</a:t>
            </a:r>
            <a:endParaRPr lang="en-US" sz="1300" dirty="0"/>
          </a:p>
        </p:txBody>
      </p:sp>
      <p:sp>
        <p:nvSpPr>
          <p:cNvPr id="20" name="card-245"/>
          <p:cNvSpPr/>
          <p:nvPr/>
        </p:nvSpPr>
        <p:spPr>
          <a:xfrm>
            <a:off x="4325112" y="5074920"/>
            <a:ext cx="3538728" cy="1097280"/>
          </a:xfrm>
          <a:prstGeom prst="roundRect">
            <a:avLst>
              <a:gd name="adj" fmla="val 6667"/>
            </a:avLst>
          </a:prstGeom>
          <a:solidFill>
            <a:srgbClr val="FDEBDD"/>
          </a:solidFill>
          <a:ln w="12700">
            <a:solidFill>
              <a:srgbClr val="FDEBDD"/>
            </a:solidFill>
            <a:prstDash val="solid"/>
          </a:ln>
        </p:spPr>
      </p:sp>
      <p:sp>
        <p:nvSpPr>
          <p:cNvPr id="21" name="text-246"/>
          <p:cNvSpPr txBox="1"/>
          <p:nvPr/>
        </p:nvSpPr>
        <p:spPr>
          <a:xfrm>
            <a:off x="4553712" y="5212080"/>
            <a:ext cx="3108960" cy="320040"/>
          </a:xfrm>
          <a:prstGeom prst="rect">
            <a:avLst/>
          </a:prstGeom>
          <a:noFill/>
          <a:ln/>
        </p:spPr>
        <p:txBody>
          <a:bodyPr wrap="square" lIns="0" tIns="0" rIns="0" bIns="0" rtlCol="0" anchor="t"/>
          <a:lstStyle/>
          <a:p>
            <a:pPr indent="0" marL="0">
              <a:buNone/>
            </a:pPr>
            <a:r>
              <a:rPr lang="en-US" sz="1500" b="1" dirty="0">
                <a:solidFill>
                  <a:schemeClr val="tx1"/>
                </a:solidFill>
              </a:rPr>
              <a:t>Inside-box</a:t>
            </a:r>
            <a:endParaRPr lang="en-US" sz="1500" dirty="0"/>
          </a:p>
        </p:txBody>
      </p:sp>
      <p:sp>
        <p:nvSpPr>
          <p:cNvPr id="22" name="text-247"/>
          <p:cNvSpPr txBox="1"/>
          <p:nvPr/>
        </p:nvSpPr>
        <p:spPr>
          <a:xfrm>
            <a:off x="4553712" y="5550408"/>
            <a:ext cx="3108960" cy="548640"/>
          </a:xfrm>
          <a:prstGeom prst="rect">
            <a:avLst/>
          </a:prstGeom>
          <a:noFill/>
          <a:ln/>
        </p:spPr>
        <p:txBody>
          <a:bodyPr wrap="square" lIns="0" tIns="0" rIns="0" bIns="0" rtlCol="0" anchor="t"/>
          <a:lstStyle/>
          <a:p>
            <a:pPr indent="0" marL="0">
              <a:buNone/>
            </a:pPr>
            <a:r>
              <a:rPr lang="en-US" sz="1300" dirty="0">
                <a:solidFill>
                  <a:schemeClr val="tx1"/>
                </a:solidFill>
              </a:rPr>
              <a:t>an anchor inside exactly one true box goes to that box</a:t>
            </a:r>
            <a:endParaRPr lang="en-US" sz="1300" dirty="0"/>
          </a:p>
        </p:txBody>
      </p:sp>
      <p:sp>
        <p:nvSpPr>
          <p:cNvPr id="23" name="card-248"/>
          <p:cNvSpPr/>
          <p:nvPr/>
        </p:nvSpPr>
        <p:spPr>
          <a:xfrm>
            <a:off x="8101584" y="5074920"/>
            <a:ext cx="3538728" cy="1097280"/>
          </a:xfrm>
          <a:prstGeom prst="roundRect">
            <a:avLst>
              <a:gd name="adj" fmla="val 6667"/>
            </a:avLst>
          </a:prstGeom>
          <a:solidFill>
            <a:srgbClr val="FDEBDD"/>
          </a:solidFill>
          <a:ln w="12700">
            <a:solidFill>
              <a:srgbClr val="FDEBDD"/>
            </a:solidFill>
            <a:prstDash val="solid"/>
          </a:ln>
        </p:spPr>
      </p:sp>
      <p:sp>
        <p:nvSpPr>
          <p:cNvPr id="24" name="text-249"/>
          <p:cNvSpPr txBox="1"/>
          <p:nvPr/>
        </p:nvSpPr>
        <p:spPr>
          <a:xfrm>
            <a:off x="8330184" y="5212080"/>
            <a:ext cx="3108960" cy="320040"/>
          </a:xfrm>
          <a:prstGeom prst="rect">
            <a:avLst/>
          </a:prstGeom>
          <a:noFill/>
          <a:ln/>
        </p:spPr>
        <p:txBody>
          <a:bodyPr wrap="square" lIns="0" tIns="0" rIns="0" bIns="0" rtlCol="0" anchor="t"/>
          <a:lstStyle/>
          <a:p>
            <a:pPr indent="0" marL="0">
              <a:buNone/>
            </a:pPr>
            <a:r>
              <a:rPr lang="en-US" sz="1500" b="1" dirty="0">
                <a:solidFill>
                  <a:schemeClr val="tx1"/>
                </a:solidFill>
              </a:rPr>
              <a:t>Smaller-GT</a:t>
            </a:r>
            <a:endParaRPr lang="en-US" sz="1500" dirty="0"/>
          </a:p>
        </p:txBody>
      </p:sp>
      <p:sp>
        <p:nvSpPr>
          <p:cNvPr id="25" name="text-250"/>
          <p:cNvSpPr txBox="1"/>
          <p:nvPr/>
        </p:nvSpPr>
        <p:spPr>
          <a:xfrm>
            <a:off x="8330184" y="5550408"/>
            <a:ext cx="3108960" cy="548640"/>
          </a:xfrm>
          <a:prstGeom prst="rect">
            <a:avLst/>
          </a:prstGeom>
          <a:noFill/>
          <a:ln/>
        </p:spPr>
        <p:txBody>
          <a:bodyPr wrap="square" lIns="0" tIns="0" rIns="0" bIns="0" rtlCol="0" anchor="t"/>
          <a:lstStyle/>
          <a:p>
            <a:pPr indent="0" marL="0">
              <a:buNone/>
            </a:pPr>
            <a:r>
              <a:rPr lang="en-US" sz="1300" dirty="0">
                <a:solidFill>
                  <a:schemeClr val="tx1"/>
                </a:solidFill>
              </a:rPr>
              <a:t>the smaller object wins, as in RFLA [6]</a:t>
            </a:r>
            <a:endParaRPr lang="en-US" sz="13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Eight arms, one pre-declared comparison</a:t>
            </a:r>
            <a:endParaRPr lang="en-US" sz="3000" dirty="0"/>
          </a:p>
        </p:txBody>
      </p:sp>
      <p:graphicFrame>
        <p:nvGraphicFramePr>
          <p:cNvPr id="13" name="arms-table"/>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594360"/>
                <a:gridCol w="2514600"/>
                <a:gridCol w="1234440"/>
                <a:gridCol w="2606040"/>
              </a:tblGrid>
              <a:tr h="457200">
                <a:tc>
                  <a:txBody>
                    <a:bodyPr/>
                    <a:lstStyle/>
                    <a:p>
                      <a:pPr indent="0" marL="0">
                        <a:buNone/>
                      </a:pPr>
                      <a:r>
                        <a:rPr lang="en-US" sz="1300" b="1" dirty="0">
                          <a:solidFill>
                            <a:schemeClr val="bg1"/>
                          </a:solidFill>
                        </a:rPr>
                        <a:t>Arm</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Candidate rule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Conflict rule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Purpose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r>
              <a:tr h="457200">
                <a:tc>
                  <a:txBody>
                    <a:bodyPr/>
                    <a:lstStyle/>
                    <a:p>
                      <a:pPr indent="0" marL="0">
                        <a:buNone/>
                      </a:pPr>
                      <a:r>
                        <a:rPr lang="en-US" sz="1300" b="1" dirty="0">
                          <a:solidFill>
                            <a:schemeClr val="tx1"/>
                          </a:solidFill>
                        </a:rPr>
                        <a:t>A0</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TAL (no floor)</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Lower bound; zero-candidate failure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A1</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STAL-8 (published rule)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Published version</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A2</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STAL-16 (current code)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Main comparator</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r>
              <a:tr h="457200">
                <a:tc>
                  <a:txBody>
                    <a:bodyPr/>
                    <a:lstStyle/>
                    <a:p>
                      <a:pPr indent="0" marL="0">
                        <a:buNone/>
                      </a:pPr>
                      <a:r>
                        <a:rPr lang="en-US" sz="1300" b="1" dirty="0">
                          <a:solidFill>
                            <a:schemeClr val="tx1"/>
                          </a:solidFill>
                        </a:rPr>
                        <a:t>A3</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TAL + nearest-anchor fallback</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Cheap control (EARL, RDCNet) [8, 10]</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A4</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OA-STAL v2</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c>
                  <a:txBody>
                    <a:bodyPr/>
                    <a:lstStyle/>
                    <a:p>
                      <a:pPr indent="0" marL="0">
                        <a:buNone/>
                      </a:pPr>
                      <a:r>
                        <a:rPr lang="en-US" sz="1300" b="1" dirty="0">
                          <a:solidFill>
                            <a:schemeClr val="tx1"/>
                          </a:solidFill>
                        </a:rPr>
                        <a:t>Main proposal</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rgbClr val="FDEBDD"/>
                    </a:solidFill>
                  </a:tcPr>
                </a:tc>
              </a:tr>
              <a:tr h="457200">
                <a:tc>
                  <a:txBody>
                    <a:bodyPr/>
                    <a:lstStyle/>
                    <a:p>
                      <a:pPr indent="0" marL="0">
                        <a:buNone/>
                      </a:pPr>
                      <a:r>
                        <a:rPr lang="en-US" sz="1300" b="1" dirty="0">
                          <a:solidFill>
                            <a:schemeClr val="tx1"/>
                          </a:solidFill>
                        </a:rPr>
                        <a:t>A5</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Similar enlargement, side trigger</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default</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Separates threshold from shape (vs A2)</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A6</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OA-STAL v2</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inside-box</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Effect of the conflict rule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A7</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STAL-16</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inside-box</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Conflict rule without shape change</a:t>
                      </a:r>
                      <a:endParaRPr lang="en-US" sz="1300" dirty="0"/>
                    </a:p>
                  </a:txBody>
                  <a:tcPr marL="73152" marR="73152"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bl>
          </a:graphicData>
        </a:graphic>
      </p:graphicFrame>
      <p:sp>
        <p:nvSpPr>
          <p:cNvPr id="4" name="card-251"/>
          <p:cNvSpPr/>
          <p:nvPr/>
        </p:nvSpPr>
        <p:spPr>
          <a:xfrm>
            <a:off x="7772400" y="1371600"/>
            <a:ext cx="3867912" cy="4800600"/>
          </a:xfrm>
          <a:prstGeom prst="roundRect">
            <a:avLst>
              <a:gd name="adj" fmla="val 1891"/>
            </a:avLst>
          </a:prstGeom>
          <a:solidFill>
            <a:schemeClr val="bg2"/>
          </a:solidFill>
          <a:ln w="12700">
            <a:solidFill>
              <a:schemeClr val="bg2"/>
            </a:solidFill>
            <a:prstDash val="solid"/>
          </a:ln>
        </p:spPr>
      </p:sp>
      <p:sp>
        <p:nvSpPr>
          <p:cNvPr id="5" name="text-252"/>
          <p:cNvSpPr txBox="1"/>
          <p:nvPr/>
        </p:nvSpPr>
        <p:spPr>
          <a:xfrm>
            <a:off x="8046720" y="1554480"/>
            <a:ext cx="3383280" cy="365760"/>
          </a:xfrm>
          <a:prstGeom prst="rect">
            <a:avLst/>
          </a:prstGeom>
          <a:noFill/>
          <a:ln/>
        </p:spPr>
        <p:txBody>
          <a:bodyPr wrap="square" lIns="0" tIns="0" rIns="0" bIns="0" rtlCol="0" anchor="t"/>
          <a:lstStyle/>
          <a:p>
            <a:pPr indent="0" marL="0">
              <a:buNone/>
            </a:pPr>
            <a:r>
              <a:rPr lang="en-US" sz="1700" b="1" dirty="0">
                <a:solidFill>
                  <a:schemeClr val="tx1"/>
                </a:solidFill>
              </a:rPr>
              <a:t>Protocol</a:t>
            </a:r>
            <a:endParaRPr lang="en-US" sz="1700" dirty="0"/>
          </a:p>
        </p:txBody>
      </p:sp>
      <p:sp>
        <p:nvSpPr>
          <p:cNvPr id="6" name="text-253"/>
          <p:cNvSpPr txBox="1"/>
          <p:nvPr/>
        </p:nvSpPr>
        <p:spPr>
          <a:xfrm>
            <a:off x="8046720" y="2011680"/>
            <a:ext cx="3383280" cy="40690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tx1"/>
                </a:solidFill>
              </a:rPr>
              <a:t>Main comparison fixed in advance: A4 vs A2 on AP</a:t>
            </a:r>
            <a:pPr indent="0" marL="0">
              <a:spcAft>
                <a:spcPts val="600"/>
              </a:spcAft>
              <a:buNone/>
            </a:pPr>
            <a:r>
              <a:rPr lang="en-US" sz="1300" b="1" baseline="-40000" dirty="0">
                <a:solidFill>
                  <a:schemeClr val="tx1"/>
                </a:solidFill>
              </a:rPr>
              <a:t>t</a:t>
            </a:r>
            <a:pPr indent="0" marL="0">
              <a:spcAft>
                <a:spcPts val="600"/>
              </a:spcAft>
              <a:buNone/>
            </a:pPr>
            <a:r>
              <a:rPr lang="en-US" sz="1300" b="1" dirty="0">
                <a:solidFill>
                  <a:schemeClr val="tx1"/>
                </a:solidFill>
              </a:rPr>
              <a:t> and AP</a:t>
            </a:r>
            <a:pPr indent="0" marL="0">
              <a:spcAft>
                <a:spcPts val="600"/>
              </a:spcAft>
              <a:buNone/>
            </a:pPr>
            <a:r>
              <a:rPr lang="en-US" sz="1300" b="1" baseline="-40000" dirty="0">
                <a:solidFill>
                  <a:schemeClr val="tx1"/>
                </a:solidFill>
              </a:rPr>
              <a:t>vt</a:t>
            </a:r>
            <a:endParaRPr lang="en-US" sz="1300" dirty="0"/>
          </a:p>
          <a:p>
            <a:pPr marL="342900" indent="-342900">
              <a:spcAft>
                <a:spcPts val="600"/>
              </a:spcAft>
              <a:buSzPct val="100000"/>
              <a:buChar char="•"/>
            </a:pPr>
            <a:r>
              <a:rPr lang="en-US" sz="1300" dirty="0">
                <a:solidFill>
                  <a:schemeClr val="tx1"/>
                </a:solidFill>
              </a:rPr>
              <a:t>Scored only by AITODReval: IoU 0.50:0.05:0.95, 1,500 detections per image</a:t>
            </a:r>
            <a:endParaRPr lang="en-US" sz="1300" dirty="0"/>
          </a:p>
          <a:p>
            <a:pPr marL="342900" indent="-342900">
              <a:spcAft>
                <a:spcPts val="600"/>
              </a:spcAft>
              <a:buSzPct val="100000"/>
              <a:buChar char="•"/>
            </a:pPr>
            <a:r>
              <a:rPr lang="en-US" sz="1300" dirty="0">
                <a:solidFill>
                  <a:schemeClr val="tx1"/>
                </a:solidFill>
              </a:rPr>
              <a:t>Tuning on a fixed 10% validation split; test set used once per final model</a:t>
            </a:r>
            <a:endParaRPr lang="en-US" sz="1300" dirty="0"/>
          </a:p>
          <a:p>
            <a:pPr marL="342900" indent="-342900">
              <a:spcAft>
                <a:spcPts val="600"/>
              </a:spcAft>
              <a:buSzPct val="100000"/>
              <a:buChar char="•"/>
            </a:pPr>
            <a:r>
              <a:rPr lang="en-US" sz="1300" dirty="0">
                <a:solidFill>
                  <a:schemeClr val="tx1"/>
                </a:solidFill>
              </a:rPr>
              <a:t>COCO initialisation, because AI-TOD partly reuses DOTA images</a:t>
            </a:r>
            <a:endParaRPr lang="en-US" sz="1300" dirty="0"/>
          </a:p>
          <a:p>
            <a:pPr marL="342900" indent="-342900">
              <a:spcAft>
                <a:spcPts val="600"/>
              </a:spcAft>
              <a:buSzPct val="100000"/>
              <a:buChar char="•"/>
            </a:pPr>
            <a:r>
              <a:rPr lang="en-US" sz="1300" dirty="0">
                <a:solidFill>
                  <a:schemeClr val="tx1"/>
                </a:solidFill>
              </a:rPr>
              <a:t>YOLO26n, 3 seeds per arm; paired image-level bootstrap 95% CI (10,000 resamples)</a:t>
            </a:r>
            <a:endParaRPr lang="en-US" sz="1300" dirty="0"/>
          </a:p>
          <a:p>
            <a:pPr marL="342900" indent="-342900">
              <a:spcAft>
                <a:spcPts val="600"/>
              </a:spcAft>
              <a:buSzPct val="100000"/>
              <a:buChar char="•"/>
            </a:pPr>
            <a:r>
              <a:rPr lang="en-US" sz="1300" dirty="0">
                <a:solidFill>
                  <a:schemeClr val="tx1"/>
                </a:solidFill>
              </a:rPr>
              <a:t>Dated pre-registration before any RQ3 run</a:t>
            </a:r>
            <a:endParaRPr lang="en-US" sz="1300" dirty="0"/>
          </a:p>
        </p:txBody>
      </p:sp>
      <p:sp>
        <p:nvSpPr>
          <p:cNvPr id="7" name="text-254"/>
          <p:cNvSpPr txBox="1"/>
          <p:nvPr/>
        </p:nvSpPr>
        <p:spPr>
          <a:xfrm>
            <a:off x="548640" y="5669280"/>
            <a:ext cx="6949440" cy="502920"/>
          </a:xfrm>
          <a:prstGeom prst="rect">
            <a:avLst/>
          </a:prstGeom>
          <a:noFill/>
          <a:ln/>
        </p:spPr>
        <p:txBody>
          <a:bodyPr wrap="square" lIns="0" tIns="0" rIns="0" bIns="0" rtlCol="0" anchor="t"/>
          <a:lstStyle/>
          <a:p>
            <a:pPr indent="0" marL="0">
              <a:buNone/>
            </a:pPr>
            <a:r>
              <a:rPr lang="en-US" sz="1200" dirty="0">
                <a:solidFill>
                  <a:schemeClr val="accent6"/>
                </a:solidFill>
              </a:rPr>
              <a:t>All arms share one frozen code copy, data split, schedule and seeds; only the assigner differs.</a:t>
            </a:r>
            <a:endParaRPr lang="en-US" sz="12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Feasible on free Kaggle GPUs</a:t>
            </a:r>
            <a:endParaRPr lang="en-US" sz="3000" dirty="0"/>
          </a:p>
        </p:txBody>
      </p:sp>
      <p:sp>
        <p:nvSpPr>
          <p:cNvPr id="3" name="icon-disc-255"/>
          <p:cNvSpPr/>
          <p:nvPr/>
        </p:nvSpPr>
        <p:spPr>
          <a:xfrm>
            <a:off x="548640" y="1417320"/>
            <a:ext cx="566928" cy="566928"/>
          </a:xfrm>
          <a:prstGeom prst="ellipse">
            <a:avLst/>
          </a:prstGeom>
          <a:solidFill>
            <a:schemeClr val="tx1"/>
          </a:solidFill>
          <a:ln w="12700">
            <a:solidFill>
              <a:schemeClr val="tx1"/>
            </a:solidFill>
            <a:prstDash val="solid"/>
          </a:ln>
        </p:spPr>
      </p:sp>
      <p:pic>
        <p:nvPicPr>
          <p:cNvPr id="4" name="icon-256" descr="icon">    </p:cNvPr>
          <p:cNvPicPr>
            <a:picLocks noChangeAspect="1"/>
          </p:cNvPicPr>
          <p:nvPr/>
        </p:nvPicPr>
        <p:blipFill>
          <a:blip r:embed="rId1"/>
          <a:stretch>
            <a:fillRect/>
          </a:stretch>
        </p:blipFill>
        <p:spPr>
          <a:xfrm>
            <a:off x="684703" y="1553383"/>
            <a:ext cx="294803" cy="294803"/>
          </a:xfrm>
          <a:prstGeom prst="rect">
            <a:avLst/>
          </a:prstGeom>
        </p:spPr>
      </p:pic>
      <p:sp>
        <p:nvSpPr>
          <p:cNvPr id="5" name="text-257"/>
          <p:cNvSpPr txBox="1"/>
          <p:nvPr/>
        </p:nvSpPr>
        <p:spPr>
          <a:xfrm>
            <a:off x="1325880" y="1371600"/>
            <a:ext cx="5029200" cy="347472"/>
          </a:xfrm>
          <a:prstGeom prst="rect">
            <a:avLst/>
          </a:prstGeom>
          <a:noFill/>
          <a:ln/>
        </p:spPr>
        <p:txBody>
          <a:bodyPr wrap="square" lIns="0" tIns="0" rIns="0" bIns="0" rtlCol="0" anchor="t"/>
          <a:lstStyle/>
          <a:p>
            <a:pPr indent="0" marL="0">
              <a:buNone/>
            </a:pPr>
            <a:r>
              <a:rPr lang="en-US" sz="1600" b="1" dirty="0">
                <a:solidFill>
                  <a:schemeClr val="tx1"/>
                </a:solidFill>
              </a:rPr>
              <a:t>Data</a:t>
            </a:r>
            <a:endParaRPr lang="en-US" sz="1600" dirty="0"/>
          </a:p>
        </p:txBody>
      </p:sp>
      <p:sp>
        <p:nvSpPr>
          <p:cNvPr id="6" name="text-258"/>
          <p:cNvSpPr txBox="1"/>
          <p:nvPr/>
        </p:nvSpPr>
        <p:spPr>
          <a:xfrm>
            <a:off x="1325880" y="1737360"/>
            <a:ext cx="5120640" cy="777240"/>
          </a:xfrm>
          <a:prstGeom prst="rect">
            <a:avLst/>
          </a:prstGeom>
          <a:noFill/>
          <a:ln/>
        </p:spPr>
        <p:txBody>
          <a:bodyPr wrap="square" lIns="0" tIns="0" rIns="0" bIns="0" rtlCol="0" anchor="t"/>
          <a:lstStyle/>
          <a:p>
            <a:pPr indent="0" marL="0">
              <a:buNone/>
            </a:pPr>
            <a:r>
              <a:rPr lang="en-US" sz="1300" dirty="0">
                <a:solidFill>
                  <a:schemeClr val="tx1"/>
                </a:solidFill>
              </a:rPr>
              <a:t>AI-TOD-R labels are public; images are rebuilt with the AI-TOD script after xView registration (week 1) [15, 16].</a:t>
            </a:r>
            <a:endParaRPr lang="en-US" sz="1300" dirty="0"/>
          </a:p>
        </p:txBody>
      </p:sp>
      <p:sp>
        <p:nvSpPr>
          <p:cNvPr id="7" name="icon-disc-259"/>
          <p:cNvSpPr/>
          <p:nvPr/>
        </p:nvSpPr>
        <p:spPr>
          <a:xfrm>
            <a:off x="548640" y="2606040"/>
            <a:ext cx="566928" cy="566928"/>
          </a:xfrm>
          <a:prstGeom prst="ellipse">
            <a:avLst/>
          </a:prstGeom>
          <a:solidFill>
            <a:schemeClr val="tx1"/>
          </a:solidFill>
          <a:ln w="12700">
            <a:solidFill>
              <a:schemeClr val="tx1"/>
            </a:solidFill>
            <a:prstDash val="solid"/>
          </a:ln>
        </p:spPr>
      </p:sp>
      <p:pic>
        <p:nvPicPr>
          <p:cNvPr id="8" name="icon-260" descr="icon">    </p:cNvPr>
          <p:cNvPicPr>
            <a:picLocks noChangeAspect="1"/>
          </p:cNvPicPr>
          <p:nvPr/>
        </p:nvPicPr>
        <p:blipFill>
          <a:blip r:embed="rId2"/>
          <a:stretch>
            <a:fillRect/>
          </a:stretch>
        </p:blipFill>
        <p:spPr>
          <a:xfrm>
            <a:off x="684703" y="2742103"/>
            <a:ext cx="294803" cy="294803"/>
          </a:xfrm>
          <a:prstGeom prst="rect">
            <a:avLst/>
          </a:prstGeom>
        </p:spPr>
      </p:pic>
      <p:sp>
        <p:nvSpPr>
          <p:cNvPr id="9" name="text-261"/>
          <p:cNvSpPr txBox="1"/>
          <p:nvPr/>
        </p:nvSpPr>
        <p:spPr>
          <a:xfrm>
            <a:off x="1325880" y="2560320"/>
            <a:ext cx="5029200" cy="347472"/>
          </a:xfrm>
          <a:prstGeom prst="rect">
            <a:avLst/>
          </a:prstGeom>
          <a:noFill/>
          <a:ln/>
        </p:spPr>
        <p:txBody>
          <a:bodyPr wrap="square" lIns="0" tIns="0" rIns="0" bIns="0" rtlCol="0" anchor="t"/>
          <a:lstStyle/>
          <a:p>
            <a:pPr indent="0" marL="0">
              <a:buNone/>
            </a:pPr>
            <a:r>
              <a:rPr lang="en-US" sz="1600" b="1" dirty="0">
                <a:solidFill>
                  <a:schemeClr val="tx1"/>
                </a:solidFill>
              </a:rPr>
              <a:t>Tools</a:t>
            </a:r>
            <a:endParaRPr lang="en-US" sz="1600" dirty="0"/>
          </a:p>
        </p:txBody>
      </p:sp>
      <p:sp>
        <p:nvSpPr>
          <p:cNvPr id="10" name="text-262"/>
          <p:cNvSpPr txBox="1"/>
          <p:nvPr/>
        </p:nvSpPr>
        <p:spPr>
          <a:xfrm>
            <a:off x="1325880" y="2926080"/>
            <a:ext cx="5120640" cy="777240"/>
          </a:xfrm>
          <a:prstGeom prst="rect">
            <a:avLst/>
          </a:prstGeom>
          <a:noFill/>
          <a:ln/>
        </p:spPr>
        <p:txBody>
          <a:bodyPr wrap="square" lIns="0" tIns="0" rIns="0" bIns="0" rtlCol="0" anchor="t"/>
          <a:lstStyle/>
          <a:p>
            <a:pPr indent="0" marL="0">
              <a:buNone/>
            </a:pPr>
            <a:r>
              <a:rPr lang="en-US" sz="1300" dirty="0">
                <a:solidFill>
                  <a:schemeClr val="tx1"/>
                </a:solidFill>
              </a:rPr>
              <a:t>All open source: Ultralytics YOLO11/26-OBB, official AITODReval, MMRotate. Python and PyTorch, as in DPL302m.</a:t>
            </a:r>
            <a:endParaRPr lang="en-US" sz="1300" dirty="0"/>
          </a:p>
        </p:txBody>
      </p:sp>
      <p:sp>
        <p:nvSpPr>
          <p:cNvPr id="11" name="icon-disc-263"/>
          <p:cNvSpPr/>
          <p:nvPr/>
        </p:nvSpPr>
        <p:spPr>
          <a:xfrm>
            <a:off x="548640" y="3794760"/>
            <a:ext cx="566928" cy="566928"/>
          </a:xfrm>
          <a:prstGeom prst="ellipse">
            <a:avLst/>
          </a:prstGeom>
          <a:solidFill>
            <a:schemeClr val="tx1"/>
          </a:solidFill>
          <a:ln w="12700">
            <a:solidFill>
              <a:schemeClr val="tx1"/>
            </a:solidFill>
            <a:prstDash val="solid"/>
          </a:ln>
        </p:spPr>
      </p:sp>
      <p:pic>
        <p:nvPicPr>
          <p:cNvPr id="12" name="icon-264" descr="icon">    </p:cNvPr>
          <p:cNvPicPr>
            <a:picLocks noChangeAspect="1"/>
          </p:cNvPicPr>
          <p:nvPr/>
        </p:nvPicPr>
        <p:blipFill>
          <a:blip r:embed="rId3"/>
          <a:stretch>
            <a:fillRect/>
          </a:stretch>
        </p:blipFill>
        <p:spPr>
          <a:xfrm>
            <a:off x="684703" y="3930823"/>
            <a:ext cx="294803" cy="294803"/>
          </a:xfrm>
          <a:prstGeom prst="rect">
            <a:avLst/>
          </a:prstGeom>
        </p:spPr>
      </p:pic>
      <p:sp>
        <p:nvSpPr>
          <p:cNvPr id="13" name="text-265"/>
          <p:cNvSpPr txBox="1"/>
          <p:nvPr/>
        </p:nvSpPr>
        <p:spPr>
          <a:xfrm>
            <a:off x="1325880" y="3749040"/>
            <a:ext cx="5029200" cy="347472"/>
          </a:xfrm>
          <a:prstGeom prst="rect">
            <a:avLst/>
          </a:prstGeom>
          <a:noFill/>
          <a:ln/>
        </p:spPr>
        <p:txBody>
          <a:bodyPr wrap="square" lIns="0" tIns="0" rIns="0" bIns="0" rtlCol="0" anchor="t"/>
          <a:lstStyle/>
          <a:p>
            <a:pPr indent="0" marL="0">
              <a:buNone/>
            </a:pPr>
            <a:r>
              <a:rPr lang="en-US" sz="1600" b="1" dirty="0">
                <a:solidFill>
                  <a:schemeClr val="tx1"/>
                </a:solidFill>
              </a:rPr>
              <a:t>Compute</a:t>
            </a:r>
            <a:endParaRPr lang="en-US" sz="1600" dirty="0"/>
          </a:p>
        </p:txBody>
      </p:sp>
      <p:sp>
        <p:nvSpPr>
          <p:cNvPr id="14" name="text-266"/>
          <p:cNvSpPr txBox="1"/>
          <p:nvPr/>
        </p:nvSpPr>
        <p:spPr>
          <a:xfrm>
            <a:off x="1325880" y="4114800"/>
            <a:ext cx="5120640" cy="777240"/>
          </a:xfrm>
          <a:prstGeom prst="rect">
            <a:avLst/>
          </a:prstGeom>
          <a:noFill/>
          <a:ln/>
        </p:spPr>
        <p:txBody>
          <a:bodyPr wrap="square" lIns="0" tIns="0" rIns="0" bIns="0" rtlCol="0" anchor="t"/>
          <a:lstStyle/>
          <a:p>
            <a:pPr indent="0" marL="0">
              <a:buNone/>
            </a:pPr>
            <a:r>
              <a:rPr lang="en-US" sz="1300" dirty="0">
                <a:solidFill>
                  <a:schemeClr val="tx1"/>
                </a:solidFill>
              </a:rPr>
              <a:t>Kaggle: P100 or 2×T4, about 30 GPU-hours per week, 12-hour sessions [18]. Modal up to US$100 as overflow.</a:t>
            </a:r>
            <a:endParaRPr lang="en-US" sz="1300" dirty="0"/>
          </a:p>
        </p:txBody>
      </p:sp>
      <p:sp>
        <p:nvSpPr>
          <p:cNvPr id="15" name="icon-disc-267"/>
          <p:cNvSpPr/>
          <p:nvPr/>
        </p:nvSpPr>
        <p:spPr>
          <a:xfrm>
            <a:off x="548640" y="4983480"/>
            <a:ext cx="566928" cy="566928"/>
          </a:xfrm>
          <a:prstGeom prst="ellipse">
            <a:avLst/>
          </a:prstGeom>
          <a:solidFill>
            <a:schemeClr val="tx1"/>
          </a:solidFill>
          <a:ln w="12700">
            <a:solidFill>
              <a:schemeClr val="tx1"/>
            </a:solidFill>
            <a:prstDash val="solid"/>
          </a:ln>
        </p:spPr>
      </p:sp>
      <p:pic>
        <p:nvPicPr>
          <p:cNvPr id="16" name="icon-268" descr="icon">    </p:cNvPr>
          <p:cNvPicPr>
            <a:picLocks noChangeAspect="1"/>
          </p:cNvPicPr>
          <p:nvPr/>
        </p:nvPicPr>
        <p:blipFill>
          <a:blip r:embed="rId4"/>
          <a:stretch>
            <a:fillRect/>
          </a:stretch>
        </p:blipFill>
        <p:spPr>
          <a:xfrm>
            <a:off x="684703" y="5119543"/>
            <a:ext cx="294803" cy="294803"/>
          </a:xfrm>
          <a:prstGeom prst="rect">
            <a:avLst/>
          </a:prstGeom>
        </p:spPr>
      </p:pic>
      <p:sp>
        <p:nvSpPr>
          <p:cNvPr id="17" name="text-269"/>
          <p:cNvSpPr txBox="1"/>
          <p:nvPr/>
        </p:nvSpPr>
        <p:spPr>
          <a:xfrm>
            <a:off x="1325880" y="4937760"/>
            <a:ext cx="5029200" cy="347472"/>
          </a:xfrm>
          <a:prstGeom prst="rect">
            <a:avLst/>
          </a:prstGeom>
          <a:noFill/>
          <a:ln/>
        </p:spPr>
        <p:txBody>
          <a:bodyPr wrap="square" lIns="0" tIns="0" rIns="0" bIns="0" rtlCol="0" anchor="t"/>
          <a:lstStyle/>
          <a:p>
            <a:pPr indent="0" marL="0">
              <a:buNone/>
            </a:pPr>
            <a:r>
              <a:rPr lang="en-US" sz="1600" b="1" dirty="0">
                <a:solidFill>
                  <a:schemeClr val="tx1"/>
                </a:solidFill>
              </a:rPr>
              <a:t>Baseline</a:t>
            </a:r>
            <a:endParaRPr lang="en-US" sz="1600" dirty="0"/>
          </a:p>
        </p:txBody>
      </p:sp>
      <p:sp>
        <p:nvSpPr>
          <p:cNvPr id="18" name="text-270"/>
          <p:cNvSpPr txBox="1"/>
          <p:nvPr/>
        </p:nvSpPr>
        <p:spPr>
          <a:xfrm>
            <a:off x="1325880" y="5303520"/>
            <a:ext cx="5120640" cy="777240"/>
          </a:xfrm>
          <a:prstGeom prst="rect">
            <a:avLst/>
          </a:prstGeom>
          <a:noFill/>
          <a:ln/>
        </p:spPr>
        <p:txBody>
          <a:bodyPr wrap="square" lIns="0" tIns="0" rIns="0" bIns="0" rtlCol="0" anchor="t"/>
          <a:lstStyle/>
          <a:p>
            <a:pPr indent="0" marL="0">
              <a:buNone/>
            </a:pPr>
            <a:r>
              <a:rPr lang="en-US" sz="1300" dirty="0">
                <a:solidFill>
                  <a:schemeClr val="tx1"/>
                </a:solidFill>
              </a:rPr>
              <a:t>Reproduce the published RetinaNet-O row (7.3 AP) within ±1.0 AP to validate our evaluation pipeline [3].</a:t>
            </a:r>
            <a:endParaRPr lang="en-US" sz="1300" dirty="0"/>
          </a:p>
        </p:txBody>
      </p:sp>
      <p:sp>
        <p:nvSpPr>
          <p:cNvPr id="19" name="card-271"/>
          <p:cNvSpPr/>
          <p:nvPr/>
        </p:nvSpPr>
        <p:spPr>
          <a:xfrm>
            <a:off x="6812280" y="1371600"/>
            <a:ext cx="4828032" cy="4800600"/>
          </a:xfrm>
          <a:prstGeom prst="roundRect">
            <a:avLst>
              <a:gd name="adj" fmla="val 1524"/>
            </a:avLst>
          </a:prstGeom>
          <a:solidFill>
            <a:schemeClr val="bg2"/>
          </a:solidFill>
          <a:ln w="12700">
            <a:solidFill>
              <a:schemeClr val="bg2"/>
            </a:solidFill>
            <a:prstDash val="solid"/>
          </a:ln>
        </p:spPr>
      </p:sp>
      <p:graphicFrame>
        <p:nvGraphicFramePr>
          <p:cNvPr id="20" name="gpu-chart" descr=""/>
          <p:cNvGraphicFramePr/>
          <p:nvPr/>
        </p:nvGraphicFramePr>
        <p:xfrm>
          <a:off x="6995160" y="1508760"/>
          <a:ext cx="4480560" cy="3246120"/>
        </p:xfrm>
        <a:graphic xmlns:a="http://schemas.openxmlformats.org/drawingml/2006/main">
          <a:graphicData uri="http://schemas.openxmlformats.org/drawingml/2006/chart">
            <c:chart xmlns:c="http://schemas.openxmlformats.org/drawingml/2006/chart" r:id="rId5"/>
          </a:graphicData>
        </a:graphic>
      </p:graphicFrame>
      <p:sp>
        <p:nvSpPr>
          <p:cNvPr id="21" name="text-272"/>
          <p:cNvSpPr txBox="1"/>
          <p:nvPr/>
        </p:nvSpPr>
        <p:spPr>
          <a:xfrm>
            <a:off x="7086600" y="4846320"/>
            <a:ext cx="4343400" cy="685800"/>
          </a:xfrm>
          <a:prstGeom prst="rect">
            <a:avLst/>
          </a:prstGeom>
          <a:noFill/>
          <a:ln/>
        </p:spPr>
        <p:txBody>
          <a:bodyPr wrap="square" lIns="0" tIns="0" rIns="0" bIns="0" rtlCol="0" anchor="t"/>
          <a:lstStyle/>
          <a:p>
            <a:pPr indent="0" marL="0">
              <a:buNone/>
            </a:pPr>
            <a:r>
              <a:rPr lang="en-US" sz="1200" dirty="0">
                <a:solidFill>
                  <a:schemeClr val="accent6"/>
                </a:solidFill>
              </a:rPr>
              <a:t>[estimate] about 14,000 training images × 100 epochs, by measured throughput (images per second). Replaced by the real value in week 2.</a:t>
            </a:r>
            <a:endParaRPr lang="en-US" sz="1200" dirty="0"/>
          </a:p>
        </p:txBody>
      </p:sp>
      <p:sp>
        <p:nvSpPr>
          <p:cNvPr id="22" name="text-273"/>
          <p:cNvSpPr txBox="1"/>
          <p:nvPr/>
        </p:nvSpPr>
        <p:spPr>
          <a:xfrm>
            <a:off x="7086600" y="5577840"/>
            <a:ext cx="4343400" cy="365760"/>
          </a:xfrm>
          <a:prstGeom prst="rect">
            <a:avLst/>
          </a:prstGeom>
          <a:noFill/>
          <a:ln/>
        </p:spPr>
        <p:txBody>
          <a:bodyPr wrap="square" lIns="0" tIns="0" rIns="0" bIns="0" rtlCol="0" anchor="t"/>
          <a:lstStyle/>
          <a:p>
            <a:pPr indent="0" marL="0">
              <a:buNone/>
            </a:pPr>
            <a:r>
              <a:rPr lang="en-US" sz="1300" b="1" dirty="0">
                <a:solidFill>
                  <a:schemeClr val="tx1"/>
                </a:solidFill>
              </a:rPr>
              <a:t>Plan: ~9 runs (RQ1) + 24 (RQ3) + 9 (RQ4) + pilots</a:t>
            </a:r>
            <a:endParaRPr lang="en-US" sz="13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Risks and fixed fallbacks</a:t>
            </a:r>
            <a:endParaRPr lang="en-US" sz="3000" dirty="0"/>
          </a:p>
        </p:txBody>
      </p:sp>
      <p:graphicFrame>
        <p:nvGraphicFramePr>
          <p:cNvPr id="15" name="risk-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023360"/>
                <a:gridCol w="1600200"/>
                <a:gridCol w="5468112"/>
              </a:tblGrid>
              <a:tr h="512064">
                <a:tc>
                  <a:txBody>
                    <a:bodyPr/>
                    <a:lstStyle/>
                    <a:p>
                      <a:pPr indent="0" marL="0">
                        <a:buNone/>
                      </a:pPr>
                      <a:r>
                        <a:rPr lang="en-US" sz="1300" b="1" dirty="0">
                          <a:solidFill>
                            <a:schemeClr val="bg1"/>
                          </a:solidFill>
                        </a:rPr>
                        <a:t>Risk</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Likelihood</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Planned response</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tx1"/>
                    </a:solidFill>
                  </a:tcPr>
                </a:tc>
              </a:tr>
              <a:tr h="512064">
                <a:tc>
                  <a:txBody>
                    <a:bodyPr/>
                    <a:lstStyle/>
                    <a:p>
                      <a:pPr indent="0" marL="0">
                        <a:buNone/>
                      </a:pPr>
                      <a:r>
                        <a:rPr lang="en-US" sz="1300" dirty="0">
                          <a:solidFill>
                            <a:schemeClr val="tx1"/>
                          </a:solidFill>
                        </a:rPr>
                        <a:t>xView access or image rebuilding is delayed</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unknown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DOTA-v2.0 train→val as a pre-declared fallback; narrow the claims</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12064">
                <a:tc>
                  <a:txBody>
                    <a:bodyPr/>
                    <a:lstStyle/>
                    <a:p>
                      <a:pPr indent="0" marL="0">
                        <a:buNone/>
                      </a:pPr>
                      <a:r>
                        <a:rPr lang="en-US" sz="1300" dirty="0">
                          <a:solidFill>
                            <a:schemeClr val="tx1"/>
                          </a:solidFill>
                        </a:rPr>
                        <a:t>OA-STAL v2 gives no gain over STAL-16</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medium–high</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Report benchmark and diagnosis; a null result is reported, not hidden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Differences are within seed noise</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medium</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Three seeds, bootstrap CIs, minimal effect fixed from measured seed variance</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12064">
                <a:tc>
                  <a:txBody>
                    <a:bodyPr/>
                    <a:lstStyle/>
                    <a:p>
                      <a:pPr indent="0" marL="0">
                        <a:buNone/>
                      </a:pPr>
                      <a:r>
                        <a:rPr lang="en-US" sz="1300" dirty="0">
                          <a:solidFill>
                            <a:schemeClr val="tx1"/>
                          </a:solidFill>
                        </a:rPr>
                        <a:t>Our evaluation pipeline differs from the official one</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medium</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Reproduce a published baseline row before any comparison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The Ultralytics rule changes again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certain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 frozen code copy; all rules as explicit parameters; commit recorded</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r h="512064">
                <a:tc>
                  <a:txBody>
                    <a:bodyPr/>
                    <a:lstStyle/>
                    <a:p>
                      <a:pPr indent="0" marL="0">
                        <a:buNone/>
                      </a:pPr>
                      <a:r>
                        <a:rPr lang="en-US" sz="1300" dirty="0">
                          <a:solidFill>
                            <a:schemeClr val="tx1"/>
                          </a:solidFill>
                        </a:rPr>
                        <a:t>Closer prior work appears</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unknown</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Literature re-check in week 13; no “first” claims</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GPU quota is not enough</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medium</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Fixed cutting order: RQ4 to two arms, then A5, then A6/A7; Modal overflow</a:t>
                      </a:r>
                      <a:endParaRPr lang="en-US" sz="1300" dirty="0"/>
                    </a:p>
                  </a:txBody>
                  <a:tcPr marL="91440" marR="91440" marT="27432" marB="27432" anchor="ctr">
                    <a:lnL w="9525" cap="flat" cmpd="sng" algn="ctr">
                      <a:solidFill>
                        <a:srgbClr val="D5DDE5"/>
                      </a:solidFill>
                      <a:prstDash val="solid"/>
                      <a:round/>
                      <a:headEnd type="none" w="med" len="med"/>
                      <a:tailEnd type="none" w="med" len="med"/>
                    </a:lnL>
                    <a:lnR w="9525" cap="flat" cmpd="sng" algn="ctr">
                      <a:solidFill>
                        <a:srgbClr val="D5DDE5"/>
                      </a:solidFill>
                      <a:prstDash val="solid"/>
                      <a:round/>
                      <a:headEnd type="none" w="med" len="med"/>
                      <a:tailEnd type="none" w="med" len="med"/>
                    </a:lnR>
                    <a:lnT w="9525" cap="flat" cmpd="sng" algn="ctr">
                      <a:solidFill>
                        <a:srgbClr val="D5DDE5"/>
                      </a:solidFill>
                      <a:prstDash val="solid"/>
                      <a:round/>
                      <a:headEnd type="none" w="med" len="med"/>
                      <a:tailEnd type="none" w="med" len="med"/>
                    </a:lnT>
                    <a:lnB w="9525" cap="flat" cmpd="sng" algn="ctr">
                      <a:solidFill>
                        <a:srgbClr val="D5DDE5"/>
                      </a:solidFill>
                      <a:prstDash val="solid"/>
                      <a:round/>
                      <a:headEnd type="none" w="med" len="med"/>
                      <a:tailEnd type="none" w="med" len="med"/>
                    </a:lnB>
                    <a:solidFill>
                      <a:schemeClr val="bg2"/>
                    </a:solidFill>
                  </a:tcPr>
                </a:tc>
              </a:tr>
            </a:tbl>
          </a:graphicData>
        </a:graphic>
      </p:graphicFrame>
      <p:sp>
        <p:nvSpPr>
          <p:cNvPr id="4" name="card-274"/>
          <p:cNvSpPr/>
          <p:nvPr/>
        </p:nvSpPr>
        <p:spPr>
          <a:xfrm>
            <a:off x="548640" y="5623560"/>
            <a:ext cx="11091672" cy="594360"/>
          </a:xfrm>
          <a:prstGeom prst="roundRect">
            <a:avLst>
              <a:gd name="adj" fmla="val 12308"/>
            </a:avLst>
          </a:prstGeom>
          <a:solidFill>
            <a:srgbClr val="FDEBDD"/>
          </a:solidFill>
          <a:ln w="12700">
            <a:solidFill>
              <a:srgbClr val="FDEBDD"/>
            </a:solidFill>
            <a:prstDash val="solid"/>
          </a:ln>
        </p:spPr>
      </p:sp>
      <p:sp>
        <p:nvSpPr>
          <p:cNvPr id="5" name="text-275"/>
          <p:cNvSpPr txBox="1"/>
          <p:nvPr/>
        </p:nvSpPr>
        <p:spPr>
          <a:xfrm>
            <a:off x="777240" y="5705856"/>
            <a:ext cx="10698480" cy="457200"/>
          </a:xfrm>
          <a:prstGeom prst="rect">
            <a:avLst/>
          </a:prstGeom>
          <a:noFill/>
          <a:ln/>
        </p:spPr>
        <p:txBody>
          <a:bodyPr wrap="square" lIns="0" tIns="0" rIns="0" bIns="0" rtlCol="0" anchor="ctr"/>
          <a:lstStyle/>
          <a:p>
            <a:pPr indent="0" marL="0">
              <a:buNone/>
            </a:pPr>
            <a:r>
              <a:rPr lang="en-US" sz="1400" b="1" dirty="0">
                <a:solidFill>
                  <a:schemeClr val="tx1"/>
                </a:solidFill>
              </a:rPr>
              <a:t>Status: </a:t>
            </a:r>
            <a:pPr indent="0" marL="0">
              <a:buNone/>
            </a:pPr>
            <a:r>
              <a:rPr lang="en-US" sz="1400" dirty="0">
                <a:solidFill>
                  <a:schemeClr val="tx1"/>
                </a:solidFill>
              </a:rPr>
              <a:t>no experiment has been run yet. The plan becomes fully runnable after the week-2 checkpoint (data rebuilt, evaluator validated, speed measured).</a:t>
            </a:r>
            <a:endParaRPr lang="en-US" sz="14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14-week plan, go/no-go at week 2</a:t>
            </a:r>
            <a:endParaRPr lang="en-US" sz="3000" dirty="0"/>
          </a:p>
        </p:txBody>
      </p:sp>
      <p:sp>
        <p:nvSpPr>
          <p:cNvPr id="3" name="text-276"/>
          <p:cNvSpPr txBox="1"/>
          <p:nvPr/>
        </p:nvSpPr>
        <p:spPr>
          <a:xfrm>
            <a:off x="548640" y="1371600"/>
            <a:ext cx="4206240" cy="320040"/>
          </a:xfrm>
          <a:prstGeom prst="rect">
            <a:avLst/>
          </a:prstGeom>
          <a:noFill/>
          <a:ln/>
        </p:spPr>
        <p:txBody>
          <a:bodyPr wrap="square" lIns="0" tIns="0" rIns="0" bIns="0" rtlCol="0" anchor="t"/>
          <a:lstStyle/>
          <a:p>
            <a:pPr indent="0" marL="0">
              <a:buNone/>
            </a:pPr>
            <a:r>
              <a:rPr lang="en-US" sz="1200" b="1" dirty="0">
                <a:solidFill>
                  <a:schemeClr val="accent6"/>
                </a:solidFill>
              </a:rPr>
              <a:t>Task</a:t>
            </a:r>
            <a:endParaRPr lang="en-US" sz="1200" dirty="0"/>
          </a:p>
        </p:txBody>
      </p:sp>
      <p:sp>
        <p:nvSpPr>
          <p:cNvPr id="4" name="text-277"/>
          <p:cNvSpPr txBox="1"/>
          <p:nvPr/>
        </p:nvSpPr>
        <p:spPr>
          <a:xfrm>
            <a:off x="4846320" y="1371600"/>
            <a:ext cx="822960" cy="320040"/>
          </a:xfrm>
          <a:prstGeom prst="rect">
            <a:avLst/>
          </a:prstGeom>
          <a:noFill/>
          <a:ln/>
        </p:spPr>
        <p:txBody>
          <a:bodyPr wrap="square" lIns="0" tIns="0" rIns="0" bIns="0" rtlCol="0" anchor="t"/>
          <a:lstStyle/>
          <a:p>
            <a:pPr indent="0" marL="0">
              <a:buNone/>
            </a:pPr>
            <a:r>
              <a:rPr lang="en-US" sz="1200" b="1" dirty="0">
                <a:solidFill>
                  <a:schemeClr val="accent6"/>
                </a:solidFill>
              </a:rPr>
              <a:t>Who</a:t>
            </a:r>
            <a:endParaRPr lang="en-US" sz="1200" dirty="0"/>
          </a:p>
        </p:txBody>
      </p:sp>
      <p:sp>
        <p:nvSpPr>
          <p:cNvPr id="5" name="text-278"/>
          <p:cNvSpPr txBox="1"/>
          <p:nvPr/>
        </p:nvSpPr>
        <p:spPr>
          <a:xfrm>
            <a:off x="5806440"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a:t>
            </a:r>
            <a:endParaRPr lang="en-US" sz="1100" dirty="0"/>
          </a:p>
        </p:txBody>
      </p:sp>
      <p:sp>
        <p:nvSpPr>
          <p:cNvPr id="6" name="week-band-279"/>
          <p:cNvSpPr/>
          <p:nvPr/>
        </p:nvSpPr>
        <p:spPr>
          <a:xfrm>
            <a:off x="5806440" y="1737360"/>
            <a:ext cx="416705" cy="3913632"/>
          </a:xfrm>
          <a:prstGeom prst="rect">
            <a:avLst/>
          </a:prstGeom>
          <a:solidFill>
            <a:schemeClr val="bg2"/>
          </a:solidFill>
          <a:ln w="12700">
            <a:solidFill>
              <a:schemeClr val="bg2"/>
            </a:solidFill>
            <a:prstDash val="solid"/>
          </a:ln>
        </p:spPr>
      </p:sp>
      <p:sp>
        <p:nvSpPr>
          <p:cNvPr id="7" name="text-280"/>
          <p:cNvSpPr txBox="1"/>
          <p:nvPr/>
        </p:nvSpPr>
        <p:spPr>
          <a:xfrm>
            <a:off x="6223145"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2</a:t>
            </a:r>
            <a:endParaRPr lang="en-US" sz="1100" dirty="0"/>
          </a:p>
        </p:txBody>
      </p:sp>
      <p:sp>
        <p:nvSpPr>
          <p:cNvPr id="8" name="text-281"/>
          <p:cNvSpPr txBox="1"/>
          <p:nvPr/>
        </p:nvSpPr>
        <p:spPr>
          <a:xfrm>
            <a:off x="6639850"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3</a:t>
            </a:r>
            <a:endParaRPr lang="en-US" sz="1100" dirty="0"/>
          </a:p>
        </p:txBody>
      </p:sp>
      <p:sp>
        <p:nvSpPr>
          <p:cNvPr id="9" name="week-band-282"/>
          <p:cNvSpPr/>
          <p:nvPr/>
        </p:nvSpPr>
        <p:spPr>
          <a:xfrm>
            <a:off x="6639850" y="1737360"/>
            <a:ext cx="416705" cy="3913632"/>
          </a:xfrm>
          <a:prstGeom prst="rect">
            <a:avLst/>
          </a:prstGeom>
          <a:solidFill>
            <a:schemeClr val="bg2"/>
          </a:solidFill>
          <a:ln w="12700">
            <a:solidFill>
              <a:schemeClr val="bg2"/>
            </a:solidFill>
            <a:prstDash val="solid"/>
          </a:ln>
        </p:spPr>
      </p:sp>
      <p:sp>
        <p:nvSpPr>
          <p:cNvPr id="10" name="text-283"/>
          <p:cNvSpPr txBox="1"/>
          <p:nvPr/>
        </p:nvSpPr>
        <p:spPr>
          <a:xfrm>
            <a:off x="7056555"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4</a:t>
            </a:r>
            <a:endParaRPr lang="en-US" sz="1100" dirty="0"/>
          </a:p>
        </p:txBody>
      </p:sp>
      <p:sp>
        <p:nvSpPr>
          <p:cNvPr id="11" name="text-284"/>
          <p:cNvSpPr txBox="1"/>
          <p:nvPr/>
        </p:nvSpPr>
        <p:spPr>
          <a:xfrm>
            <a:off x="7473261"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5</a:t>
            </a:r>
            <a:endParaRPr lang="en-US" sz="1100" dirty="0"/>
          </a:p>
        </p:txBody>
      </p:sp>
      <p:sp>
        <p:nvSpPr>
          <p:cNvPr id="12" name="week-band-285"/>
          <p:cNvSpPr/>
          <p:nvPr/>
        </p:nvSpPr>
        <p:spPr>
          <a:xfrm>
            <a:off x="7473261" y="1737360"/>
            <a:ext cx="416705" cy="3913632"/>
          </a:xfrm>
          <a:prstGeom prst="rect">
            <a:avLst/>
          </a:prstGeom>
          <a:solidFill>
            <a:schemeClr val="bg2"/>
          </a:solidFill>
          <a:ln w="12700">
            <a:solidFill>
              <a:schemeClr val="bg2"/>
            </a:solidFill>
            <a:prstDash val="solid"/>
          </a:ln>
        </p:spPr>
      </p:sp>
      <p:sp>
        <p:nvSpPr>
          <p:cNvPr id="13" name="text-286"/>
          <p:cNvSpPr txBox="1"/>
          <p:nvPr/>
        </p:nvSpPr>
        <p:spPr>
          <a:xfrm>
            <a:off x="7889966"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6</a:t>
            </a:r>
            <a:endParaRPr lang="en-US" sz="1100" dirty="0"/>
          </a:p>
        </p:txBody>
      </p:sp>
      <p:sp>
        <p:nvSpPr>
          <p:cNvPr id="14" name="text-287"/>
          <p:cNvSpPr txBox="1"/>
          <p:nvPr/>
        </p:nvSpPr>
        <p:spPr>
          <a:xfrm>
            <a:off x="8306671"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7</a:t>
            </a:r>
            <a:endParaRPr lang="en-US" sz="1100" dirty="0"/>
          </a:p>
        </p:txBody>
      </p:sp>
      <p:sp>
        <p:nvSpPr>
          <p:cNvPr id="15" name="week-band-288"/>
          <p:cNvSpPr/>
          <p:nvPr/>
        </p:nvSpPr>
        <p:spPr>
          <a:xfrm>
            <a:off x="8306671" y="1737360"/>
            <a:ext cx="416705" cy="3913632"/>
          </a:xfrm>
          <a:prstGeom prst="rect">
            <a:avLst/>
          </a:prstGeom>
          <a:solidFill>
            <a:schemeClr val="bg2"/>
          </a:solidFill>
          <a:ln w="12700">
            <a:solidFill>
              <a:schemeClr val="bg2"/>
            </a:solidFill>
            <a:prstDash val="solid"/>
          </a:ln>
        </p:spPr>
      </p:sp>
      <p:sp>
        <p:nvSpPr>
          <p:cNvPr id="16" name="text-289"/>
          <p:cNvSpPr txBox="1"/>
          <p:nvPr/>
        </p:nvSpPr>
        <p:spPr>
          <a:xfrm>
            <a:off x="8723376"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8</a:t>
            </a:r>
            <a:endParaRPr lang="en-US" sz="1100" dirty="0"/>
          </a:p>
        </p:txBody>
      </p:sp>
      <p:sp>
        <p:nvSpPr>
          <p:cNvPr id="17" name="text-290"/>
          <p:cNvSpPr txBox="1"/>
          <p:nvPr/>
        </p:nvSpPr>
        <p:spPr>
          <a:xfrm>
            <a:off x="9140081"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9</a:t>
            </a:r>
            <a:endParaRPr lang="en-US" sz="1100" dirty="0"/>
          </a:p>
        </p:txBody>
      </p:sp>
      <p:sp>
        <p:nvSpPr>
          <p:cNvPr id="18" name="week-band-291"/>
          <p:cNvSpPr/>
          <p:nvPr/>
        </p:nvSpPr>
        <p:spPr>
          <a:xfrm>
            <a:off x="9140081" y="1737360"/>
            <a:ext cx="416705" cy="3913632"/>
          </a:xfrm>
          <a:prstGeom prst="rect">
            <a:avLst/>
          </a:prstGeom>
          <a:solidFill>
            <a:schemeClr val="bg2"/>
          </a:solidFill>
          <a:ln w="12700">
            <a:solidFill>
              <a:schemeClr val="bg2"/>
            </a:solidFill>
            <a:prstDash val="solid"/>
          </a:ln>
        </p:spPr>
      </p:sp>
      <p:sp>
        <p:nvSpPr>
          <p:cNvPr id="19" name="text-292"/>
          <p:cNvSpPr txBox="1"/>
          <p:nvPr/>
        </p:nvSpPr>
        <p:spPr>
          <a:xfrm>
            <a:off x="9556786"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10</a:t>
            </a:r>
            <a:endParaRPr lang="en-US" sz="1100" dirty="0"/>
          </a:p>
        </p:txBody>
      </p:sp>
      <p:sp>
        <p:nvSpPr>
          <p:cNvPr id="20" name="text-293"/>
          <p:cNvSpPr txBox="1"/>
          <p:nvPr/>
        </p:nvSpPr>
        <p:spPr>
          <a:xfrm>
            <a:off x="9973491"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11</a:t>
            </a:r>
            <a:endParaRPr lang="en-US" sz="1100" dirty="0"/>
          </a:p>
        </p:txBody>
      </p:sp>
      <p:sp>
        <p:nvSpPr>
          <p:cNvPr id="21" name="week-band-294"/>
          <p:cNvSpPr/>
          <p:nvPr/>
        </p:nvSpPr>
        <p:spPr>
          <a:xfrm>
            <a:off x="9973491" y="1737360"/>
            <a:ext cx="416705" cy="3913632"/>
          </a:xfrm>
          <a:prstGeom prst="rect">
            <a:avLst/>
          </a:prstGeom>
          <a:solidFill>
            <a:schemeClr val="bg2"/>
          </a:solidFill>
          <a:ln w="12700">
            <a:solidFill>
              <a:schemeClr val="bg2"/>
            </a:solidFill>
            <a:prstDash val="solid"/>
          </a:ln>
        </p:spPr>
      </p:sp>
      <p:sp>
        <p:nvSpPr>
          <p:cNvPr id="22" name="text-295"/>
          <p:cNvSpPr txBox="1"/>
          <p:nvPr/>
        </p:nvSpPr>
        <p:spPr>
          <a:xfrm>
            <a:off x="10390197"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12</a:t>
            </a:r>
            <a:endParaRPr lang="en-US" sz="1100" dirty="0"/>
          </a:p>
        </p:txBody>
      </p:sp>
      <p:sp>
        <p:nvSpPr>
          <p:cNvPr id="23" name="text-296"/>
          <p:cNvSpPr txBox="1"/>
          <p:nvPr/>
        </p:nvSpPr>
        <p:spPr>
          <a:xfrm>
            <a:off x="10806902"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13</a:t>
            </a:r>
            <a:endParaRPr lang="en-US" sz="1100" dirty="0"/>
          </a:p>
        </p:txBody>
      </p:sp>
      <p:sp>
        <p:nvSpPr>
          <p:cNvPr id="24" name="week-band-297"/>
          <p:cNvSpPr/>
          <p:nvPr/>
        </p:nvSpPr>
        <p:spPr>
          <a:xfrm>
            <a:off x="10806902" y="1737360"/>
            <a:ext cx="416705" cy="3913632"/>
          </a:xfrm>
          <a:prstGeom prst="rect">
            <a:avLst/>
          </a:prstGeom>
          <a:solidFill>
            <a:schemeClr val="bg2"/>
          </a:solidFill>
          <a:ln w="12700">
            <a:solidFill>
              <a:schemeClr val="bg2"/>
            </a:solidFill>
            <a:prstDash val="solid"/>
          </a:ln>
        </p:spPr>
      </p:sp>
      <p:sp>
        <p:nvSpPr>
          <p:cNvPr id="25" name="text-298"/>
          <p:cNvSpPr txBox="1"/>
          <p:nvPr/>
        </p:nvSpPr>
        <p:spPr>
          <a:xfrm>
            <a:off x="11223607" y="1371600"/>
            <a:ext cx="416705" cy="320040"/>
          </a:xfrm>
          <a:prstGeom prst="rect">
            <a:avLst/>
          </a:prstGeom>
          <a:noFill/>
          <a:ln/>
        </p:spPr>
        <p:txBody>
          <a:bodyPr wrap="square" lIns="0" tIns="0" rIns="0" bIns="0" rtlCol="0" anchor="t"/>
          <a:lstStyle/>
          <a:p>
            <a:pPr algn="ctr" indent="0" marL="0">
              <a:buNone/>
            </a:pPr>
            <a:r>
              <a:rPr lang="en-US" sz="1100" dirty="0">
                <a:solidFill>
                  <a:schemeClr val="accent6"/>
                </a:solidFill>
              </a:rPr>
              <a:t>14</a:t>
            </a:r>
            <a:endParaRPr lang="en-US" sz="1100" dirty="0"/>
          </a:p>
        </p:txBody>
      </p:sp>
      <p:sp>
        <p:nvSpPr>
          <p:cNvPr id="26" name="text-299"/>
          <p:cNvSpPr txBox="1"/>
          <p:nvPr/>
        </p:nvSpPr>
        <p:spPr>
          <a:xfrm>
            <a:off x="548640" y="1837944"/>
            <a:ext cx="4206240" cy="356616"/>
          </a:xfrm>
          <a:prstGeom prst="rect">
            <a:avLst/>
          </a:prstGeom>
          <a:noFill/>
          <a:ln/>
        </p:spPr>
        <p:txBody>
          <a:bodyPr wrap="square" lIns="0" tIns="0" rIns="0" bIns="0" rtlCol="0" anchor="ctr"/>
          <a:lstStyle/>
          <a:p>
            <a:pPr indent="0" marL="0">
              <a:buNone/>
            </a:pPr>
            <a:r>
              <a:rPr lang="en-US" sz="1200" dirty="0">
                <a:solidFill>
                  <a:schemeClr val="tx1"/>
                </a:solidFill>
              </a:rPr>
              <a:t>1. Register xView, rebuild AI-TOD-R, pin the fork, unit tests</a:t>
            </a:r>
            <a:endParaRPr lang="en-US" sz="1200" dirty="0"/>
          </a:p>
        </p:txBody>
      </p:sp>
      <p:sp>
        <p:nvSpPr>
          <p:cNvPr id="27" name="text-300"/>
          <p:cNvSpPr txBox="1"/>
          <p:nvPr/>
        </p:nvSpPr>
        <p:spPr>
          <a:xfrm>
            <a:off x="4846320" y="1837944"/>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M1, M2</a:t>
            </a:r>
            <a:endParaRPr lang="en-US" sz="1200" dirty="0"/>
          </a:p>
        </p:txBody>
      </p:sp>
      <p:sp>
        <p:nvSpPr>
          <p:cNvPr id="28" name="gantt-bar-301"/>
          <p:cNvSpPr/>
          <p:nvPr/>
        </p:nvSpPr>
        <p:spPr>
          <a:xfrm>
            <a:off x="5833872" y="1874520"/>
            <a:ext cx="361841" cy="246888"/>
          </a:xfrm>
          <a:prstGeom prst="roundRect">
            <a:avLst>
              <a:gd name="adj" fmla="val 22222"/>
            </a:avLst>
          </a:prstGeom>
          <a:solidFill>
            <a:schemeClr val="tx1"/>
          </a:solidFill>
          <a:ln w="12700">
            <a:solidFill>
              <a:schemeClr val="tx1"/>
            </a:solidFill>
            <a:prstDash val="solid"/>
          </a:ln>
        </p:spPr>
      </p:sp>
      <p:sp>
        <p:nvSpPr>
          <p:cNvPr id="29" name="text-302"/>
          <p:cNvSpPr txBox="1"/>
          <p:nvPr/>
        </p:nvSpPr>
        <p:spPr>
          <a:xfrm>
            <a:off x="548640" y="2267712"/>
            <a:ext cx="4206240" cy="356616"/>
          </a:xfrm>
          <a:prstGeom prst="rect">
            <a:avLst/>
          </a:prstGeom>
          <a:noFill/>
          <a:ln/>
        </p:spPr>
        <p:txBody>
          <a:bodyPr wrap="square" lIns="0" tIns="0" rIns="0" bIns="0" rtlCol="0" anchor="ctr"/>
          <a:lstStyle/>
          <a:p>
            <a:pPr indent="0" marL="0">
              <a:buNone/>
            </a:pPr>
            <a:r>
              <a:rPr lang="en-US" sz="1200" dirty="0">
                <a:solidFill>
                  <a:schemeClr val="tx1"/>
                </a:solidFill>
              </a:rPr>
              <a:t>2. Kaggle pilots, converter + AITODReval, RetinaNet-O baseline</a:t>
            </a:r>
            <a:endParaRPr lang="en-US" sz="1200" dirty="0"/>
          </a:p>
        </p:txBody>
      </p:sp>
      <p:sp>
        <p:nvSpPr>
          <p:cNvPr id="30" name="text-303"/>
          <p:cNvSpPr txBox="1"/>
          <p:nvPr/>
        </p:nvSpPr>
        <p:spPr>
          <a:xfrm>
            <a:off x="4846320" y="2267712"/>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M2, M3</a:t>
            </a:r>
            <a:endParaRPr lang="en-US" sz="1200" dirty="0"/>
          </a:p>
        </p:txBody>
      </p:sp>
      <p:sp>
        <p:nvSpPr>
          <p:cNvPr id="31" name="gantt-bar-304"/>
          <p:cNvSpPr/>
          <p:nvPr/>
        </p:nvSpPr>
        <p:spPr>
          <a:xfrm>
            <a:off x="6250577" y="2304288"/>
            <a:ext cx="361841" cy="246888"/>
          </a:xfrm>
          <a:prstGeom prst="roundRect">
            <a:avLst>
              <a:gd name="adj" fmla="val 22222"/>
            </a:avLst>
          </a:prstGeom>
          <a:solidFill>
            <a:schemeClr val="accent2"/>
          </a:solidFill>
          <a:ln w="12700">
            <a:solidFill>
              <a:schemeClr val="accent2"/>
            </a:solidFill>
            <a:prstDash val="solid"/>
          </a:ln>
        </p:spPr>
      </p:sp>
      <p:sp>
        <p:nvSpPr>
          <p:cNvPr id="32" name="text-305"/>
          <p:cNvSpPr txBox="1"/>
          <p:nvPr/>
        </p:nvSpPr>
        <p:spPr>
          <a:xfrm>
            <a:off x="548640" y="2697480"/>
            <a:ext cx="4206240" cy="356616"/>
          </a:xfrm>
          <a:prstGeom prst="rect">
            <a:avLst/>
          </a:prstGeom>
          <a:noFill/>
          <a:ln/>
        </p:spPr>
        <p:txBody>
          <a:bodyPr wrap="square" lIns="0" tIns="0" rIns="0" bIns="0" rtlCol="0" anchor="ctr"/>
          <a:lstStyle/>
          <a:p>
            <a:pPr indent="0" marL="0">
              <a:buNone/>
            </a:pPr>
            <a:r>
              <a:rPr lang="en-US" sz="1200" dirty="0">
                <a:solidFill>
                  <a:schemeClr val="tx1"/>
                </a:solidFill>
              </a:rPr>
              <a:t>3. Offline label analysis (RQ2); dated pre-registration</a:t>
            </a:r>
            <a:endParaRPr lang="en-US" sz="1200" dirty="0"/>
          </a:p>
        </p:txBody>
      </p:sp>
      <p:sp>
        <p:nvSpPr>
          <p:cNvPr id="33" name="text-306"/>
          <p:cNvSpPr txBox="1"/>
          <p:nvPr/>
        </p:nvSpPr>
        <p:spPr>
          <a:xfrm>
            <a:off x="4846320" y="2697480"/>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M1, M4</a:t>
            </a:r>
            <a:endParaRPr lang="en-US" sz="1200" dirty="0"/>
          </a:p>
        </p:txBody>
      </p:sp>
      <p:sp>
        <p:nvSpPr>
          <p:cNvPr id="34" name="gantt-bar-307"/>
          <p:cNvSpPr/>
          <p:nvPr/>
        </p:nvSpPr>
        <p:spPr>
          <a:xfrm>
            <a:off x="6667282" y="2734056"/>
            <a:ext cx="361841" cy="246888"/>
          </a:xfrm>
          <a:prstGeom prst="roundRect">
            <a:avLst>
              <a:gd name="adj" fmla="val 22222"/>
            </a:avLst>
          </a:prstGeom>
          <a:solidFill>
            <a:schemeClr val="tx1"/>
          </a:solidFill>
          <a:ln w="12700">
            <a:solidFill>
              <a:schemeClr val="tx1"/>
            </a:solidFill>
            <a:prstDash val="solid"/>
          </a:ln>
        </p:spPr>
      </p:sp>
      <p:sp>
        <p:nvSpPr>
          <p:cNvPr id="35" name="text-308"/>
          <p:cNvSpPr txBox="1"/>
          <p:nvPr/>
        </p:nvSpPr>
        <p:spPr>
          <a:xfrm>
            <a:off x="548640" y="3127248"/>
            <a:ext cx="4206240" cy="356616"/>
          </a:xfrm>
          <a:prstGeom prst="rect">
            <a:avLst/>
          </a:prstGeom>
          <a:noFill/>
          <a:ln/>
        </p:spPr>
        <p:txBody>
          <a:bodyPr wrap="square" lIns="0" tIns="0" rIns="0" bIns="0" rtlCol="0" anchor="ctr"/>
          <a:lstStyle/>
          <a:p>
            <a:pPr indent="0" marL="0">
              <a:buNone/>
            </a:pPr>
            <a:r>
              <a:rPr lang="en-US" sz="1200" dirty="0">
                <a:solidFill>
                  <a:schemeClr val="tx1"/>
                </a:solidFill>
              </a:rPr>
              <a:t>4. RQ1 benchmark: YOLO11s / 26n / 26s-OBB</a:t>
            </a:r>
            <a:endParaRPr lang="en-US" sz="1200" dirty="0"/>
          </a:p>
        </p:txBody>
      </p:sp>
      <p:sp>
        <p:nvSpPr>
          <p:cNvPr id="36" name="text-309"/>
          <p:cNvSpPr txBox="1"/>
          <p:nvPr/>
        </p:nvSpPr>
        <p:spPr>
          <a:xfrm>
            <a:off x="4846320" y="3127248"/>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M2, M3</a:t>
            </a:r>
            <a:endParaRPr lang="en-US" sz="1200" dirty="0"/>
          </a:p>
        </p:txBody>
      </p:sp>
      <p:sp>
        <p:nvSpPr>
          <p:cNvPr id="37" name="gantt-bar-310"/>
          <p:cNvSpPr/>
          <p:nvPr/>
        </p:nvSpPr>
        <p:spPr>
          <a:xfrm>
            <a:off x="7083987" y="3163824"/>
            <a:ext cx="1195251" cy="246888"/>
          </a:xfrm>
          <a:prstGeom prst="roundRect">
            <a:avLst>
              <a:gd name="adj" fmla="val 22222"/>
            </a:avLst>
          </a:prstGeom>
          <a:solidFill>
            <a:schemeClr val="tx1"/>
          </a:solidFill>
          <a:ln w="12700">
            <a:solidFill>
              <a:schemeClr val="tx1"/>
            </a:solidFill>
            <a:prstDash val="solid"/>
          </a:ln>
        </p:spPr>
      </p:sp>
      <p:sp>
        <p:nvSpPr>
          <p:cNvPr id="38" name="text-311"/>
          <p:cNvSpPr txBox="1"/>
          <p:nvPr/>
        </p:nvSpPr>
        <p:spPr>
          <a:xfrm>
            <a:off x="548640" y="3557016"/>
            <a:ext cx="4206240" cy="356616"/>
          </a:xfrm>
          <a:prstGeom prst="rect">
            <a:avLst/>
          </a:prstGeom>
          <a:noFill/>
          <a:ln/>
        </p:spPr>
        <p:txBody>
          <a:bodyPr wrap="square" lIns="0" tIns="0" rIns="0" bIns="0" rtlCol="0" anchor="ctr"/>
          <a:lstStyle/>
          <a:p>
            <a:pPr indent="0" marL="0">
              <a:buNone/>
            </a:pPr>
            <a:r>
              <a:rPr lang="en-US" sz="1200" dirty="0">
                <a:solidFill>
                  <a:schemeClr val="tx1"/>
                </a:solidFill>
              </a:rPr>
              <a:t>5. RQ3 arms A0–A7 × 3 seeds, online diagnostics</a:t>
            </a:r>
            <a:endParaRPr lang="en-US" sz="1200" dirty="0"/>
          </a:p>
        </p:txBody>
      </p:sp>
      <p:sp>
        <p:nvSpPr>
          <p:cNvPr id="39" name="text-312"/>
          <p:cNvSpPr txBox="1"/>
          <p:nvPr/>
        </p:nvSpPr>
        <p:spPr>
          <a:xfrm>
            <a:off x="4846320" y="3557016"/>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All</a:t>
            </a:r>
            <a:endParaRPr lang="en-US" sz="1200" dirty="0"/>
          </a:p>
        </p:txBody>
      </p:sp>
      <p:sp>
        <p:nvSpPr>
          <p:cNvPr id="40" name="gantt-bar-313"/>
          <p:cNvSpPr/>
          <p:nvPr/>
        </p:nvSpPr>
        <p:spPr>
          <a:xfrm>
            <a:off x="7917398" y="3593592"/>
            <a:ext cx="1611957" cy="246888"/>
          </a:xfrm>
          <a:prstGeom prst="roundRect">
            <a:avLst>
              <a:gd name="adj" fmla="val 22222"/>
            </a:avLst>
          </a:prstGeom>
          <a:solidFill>
            <a:schemeClr val="tx1"/>
          </a:solidFill>
          <a:ln w="12700">
            <a:solidFill>
              <a:schemeClr val="tx1"/>
            </a:solidFill>
            <a:prstDash val="solid"/>
          </a:ln>
        </p:spPr>
      </p:sp>
      <p:sp>
        <p:nvSpPr>
          <p:cNvPr id="41" name="text-314"/>
          <p:cNvSpPr txBox="1"/>
          <p:nvPr/>
        </p:nvSpPr>
        <p:spPr>
          <a:xfrm>
            <a:off x="548640" y="3986784"/>
            <a:ext cx="4206240" cy="356616"/>
          </a:xfrm>
          <a:prstGeom prst="rect">
            <a:avLst/>
          </a:prstGeom>
          <a:noFill/>
          <a:ln/>
        </p:spPr>
        <p:txBody>
          <a:bodyPr wrap="square" lIns="0" tIns="0" rIns="0" bIns="0" rtlCol="0" anchor="ctr"/>
          <a:lstStyle/>
          <a:p>
            <a:pPr indent="0" marL="0">
              <a:buNone/>
            </a:pPr>
            <a:r>
              <a:rPr lang="en-US" sz="1200" dirty="0">
                <a:solidFill>
                  <a:schemeClr val="tx1"/>
                </a:solidFill>
              </a:rPr>
              <a:t>6. RQ4 on the second dataset</a:t>
            </a:r>
            <a:endParaRPr lang="en-US" sz="1200" dirty="0"/>
          </a:p>
        </p:txBody>
      </p:sp>
      <p:sp>
        <p:nvSpPr>
          <p:cNvPr id="42" name="text-315"/>
          <p:cNvSpPr txBox="1"/>
          <p:nvPr/>
        </p:nvSpPr>
        <p:spPr>
          <a:xfrm>
            <a:off x="4846320" y="3986784"/>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M3, M4</a:t>
            </a:r>
            <a:endParaRPr lang="en-US" sz="1200" dirty="0"/>
          </a:p>
        </p:txBody>
      </p:sp>
      <p:sp>
        <p:nvSpPr>
          <p:cNvPr id="43" name="gantt-bar-316"/>
          <p:cNvSpPr/>
          <p:nvPr/>
        </p:nvSpPr>
        <p:spPr>
          <a:xfrm>
            <a:off x="9584218" y="4023360"/>
            <a:ext cx="778546" cy="246888"/>
          </a:xfrm>
          <a:prstGeom prst="roundRect">
            <a:avLst>
              <a:gd name="adj" fmla="val 22222"/>
            </a:avLst>
          </a:prstGeom>
          <a:solidFill>
            <a:schemeClr val="tx1"/>
          </a:solidFill>
          <a:ln w="12700">
            <a:solidFill>
              <a:schemeClr val="tx1"/>
            </a:solidFill>
            <a:prstDash val="solid"/>
          </a:ln>
        </p:spPr>
      </p:sp>
      <p:sp>
        <p:nvSpPr>
          <p:cNvPr id="44" name="text-317"/>
          <p:cNvSpPr txBox="1"/>
          <p:nvPr/>
        </p:nvSpPr>
        <p:spPr>
          <a:xfrm>
            <a:off x="548640" y="4416552"/>
            <a:ext cx="4206240" cy="356616"/>
          </a:xfrm>
          <a:prstGeom prst="rect">
            <a:avLst/>
          </a:prstGeom>
          <a:noFill/>
          <a:ln/>
        </p:spPr>
        <p:txBody>
          <a:bodyPr wrap="square" lIns="0" tIns="0" rIns="0" bIns="0" rtlCol="0" anchor="ctr"/>
          <a:lstStyle/>
          <a:p>
            <a:pPr indent="0" marL="0">
              <a:buNone/>
            </a:pPr>
            <a:r>
              <a:rPr lang="en-US" sz="1200" dirty="0">
                <a:solidFill>
                  <a:schemeClr val="tx1"/>
                </a:solidFill>
              </a:rPr>
              <a:t>7. Analysis: diagnosis vs accuracy, error analysis</a:t>
            </a:r>
            <a:endParaRPr lang="en-US" sz="1200" dirty="0"/>
          </a:p>
        </p:txBody>
      </p:sp>
      <p:sp>
        <p:nvSpPr>
          <p:cNvPr id="45" name="text-318"/>
          <p:cNvSpPr txBox="1"/>
          <p:nvPr/>
        </p:nvSpPr>
        <p:spPr>
          <a:xfrm>
            <a:off x="4846320" y="4416552"/>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M1, M4</a:t>
            </a:r>
            <a:endParaRPr lang="en-US" sz="1200" dirty="0"/>
          </a:p>
        </p:txBody>
      </p:sp>
      <p:sp>
        <p:nvSpPr>
          <p:cNvPr id="46" name="gantt-bar-319"/>
          <p:cNvSpPr/>
          <p:nvPr/>
        </p:nvSpPr>
        <p:spPr>
          <a:xfrm>
            <a:off x="10417629" y="4453128"/>
            <a:ext cx="361841" cy="246888"/>
          </a:xfrm>
          <a:prstGeom prst="roundRect">
            <a:avLst>
              <a:gd name="adj" fmla="val 22222"/>
            </a:avLst>
          </a:prstGeom>
          <a:solidFill>
            <a:schemeClr val="tx1"/>
          </a:solidFill>
          <a:ln w="12700">
            <a:solidFill>
              <a:schemeClr val="tx1"/>
            </a:solidFill>
            <a:prstDash val="solid"/>
          </a:ln>
        </p:spPr>
      </p:sp>
      <p:sp>
        <p:nvSpPr>
          <p:cNvPr id="47" name="text-320"/>
          <p:cNvSpPr txBox="1"/>
          <p:nvPr/>
        </p:nvSpPr>
        <p:spPr>
          <a:xfrm>
            <a:off x="548640" y="4846320"/>
            <a:ext cx="4206240" cy="356616"/>
          </a:xfrm>
          <a:prstGeom prst="rect">
            <a:avLst/>
          </a:prstGeom>
          <a:noFill/>
          <a:ln/>
        </p:spPr>
        <p:txBody>
          <a:bodyPr wrap="square" lIns="0" tIns="0" rIns="0" bIns="0" rtlCol="0" anchor="ctr"/>
          <a:lstStyle/>
          <a:p>
            <a:pPr indent="0" marL="0">
              <a:buNone/>
            </a:pPr>
            <a:r>
              <a:rPr lang="en-US" sz="1200" dirty="0">
                <a:solidFill>
                  <a:schemeClr val="tx1"/>
                </a:solidFill>
              </a:rPr>
              <a:t>8. Literature re-check; draft manuscript</a:t>
            </a:r>
            <a:endParaRPr lang="en-US" sz="1200" dirty="0"/>
          </a:p>
        </p:txBody>
      </p:sp>
      <p:sp>
        <p:nvSpPr>
          <p:cNvPr id="48" name="text-321"/>
          <p:cNvSpPr txBox="1"/>
          <p:nvPr/>
        </p:nvSpPr>
        <p:spPr>
          <a:xfrm>
            <a:off x="4846320" y="4846320"/>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All</a:t>
            </a:r>
            <a:endParaRPr lang="en-US" sz="1200" dirty="0"/>
          </a:p>
        </p:txBody>
      </p:sp>
      <p:sp>
        <p:nvSpPr>
          <p:cNvPr id="49" name="gantt-bar-322"/>
          <p:cNvSpPr/>
          <p:nvPr/>
        </p:nvSpPr>
        <p:spPr>
          <a:xfrm>
            <a:off x="10834334" y="4882896"/>
            <a:ext cx="361841" cy="246888"/>
          </a:xfrm>
          <a:prstGeom prst="roundRect">
            <a:avLst>
              <a:gd name="adj" fmla="val 22222"/>
            </a:avLst>
          </a:prstGeom>
          <a:solidFill>
            <a:schemeClr val="tx1"/>
          </a:solidFill>
          <a:ln w="12700">
            <a:solidFill>
              <a:schemeClr val="tx1"/>
            </a:solidFill>
            <a:prstDash val="solid"/>
          </a:ln>
        </p:spPr>
      </p:sp>
      <p:sp>
        <p:nvSpPr>
          <p:cNvPr id="50" name="text-323"/>
          <p:cNvSpPr txBox="1"/>
          <p:nvPr/>
        </p:nvSpPr>
        <p:spPr>
          <a:xfrm>
            <a:off x="548640" y="5276088"/>
            <a:ext cx="4206240" cy="356616"/>
          </a:xfrm>
          <a:prstGeom prst="rect">
            <a:avLst/>
          </a:prstGeom>
          <a:noFill/>
          <a:ln/>
        </p:spPr>
        <p:txBody>
          <a:bodyPr wrap="square" lIns="0" tIns="0" rIns="0" bIns="0" rtlCol="0" anchor="ctr"/>
          <a:lstStyle/>
          <a:p>
            <a:pPr indent="0" marL="0">
              <a:buNone/>
            </a:pPr>
            <a:r>
              <a:rPr lang="en-US" sz="1200" dirty="0">
                <a:solidFill>
                  <a:schemeClr val="tx1"/>
                </a:solidFill>
              </a:rPr>
              <a:t>9. Review with mentor; release code and predictions</a:t>
            </a:r>
            <a:endParaRPr lang="en-US" sz="1200" dirty="0"/>
          </a:p>
        </p:txBody>
      </p:sp>
      <p:sp>
        <p:nvSpPr>
          <p:cNvPr id="51" name="text-324"/>
          <p:cNvSpPr txBox="1"/>
          <p:nvPr/>
        </p:nvSpPr>
        <p:spPr>
          <a:xfrm>
            <a:off x="4846320" y="5276088"/>
            <a:ext cx="822960" cy="356616"/>
          </a:xfrm>
          <a:prstGeom prst="rect">
            <a:avLst/>
          </a:prstGeom>
          <a:noFill/>
          <a:ln/>
        </p:spPr>
        <p:txBody>
          <a:bodyPr wrap="square" lIns="0" tIns="0" rIns="0" bIns="0" rtlCol="0" anchor="ctr"/>
          <a:lstStyle/>
          <a:p>
            <a:pPr indent="0" marL="0">
              <a:buNone/>
            </a:pPr>
            <a:r>
              <a:rPr lang="en-US" sz="1200" dirty="0">
                <a:solidFill>
                  <a:schemeClr val="accent6"/>
                </a:solidFill>
              </a:rPr>
              <a:t>All</a:t>
            </a:r>
            <a:endParaRPr lang="en-US" sz="1200" dirty="0"/>
          </a:p>
        </p:txBody>
      </p:sp>
      <p:sp>
        <p:nvSpPr>
          <p:cNvPr id="52" name="gantt-bar-325"/>
          <p:cNvSpPr/>
          <p:nvPr/>
        </p:nvSpPr>
        <p:spPr>
          <a:xfrm>
            <a:off x="11251039" y="5312664"/>
            <a:ext cx="361841" cy="246888"/>
          </a:xfrm>
          <a:prstGeom prst="roundRect">
            <a:avLst>
              <a:gd name="adj" fmla="val 22222"/>
            </a:avLst>
          </a:prstGeom>
          <a:solidFill>
            <a:schemeClr val="tx1"/>
          </a:solidFill>
          <a:ln w="12700">
            <a:solidFill>
              <a:schemeClr val="tx1"/>
            </a:solidFill>
            <a:prstDash val="solid"/>
          </a:ln>
        </p:spPr>
      </p:sp>
      <p:sp>
        <p:nvSpPr>
          <p:cNvPr id="53" name="text-326"/>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300" b="1" dirty="0">
                <a:solidFill>
                  <a:schemeClr val="accent2"/>
                </a:solidFill>
              </a:rPr>
              <a:t>Go/no-go after week 2: </a:t>
            </a:r>
            <a:pPr indent="0" marL="0">
              <a:buNone/>
            </a:pPr>
            <a:r>
              <a:rPr lang="en-US" sz="1300" dirty="0">
                <a:solidFill>
                  <a:schemeClr val="tx1"/>
                </a:solidFill>
              </a:rPr>
              <a:t>if measured speed implies more than 10 weeks of quota, cut RQ4 to two arms, then A5, then A6/A7.</a:t>
            </a:r>
            <a:endParaRPr lang="en-US" sz="1300" dirty="0"/>
          </a:p>
        </p:txBody>
      </p:sp>
      <p:sp>
        <p:nvSpPr>
          <p:cNvPr id="54" name="text-327"/>
          <p:cNvSpPr txBox="1"/>
          <p:nvPr/>
        </p:nvSpPr>
        <p:spPr>
          <a:xfrm>
            <a:off x="5806440" y="5705856"/>
            <a:ext cx="5833872" cy="274320"/>
          </a:xfrm>
          <a:prstGeom prst="rect">
            <a:avLst/>
          </a:prstGeom>
          <a:noFill/>
          <a:ln/>
        </p:spPr>
        <p:txBody>
          <a:bodyPr wrap="square" lIns="0" tIns="0" rIns="0" bIns="0" rtlCol="0" anchor="t"/>
          <a:lstStyle/>
          <a:p>
            <a:pPr algn="r" indent="0" marL="0">
              <a:buNone/>
            </a:pPr>
            <a:r>
              <a:rPr lang="en-US" sz="1100" dirty="0">
                <a:solidFill>
                  <a:schemeClr val="accent6"/>
                </a:solidFill>
              </a:rPr>
              <a:t>12/10/2026 → 17/01/2027 · M1–M4 = team members, to be assigned</a:t>
            </a:r>
            <a:endParaRPr lang="en-US" sz="11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Expected results and deliverables</a:t>
            </a:r>
            <a:endParaRPr lang="en-US" sz="3000" dirty="0"/>
          </a:p>
        </p:txBody>
      </p:sp>
      <p:sp>
        <p:nvSpPr>
          <p:cNvPr id="3" name="card-328"/>
          <p:cNvSpPr/>
          <p:nvPr/>
        </p:nvSpPr>
        <p:spPr>
          <a:xfrm>
            <a:off x="548640" y="1371600"/>
            <a:ext cx="3538728" cy="2606040"/>
          </a:xfrm>
          <a:prstGeom prst="roundRect">
            <a:avLst>
              <a:gd name="adj" fmla="val 2807"/>
            </a:avLst>
          </a:prstGeom>
          <a:solidFill>
            <a:schemeClr val="bg2"/>
          </a:solidFill>
          <a:ln w="12700">
            <a:solidFill>
              <a:schemeClr val="bg2"/>
            </a:solidFill>
            <a:prstDash val="solid"/>
          </a:ln>
        </p:spPr>
      </p:sp>
      <p:sp>
        <p:nvSpPr>
          <p:cNvPr id="4" name="icon-disc-329"/>
          <p:cNvSpPr/>
          <p:nvPr/>
        </p:nvSpPr>
        <p:spPr>
          <a:xfrm>
            <a:off x="822960" y="1572768"/>
            <a:ext cx="530352" cy="530352"/>
          </a:xfrm>
          <a:prstGeom prst="ellipse">
            <a:avLst/>
          </a:prstGeom>
          <a:solidFill>
            <a:schemeClr val="tx1"/>
          </a:solidFill>
          <a:ln w="12700">
            <a:solidFill>
              <a:schemeClr val="tx1"/>
            </a:solidFill>
            <a:prstDash val="solid"/>
          </a:ln>
        </p:spPr>
      </p:sp>
      <p:pic>
        <p:nvPicPr>
          <p:cNvPr id="5" name="icon-330" descr="icon">    </p:cNvPr>
          <p:cNvPicPr>
            <a:picLocks noChangeAspect="1"/>
          </p:cNvPicPr>
          <p:nvPr/>
        </p:nvPicPr>
        <p:blipFill>
          <a:blip r:embed="rId1"/>
          <a:stretch>
            <a:fillRect/>
          </a:stretch>
        </p:blipFill>
        <p:spPr>
          <a:xfrm>
            <a:off x="950244" y="1700052"/>
            <a:ext cx="275783" cy="275783"/>
          </a:xfrm>
          <a:prstGeom prst="rect">
            <a:avLst/>
          </a:prstGeom>
        </p:spPr>
      </p:pic>
      <p:sp>
        <p:nvSpPr>
          <p:cNvPr id="6" name="text-331"/>
          <p:cNvSpPr txBox="1"/>
          <p:nvPr/>
        </p:nvSpPr>
        <p:spPr>
          <a:xfrm>
            <a:off x="1508760" y="1645920"/>
            <a:ext cx="2377440" cy="384048"/>
          </a:xfrm>
          <a:prstGeom prst="rect">
            <a:avLst/>
          </a:prstGeom>
          <a:noFill/>
          <a:ln/>
        </p:spPr>
        <p:txBody>
          <a:bodyPr wrap="square" lIns="0" tIns="0" rIns="0" bIns="0" rtlCol="0" anchor="t"/>
          <a:lstStyle/>
          <a:p>
            <a:pPr indent="0" marL="0">
              <a:buNone/>
            </a:pPr>
            <a:r>
              <a:rPr lang="en-US" sz="1700" b="1" dirty="0">
                <a:solidFill>
                  <a:schemeClr val="tx1"/>
                </a:solidFill>
              </a:rPr>
              <a:t>Theoretical</a:t>
            </a:r>
            <a:endParaRPr lang="en-US" sz="1700" dirty="0"/>
          </a:p>
        </p:txBody>
      </p:sp>
      <p:sp>
        <p:nvSpPr>
          <p:cNvPr id="7" name="text-332"/>
          <p:cNvSpPr txBox="1"/>
          <p:nvPr/>
        </p:nvSpPr>
        <p:spPr>
          <a:xfrm>
            <a:off x="822960" y="2286000"/>
            <a:ext cx="3017520" cy="1600200"/>
          </a:xfrm>
          <a:prstGeom prst="rect">
            <a:avLst/>
          </a:prstGeom>
          <a:noFill/>
          <a:ln/>
        </p:spPr>
        <p:txBody>
          <a:bodyPr wrap="square" lIns="0" tIns="0" rIns="0" bIns="0" rtlCol="0" anchor="t"/>
          <a:lstStyle/>
          <a:p>
            <a:pPr indent="0" marL="0">
              <a:buNone/>
            </a:pPr>
            <a:r>
              <a:rPr lang="en-US" sz="1500" dirty="0">
                <a:solidFill>
                  <a:schemeClr val="tx1"/>
                </a:solidFill>
              </a:rPr>
              <a:t>A simple geometric account (Proposition 1) of what candidate-region rules can and cannot change for tiny objects, tested against real label statistics.</a:t>
            </a:r>
            <a:endParaRPr lang="en-US" sz="1500" dirty="0"/>
          </a:p>
        </p:txBody>
      </p:sp>
      <p:sp>
        <p:nvSpPr>
          <p:cNvPr id="8" name="card-333"/>
          <p:cNvSpPr/>
          <p:nvPr/>
        </p:nvSpPr>
        <p:spPr>
          <a:xfrm>
            <a:off x="4325112" y="1371600"/>
            <a:ext cx="3538728" cy="2606040"/>
          </a:xfrm>
          <a:prstGeom prst="roundRect">
            <a:avLst>
              <a:gd name="adj" fmla="val 2807"/>
            </a:avLst>
          </a:prstGeom>
          <a:solidFill>
            <a:schemeClr val="bg2"/>
          </a:solidFill>
          <a:ln w="12700">
            <a:solidFill>
              <a:schemeClr val="bg2"/>
            </a:solidFill>
            <a:prstDash val="solid"/>
          </a:ln>
        </p:spPr>
      </p:sp>
      <p:sp>
        <p:nvSpPr>
          <p:cNvPr id="9" name="icon-disc-334"/>
          <p:cNvSpPr/>
          <p:nvPr/>
        </p:nvSpPr>
        <p:spPr>
          <a:xfrm>
            <a:off x="4599432" y="1572768"/>
            <a:ext cx="530352" cy="530352"/>
          </a:xfrm>
          <a:prstGeom prst="ellipse">
            <a:avLst/>
          </a:prstGeom>
          <a:solidFill>
            <a:schemeClr val="tx1"/>
          </a:solidFill>
          <a:ln w="12700">
            <a:solidFill>
              <a:schemeClr val="tx1"/>
            </a:solidFill>
            <a:prstDash val="solid"/>
          </a:ln>
        </p:spPr>
      </p:sp>
      <p:pic>
        <p:nvPicPr>
          <p:cNvPr id="10" name="icon-335" descr="icon">    </p:cNvPr>
          <p:cNvPicPr>
            <a:picLocks noChangeAspect="1"/>
          </p:cNvPicPr>
          <p:nvPr/>
        </p:nvPicPr>
        <p:blipFill>
          <a:blip r:embed="rId2"/>
          <a:stretch>
            <a:fillRect/>
          </a:stretch>
        </p:blipFill>
        <p:spPr>
          <a:xfrm>
            <a:off x="4726716" y="1700052"/>
            <a:ext cx="275783" cy="275783"/>
          </a:xfrm>
          <a:prstGeom prst="rect">
            <a:avLst/>
          </a:prstGeom>
        </p:spPr>
      </p:pic>
      <p:sp>
        <p:nvSpPr>
          <p:cNvPr id="11" name="text-336"/>
          <p:cNvSpPr txBox="1"/>
          <p:nvPr/>
        </p:nvSpPr>
        <p:spPr>
          <a:xfrm>
            <a:off x="5285232" y="1645920"/>
            <a:ext cx="2377440" cy="384048"/>
          </a:xfrm>
          <a:prstGeom prst="rect">
            <a:avLst/>
          </a:prstGeom>
          <a:noFill/>
          <a:ln/>
        </p:spPr>
        <p:txBody>
          <a:bodyPr wrap="square" lIns="0" tIns="0" rIns="0" bIns="0" rtlCol="0" anchor="t"/>
          <a:lstStyle/>
          <a:p>
            <a:pPr indent="0" marL="0">
              <a:buNone/>
            </a:pPr>
            <a:r>
              <a:rPr lang="en-US" sz="1700" b="1" dirty="0">
                <a:solidFill>
                  <a:schemeClr val="tx1"/>
                </a:solidFill>
              </a:rPr>
              <a:t>Methodological</a:t>
            </a:r>
            <a:endParaRPr lang="en-US" sz="1700" dirty="0"/>
          </a:p>
        </p:txBody>
      </p:sp>
      <p:sp>
        <p:nvSpPr>
          <p:cNvPr id="12" name="text-337"/>
          <p:cNvSpPr txBox="1"/>
          <p:nvPr/>
        </p:nvSpPr>
        <p:spPr>
          <a:xfrm>
            <a:off x="4599432" y="2286000"/>
            <a:ext cx="3017520" cy="1600200"/>
          </a:xfrm>
          <a:prstGeom prst="rect">
            <a:avLst/>
          </a:prstGeom>
          <a:noFill/>
          <a:ln/>
        </p:spPr>
        <p:txBody>
          <a:bodyPr wrap="square" lIns="0" tIns="0" rIns="0" bIns="0" rtlCol="0" anchor="t"/>
          <a:lstStyle/>
          <a:p>
            <a:pPr indent="0" marL="0">
              <a:buNone/>
            </a:pPr>
            <a:r>
              <a:rPr lang="en-US" sz="1500" dirty="0">
                <a:solidFill>
                  <a:schemeClr val="tx1"/>
                </a:solidFill>
              </a:rPr>
              <a:t>An evaluation of all STAL versions on oriented tiny objects; a fair, size-binned YOLO-OBB benchmark on AI-TOD-R with released predictions; null results reported as results.</a:t>
            </a:r>
            <a:endParaRPr lang="en-US" sz="1500" dirty="0"/>
          </a:p>
        </p:txBody>
      </p:sp>
      <p:sp>
        <p:nvSpPr>
          <p:cNvPr id="13" name="card-338"/>
          <p:cNvSpPr/>
          <p:nvPr/>
        </p:nvSpPr>
        <p:spPr>
          <a:xfrm>
            <a:off x="8101584" y="1371600"/>
            <a:ext cx="3538728" cy="2606040"/>
          </a:xfrm>
          <a:prstGeom prst="roundRect">
            <a:avLst>
              <a:gd name="adj" fmla="val 2807"/>
            </a:avLst>
          </a:prstGeom>
          <a:solidFill>
            <a:schemeClr val="bg2"/>
          </a:solidFill>
          <a:ln w="12700">
            <a:solidFill>
              <a:schemeClr val="bg2"/>
            </a:solidFill>
            <a:prstDash val="solid"/>
          </a:ln>
        </p:spPr>
      </p:sp>
      <p:sp>
        <p:nvSpPr>
          <p:cNvPr id="14" name="icon-disc-339"/>
          <p:cNvSpPr/>
          <p:nvPr/>
        </p:nvSpPr>
        <p:spPr>
          <a:xfrm>
            <a:off x="8375904" y="1572768"/>
            <a:ext cx="530352" cy="530352"/>
          </a:xfrm>
          <a:prstGeom prst="ellipse">
            <a:avLst/>
          </a:prstGeom>
          <a:solidFill>
            <a:schemeClr val="tx1"/>
          </a:solidFill>
          <a:ln w="12700">
            <a:solidFill>
              <a:schemeClr val="tx1"/>
            </a:solidFill>
            <a:prstDash val="solid"/>
          </a:ln>
        </p:spPr>
      </p:sp>
      <p:pic>
        <p:nvPicPr>
          <p:cNvPr id="15" name="icon-340" descr="icon">    </p:cNvPr>
          <p:cNvPicPr>
            <a:picLocks noChangeAspect="1"/>
          </p:cNvPicPr>
          <p:nvPr/>
        </p:nvPicPr>
        <p:blipFill>
          <a:blip r:embed="rId3"/>
          <a:stretch>
            <a:fillRect/>
          </a:stretch>
        </p:blipFill>
        <p:spPr>
          <a:xfrm>
            <a:off x="8503188" y="1700052"/>
            <a:ext cx="275783" cy="275783"/>
          </a:xfrm>
          <a:prstGeom prst="rect">
            <a:avLst/>
          </a:prstGeom>
        </p:spPr>
      </p:pic>
      <p:sp>
        <p:nvSpPr>
          <p:cNvPr id="16" name="text-341"/>
          <p:cNvSpPr txBox="1"/>
          <p:nvPr/>
        </p:nvSpPr>
        <p:spPr>
          <a:xfrm>
            <a:off x="9061704" y="1645920"/>
            <a:ext cx="2377440" cy="384048"/>
          </a:xfrm>
          <a:prstGeom prst="rect">
            <a:avLst/>
          </a:prstGeom>
          <a:noFill/>
          <a:ln/>
        </p:spPr>
        <p:txBody>
          <a:bodyPr wrap="square" lIns="0" tIns="0" rIns="0" bIns="0" rtlCol="0" anchor="t"/>
          <a:lstStyle/>
          <a:p>
            <a:pPr indent="0" marL="0">
              <a:buNone/>
            </a:pPr>
            <a:r>
              <a:rPr lang="en-US" sz="1700" b="1" dirty="0">
                <a:solidFill>
                  <a:schemeClr val="tx1"/>
                </a:solidFill>
              </a:rPr>
              <a:t>Practical</a:t>
            </a:r>
            <a:endParaRPr lang="en-US" sz="1700" dirty="0"/>
          </a:p>
        </p:txBody>
      </p:sp>
      <p:sp>
        <p:nvSpPr>
          <p:cNvPr id="17" name="text-342"/>
          <p:cNvSpPr txBox="1"/>
          <p:nvPr/>
        </p:nvSpPr>
        <p:spPr>
          <a:xfrm>
            <a:off x="8375904" y="2286000"/>
            <a:ext cx="3017520" cy="1600200"/>
          </a:xfrm>
          <a:prstGeom prst="rect">
            <a:avLst/>
          </a:prstGeom>
          <a:noFill/>
          <a:ln/>
        </p:spPr>
        <p:txBody>
          <a:bodyPr wrap="square" lIns="0" tIns="0" rIns="0" bIns="0" rtlCol="0" anchor="t"/>
          <a:lstStyle/>
          <a:p>
            <a:pPr indent="0" marL="0">
              <a:buNone/>
            </a:pPr>
            <a:r>
              <a:rPr lang="en-US" sz="1500" dirty="0">
                <a:solidFill>
                  <a:schemeClr val="tx1"/>
                </a:solidFill>
              </a:rPr>
              <a:t>Training-only change, so any gain carries over to existing YOLO deployment (TensorRT/ONNX on edge devices) at no extra cost [1].</a:t>
            </a:r>
            <a:endParaRPr lang="en-US" sz="1500" dirty="0"/>
          </a:p>
        </p:txBody>
      </p:sp>
      <p:sp>
        <p:nvSpPr>
          <p:cNvPr id="18" name="badge-343"/>
          <p:cNvSpPr/>
          <p:nvPr/>
        </p:nvSpPr>
        <p:spPr>
          <a:xfrm>
            <a:off x="548640" y="4251960"/>
            <a:ext cx="438912" cy="438912"/>
          </a:xfrm>
          <a:prstGeom prst="ellipse">
            <a:avLst/>
          </a:prstGeom>
          <a:solidFill>
            <a:schemeClr val="accent2"/>
          </a:solidFill>
          <a:ln w="12700">
            <a:solidFill>
              <a:schemeClr val="accent2"/>
            </a:solidFill>
            <a:prstDash val="solid"/>
          </a:ln>
        </p:spPr>
      </p:sp>
      <p:sp>
        <p:nvSpPr>
          <p:cNvPr id="19" name="text-344"/>
          <p:cNvSpPr txBox="1"/>
          <p:nvPr/>
        </p:nvSpPr>
        <p:spPr>
          <a:xfrm>
            <a:off x="548640" y="4251960"/>
            <a:ext cx="438912" cy="438912"/>
          </a:xfrm>
          <a:prstGeom prst="rect">
            <a:avLst/>
          </a:prstGeom>
          <a:noFill/>
          <a:ln/>
        </p:spPr>
        <p:txBody>
          <a:bodyPr wrap="square" lIns="0" tIns="0" rIns="0" bIns="0" rtlCol="0" anchor="ctr"/>
          <a:lstStyle/>
          <a:p>
            <a:pPr algn="ctr" indent="0" marL="0">
              <a:buNone/>
            </a:pPr>
            <a:r>
              <a:rPr lang="en-US" sz="1200" b="1" dirty="0">
                <a:solidFill>
                  <a:schemeClr val="bg1"/>
                </a:solidFill>
              </a:rPr>
              <a:t>O1</a:t>
            </a:r>
            <a:endParaRPr lang="en-US" sz="1200" dirty="0"/>
          </a:p>
        </p:txBody>
      </p:sp>
      <p:sp>
        <p:nvSpPr>
          <p:cNvPr id="20" name="text-345"/>
          <p:cNvSpPr txBox="1"/>
          <p:nvPr/>
        </p:nvSpPr>
        <p:spPr>
          <a:xfrm>
            <a:off x="1078992" y="4224528"/>
            <a:ext cx="1600200" cy="548640"/>
          </a:xfrm>
          <a:prstGeom prst="rect">
            <a:avLst/>
          </a:prstGeom>
          <a:noFill/>
          <a:ln/>
        </p:spPr>
        <p:txBody>
          <a:bodyPr wrap="square" lIns="0" tIns="0" rIns="0" bIns="0" rtlCol="0" anchor="ctr"/>
          <a:lstStyle/>
          <a:p>
            <a:pPr indent="0" marL="0">
              <a:buNone/>
            </a:pPr>
            <a:r>
              <a:rPr lang="en-US" sz="1200" dirty="0">
                <a:solidFill>
                  <a:schemeClr val="tx1"/>
                </a:solidFill>
              </a:rPr>
              <a:t>Benchmark table + predictions</a:t>
            </a:r>
            <a:endParaRPr lang="en-US" sz="1200" dirty="0"/>
          </a:p>
        </p:txBody>
      </p:sp>
      <p:sp>
        <p:nvSpPr>
          <p:cNvPr id="21" name="badge-346"/>
          <p:cNvSpPr/>
          <p:nvPr/>
        </p:nvSpPr>
        <p:spPr>
          <a:xfrm>
            <a:off x="2788920" y="4251960"/>
            <a:ext cx="438912" cy="438912"/>
          </a:xfrm>
          <a:prstGeom prst="ellipse">
            <a:avLst/>
          </a:prstGeom>
          <a:solidFill>
            <a:schemeClr val="accent2"/>
          </a:solidFill>
          <a:ln w="12700">
            <a:solidFill>
              <a:schemeClr val="accent2"/>
            </a:solidFill>
            <a:prstDash val="solid"/>
          </a:ln>
        </p:spPr>
      </p:sp>
      <p:sp>
        <p:nvSpPr>
          <p:cNvPr id="22" name="text-347"/>
          <p:cNvSpPr txBox="1"/>
          <p:nvPr/>
        </p:nvSpPr>
        <p:spPr>
          <a:xfrm>
            <a:off x="2788920" y="4251960"/>
            <a:ext cx="438912" cy="438912"/>
          </a:xfrm>
          <a:prstGeom prst="rect">
            <a:avLst/>
          </a:prstGeom>
          <a:noFill/>
          <a:ln/>
        </p:spPr>
        <p:txBody>
          <a:bodyPr wrap="square" lIns="0" tIns="0" rIns="0" bIns="0" rtlCol="0" anchor="ctr"/>
          <a:lstStyle/>
          <a:p>
            <a:pPr algn="ctr" indent="0" marL="0">
              <a:buNone/>
            </a:pPr>
            <a:r>
              <a:rPr lang="en-US" sz="1200" b="1" dirty="0">
                <a:solidFill>
                  <a:schemeClr val="bg1"/>
                </a:solidFill>
              </a:rPr>
              <a:t>O2</a:t>
            </a:r>
            <a:endParaRPr lang="en-US" sz="1200" dirty="0"/>
          </a:p>
        </p:txBody>
      </p:sp>
      <p:sp>
        <p:nvSpPr>
          <p:cNvPr id="23" name="text-348"/>
          <p:cNvSpPr txBox="1"/>
          <p:nvPr/>
        </p:nvSpPr>
        <p:spPr>
          <a:xfrm>
            <a:off x="3319272" y="4224528"/>
            <a:ext cx="1600200" cy="548640"/>
          </a:xfrm>
          <a:prstGeom prst="rect">
            <a:avLst/>
          </a:prstGeom>
          <a:noFill/>
          <a:ln/>
        </p:spPr>
        <p:txBody>
          <a:bodyPr wrap="square" lIns="0" tIns="0" rIns="0" bIns="0" rtlCol="0" anchor="ctr"/>
          <a:lstStyle/>
          <a:p>
            <a:pPr indent="0" marL="0">
              <a:buNone/>
            </a:pPr>
            <a:r>
              <a:rPr lang="en-US" sz="1200" dirty="0">
                <a:solidFill>
                  <a:schemeClr val="tx1"/>
                </a:solidFill>
              </a:rPr>
              <a:t>Label-geometry report, recall analysis</a:t>
            </a:r>
            <a:endParaRPr lang="en-US" sz="1200" dirty="0"/>
          </a:p>
        </p:txBody>
      </p:sp>
      <p:sp>
        <p:nvSpPr>
          <p:cNvPr id="24" name="badge-349"/>
          <p:cNvSpPr/>
          <p:nvPr/>
        </p:nvSpPr>
        <p:spPr>
          <a:xfrm>
            <a:off x="5029200" y="4251960"/>
            <a:ext cx="438912" cy="438912"/>
          </a:xfrm>
          <a:prstGeom prst="ellipse">
            <a:avLst/>
          </a:prstGeom>
          <a:solidFill>
            <a:schemeClr val="accent2"/>
          </a:solidFill>
          <a:ln w="12700">
            <a:solidFill>
              <a:schemeClr val="accent2"/>
            </a:solidFill>
            <a:prstDash val="solid"/>
          </a:ln>
        </p:spPr>
      </p:sp>
      <p:sp>
        <p:nvSpPr>
          <p:cNvPr id="25" name="text-350"/>
          <p:cNvSpPr txBox="1"/>
          <p:nvPr/>
        </p:nvSpPr>
        <p:spPr>
          <a:xfrm>
            <a:off x="5029200" y="4251960"/>
            <a:ext cx="438912" cy="438912"/>
          </a:xfrm>
          <a:prstGeom prst="rect">
            <a:avLst/>
          </a:prstGeom>
          <a:noFill/>
          <a:ln/>
        </p:spPr>
        <p:txBody>
          <a:bodyPr wrap="square" lIns="0" tIns="0" rIns="0" bIns="0" rtlCol="0" anchor="ctr"/>
          <a:lstStyle/>
          <a:p>
            <a:pPr algn="ctr" indent="0" marL="0">
              <a:buNone/>
            </a:pPr>
            <a:r>
              <a:rPr lang="en-US" sz="1200" b="1" dirty="0">
                <a:solidFill>
                  <a:schemeClr val="bg1"/>
                </a:solidFill>
              </a:rPr>
              <a:t>O3</a:t>
            </a:r>
            <a:endParaRPr lang="en-US" sz="1200" dirty="0"/>
          </a:p>
        </p:txBody>
      </p:sp>
      <p:sp>
        <p:nvSpPr>
          <p:cNvPr id="26" name="text-351"/>
          <p:cNvSpPr txBox="1"/>
          <p:nvPr/>
        </p:nvSpPr>
        <p:spPr>
          <a:xfrm>
            <a:off x="5559552" y="4224528"/>
            <a:ext cx="1600200" cy="548640"/>
          </a:xfrm>
          <a:prstGeom prst="rect">
            <a:avLst/>
          </a:prstGeom>
          <a:noFill/>
          <a:ln/>
        </p:spPr>
        <p:txBody>
          <a:bodyPr wrap="square" lIns="0" tIns="0" rIns="0" bIns="0" rtlCol="0" anchor="ctr"/>
          <a:lstStyle/>
          <a:p>
            <a:pPr indent="0" marL="0">
              <a:buNone/>
            </a:pPr>
            <a:r>
              <a:rPr lang="en-US" sz="1200" dirty="0">
                <a:solidFill>
                  <a:schemeClr val="tx1"/>
                </a:solidFill>
              </a:rPr>
              <a:t>Ablation A0–A7 with 95% CIs</a:t>
            </a:r>
            <a:endParaRPr lang="en-US" sz="1200" dirty="0"/>
          </a:p>
        </p:txBody>
      </p:sp>
      <p:sp>
        <p:nvSpPr>
          <p:cNvPr id="27" name="badge-352"/>
          <p:cNvSpPr/>
          <p:nvPr/>
        </p:nvSpPr>
        <p:spPr>
          <a:xfrm>
            <a:off x="7269480" y="4251960"/>
            <a:ext cx="438912" cy="438912"/>
          </a:xfrm>
          <a:prstGeom prst="ellipse">
            <a:avLst/>
          </a:prstGeom>
          <a:solidFill>
            <a:schemeClr val="accent2"/>
          </a:solidFill>
          <a:ln w="12700">
            <a:solidFill>
              <a:schemeClr val="accent2"/>
            </a:solidFill>
            <a:prstDash val="solid"/>
          </a:ln>
        </p:spPr>
      </p:sp>
      <p:sp>
        <p:nvSpPr>
          <p:cNvPr id="28" name="text-353"/>
          <p:cNvSpPr txBox="1"/>
          <p:nvPr/>
        </p:nvSpPr>
        <p:spPr>
          <a:xfrm>
            <a:off x="7269480" y="4251960"/>
            <a:ext cx="438912" cy="438912"/>
          </a:xfrm>
          <a:prstGeom prst="rect">
            <a:avLst/>
          </a:prstGeom>
          <a:noFill/>
          <a:ln/>
        </p:spPr>
        <p:txBody>
          <a:bodyPr wrap="square" lIns="0" tIns="0" rIns="0" bIns="0" rtlCol="0" anchor="ctr"/>
          <a:lstStyle/>
          <a:p>
            <a:pPr algn="ctr" indent="0" marL="0">
              <a:buNone/>
            </a:pPr>
            <a:r>
              <a:rPr lang="en-US" sz="1200" b="1" dirty="0">
                <a:solidFill>
                  <a:schemeClr val="bg1"/>
                </a:solidFill>
              </a:rPr>
              <a:t>O4</a:t>
            </a:r>
            <a:endParaRPr lang="en-US" sz="1200" dirty="0"/>
          </a:p>
        </p:txBody>
      </p:sp>
      <p:sp>
        <p:nvSpPr>
          <p:cNvPr id="29" name="text-354"/>
          <p:cNvSpPr txBox="1"/>
          <p:nvPr/>
        </p:nvSpPr>
        <p:spPr>
          <a:xfrm>
            <a:off x="7799832" y="4224528"/>
            <a:ext cx="1600200" cy="548640"/>
          </a:xfrm>
          <a:prstGeom prst="rect">
            <a:avLst/>
          </a:prstGeom>
          <a:noFill/>
          <a:ln/>
        </p:spPr>
        <p:txBody>
          <a:bodyPr wrap="square" lIns="0" tIns="0" rIns="0" bIns="0" rtlCol="0" anchor="ctr"/>
          <a:lstStyle/>
          <a:p>
            <a:pPr indent="0" marL="0">
              <a:buNone/>
            </a:pPr>
            <a:r>
              <a:rPr lang="en-US" sz="1200" dirty="0">
                <a:solidFill>
                  <a:schemeClr val="tx1"/>
                </a:solidFill>
              </a:rPr>
              <a:t>Transfer table</a:t>
            </a:r>
            <a:endParaRPr lang="en-US" sz="1200" dirty="0"/>
          </a:p>
        </p:txBody>
      </p:sp>
      <p:sp>
        <p:nvSpPr>
          <p:cNvPr id="30" name="badge-355"/>
          <p:cNvSpPr/>
          <p:nvPr/>
        </p:nvSpPr>
        <p:spPr>
          <a:xfrm>
            <a:off x="9509760" y="4251960"/>
            <a:ext cx="438912" cy="438912"/>
          </a:xfrm>
          <a:prstGeom prst="ellipse">
            <a:avLst/>
          </a:prstGeom>
          <a:solidFill>
            <a:schemeClr val="accent2"/>
          </a:solidFill>
          <a:ln w="12700">
            <a:solidFill>
              <a:schemeClr val="accent2"/>
            </a:solidFill>
            <a:prstDash val="solid"/>
          </a:ln>
        </p:spPr>
      </p:sp>
      <p:sp>
        <p:nvSpPr>
          <p:cNvPr id="31" name="text-356"/>
          <p:cNvSpPr txBox="1"/>
          <p:nvPr/>
        </p:nvSpPr>
        <p:spPr>
          <a:xfrm>
            <a:off x="9509760" y="4251960"/>
            <a:ext cx="438912" cy="438912"/>
          </a:xfrm>
          <a:prstGeom prst="rect">
            <a:avLst/>
          </a:prstGeom>
          <a:noFill/>
          <a:ln/>
        </p:spPr>
        <p:txBody>
          <a:bodyPr wrap="square" lIns="0" tIns="0" rIns="0" bIns="0" rtlCol="0" anchor="ctr"/>
          <a:lstStyle/>
          <a:p>
            <a:pPr algn="ctr" indent="0" marL="0">
              <a:buNone/>
            </a:pPr>
            <a:r>
              <a:rPr lang="en-US" sz="1200" b="1" dirty="0">
                <a:solidFill>
                  <a:schemeClr val="bg1"/>
                </a:solidFill>
              </a:rPr>
              <a:t>O5</a:t>
            </a:r>
            <a:endParaRPr lang="en-US" sz="1200" dirty="0"/>
          </a:p>
        </p:txBody>
      </p:sp>
      <p:sp>
        <p:nvSpPr>
          <p:cNvPr id="32" name="text-357"/>
          <p:cNvSpPr txBox="1"/>
          <p:nvPr/>
        </p:nvSpPr>
        <p:spPr>
          <a:xfrm>
            <a:off x="10040112" y="4224528"/>
            <a:ext cx="1600200" cy="548640"/>
          </a:xfrm>
          <a:prstGeom prst="rect">
            <a:avLst/>
          </a:prstGeom>
          <a:noFill/>
          <a:ln/>
        </p:spPr>
        <p:txBody>
          <a:bodyPr wrap="square" lIns="0" tIns="0" rIns="0" bIns="0" rtlCol="0" anchor="ctr"/>
          <a:lstStyle/>
          <a:p>
            <a:pPr indent="0" marL="0">
              <a:buNone/>
            </a:pPr>
            <a:r>
              <a:rPr lang="en-US" sz="1200" dirty="0">
                <a:solidFill>
                  <a:schemeClr val="tx1"/>
                </a:solidFill>
              </a:rPr>
              <a:t>Public repository</a:t>
            </a:r>
            <a:endParaRPr lang="en-US" sz="1200" dirty="0"/>
          </a:p>
        </p:txBody>
      </p:sp>
      <p:sp>
        <p:nvSpPr>
          <p:cNvPr id="33" name="card-358"/>
          <p:cNvSpPr/>
          <p:nvPr/>
        </p:nvSpPr>
        <p:spPr>
          <a:xfrm>
            <a:off x="548640" y="5212080"/>
            <a:ext cx="11091672" cy="960120"/>
          </a:xfrm>
          <a:prstGeom prst="roundRect">
            <a:avLst>
              <a:gd name="adj" fmla="val 7619"/>
            </a:avLst>
          </a:prstGeom>
          <a:solidFill>
            <a:srgbClr val="FDEBDD"/>
          </a:solidFill>
          <a:ln w="12700">
            <a:solidFill>
              <a:srgbClr val="FDEBDD"/>
            </a:solidFill>
            <a:prstDash val="solid"/>
          </a:ln>
        </p:spPr>
      </p:sp>
      <p:sp>
        <p:nvSpPr>
          <p:cNvPr id="34" name="text-359"/>
          <p:cNvSpPr txBox="1"/>
          <p:nvPr/>
        </p:nvSpPr>
        <p:spPr>
          <a:xfrm>
            <a:off x="777240" y="5303520"/>
            <a:ext cx="10698480" cy="804672"/>
          </a:xfrm>
          <a:prstGeom prst="rect">
            <a:avLst/>
          </a:prstGeom>
          <a:noFill/>
          <a:ln/>
        </p:spPr>
        <p:txBody>
          <a:bodyPr wrap="square" lIns="0" tIns="0" rIns="0" bIns="0" rtlCol="0" anchor="ctr"/>
          <a:lstStyle/>
          <a:p>
            <a:pPr indent="0" marL="0">
              <a:buNone/>
            </a:pPr>
            <a:r>
              <a:rPr lang="en-US" sz="1400" b="1" dirty="0">
                <a:solidFill>
                  <a:schemeClr val="tx1"/>
                </a:solidFill>
              </a:rPr>
              <a:t>Publication target: </a:t>
            </a:r>
            <a:pPr indent="0" marL="0">
              <a:buNone/>
            </a:pPr>
            <a:r>
              <a:rPr lang="en-US" sz="1400" dirty="0">
                <a:solidFill>
                  <a:schemeClr val="tx1"/>
                </a:solidFill>
              </a:rPr>
              <a:t>a Scopus-indexed conference or Q4 journal, conditional on a clean evaluator-matched benchmark, a clear diagnosis finding and confidence intervals on the main comparison. An assignment-level contribution, so no top-tier venue is targeted.</a:t>
            </a:r>
            <a:endParaRPr lang="en-US" sz="14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000" b="1" dirty="0">
                <a:solidFill>
                  <a:schemeClr val="tx1"/>
                </a:solidFill>
              </a:rPr>
              <a:t>Key references</a:t>
            </a:r>
            <a:endParaRPr lang="en-US" sz="3000" dirty="0"/>
          </a:p>
        </p:txBody>
      </p:sp>
      <p:sp>
        <p:nvSpPr>
          <p:cNvPr id="3" name="text-360"/>
          <p:cNvSpPr txBox="1"/>
          <p:nvPr/>
        </p:nvSpPr>
        <p:spPr>
          <a:xfrm>
            <a:off x="548640" y="1371600"/>
            <a:ext cx="5394960" cy="457200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[1] G. Jocher et al., “Ultralytics YOLO26: Unified Real-Time End-to-End Vision Models,” arXiv:2606.03748, 2026.</a:t>
            </a:r>
            <a:endParaRPr lang="en-US" sz="1300" dirty="0"/>
          </a:p>
          <a:p>
            <a:pPr indent="0" marL="0">
              <a:spcAft>
                <a:spcPts val="1000"/>
              </a:spcAft>
              <a:buNone/>
            </a:pPr>
            <a:r>
              <a:rPr lang="en-US" sz="1300" dirty="0">
                <a:solidFill>
                  <a:schemeClr val="tx1"/>
                </a:solidFill>
              </a:rPr>
              <a:t>[2] Ultralytics, ultralytics package, release 8.4.174 (06/10/2026), ultralytics/utils/tal.py.</a:t>
            </a:r>
            <a:endParaRPr lang="en-US" sz="1300" dirty="0"/>
          </a:p>
          <a:p>
            <a:pPr indent="0" marL="0">
              <a:spcAft>
                <a:spcPts val="1000"/>
              </a:spcAft>
              <a:buNone/>
            </a:pPr>
            <a:r>
              <a:rPr lang="en-US" sz="1300" dirty="0">
                <a:solidFill>
                  <a:schemeClr val="tx1"/>
                </a:solidFill>
              </a:rPr>
              <a:t>[3] C. Xu et al., “Oriented Tiny Object Detection: A Dataset, Benchmark, and Dynamic Unbiased Learning,” IEEE TPAMI, 2025. doi:10.1109/tpami.2025.3634161</a:t>
            </a:r>
            <a:endParaRPr lang="en-US" sz="1300" dirty="0"/>
          </a:p>
          <a:p>
            <a:pPr indent="0" marL="0">
              <a:spcAft>
                <a:spcPts val="1000"/>
              </a:spcAft>
              <a:buNone/>
            </a:pPr>
            <a:r>
              <a:rPr lang="en-US" sz="1300" dirty="0">
                <a:solidFill>
                  <a:schemeClr val="tx1"/>
                </a:solidFill>
              </a:rPr>
              <a:t>[4] Kim and Park, “DIA-YOLO,” IEEE Access, vol. 13, 2025. doi:10.1109/ACCESS.2025.3603214</a:t>
            </a:r>
            <a:endParaRPr lang="en-US" sz="1300" dirty="0"/>
          </a:p>
          <a:p>
            <a:pPr indent="0" marL="0">
              <a:spcAft>
                <a:spcPts val="1000"/>
              </a:spcAft>
              <a:buNone/>
            </a:pPr>
            <a:r>
              <a:rPr lang="en-US" sz="1300" dirty="0">
                <a:solidFill>
                  <a:schemeClr val="tx1"/>
                </a:solidFill>
              </a:rPr>
              <a:t>[5] C. Xu et al., “Detecting tiny objects in aerial images: A normalized Wasserstein distance and a new benchmark,” ISPRS J., vol. 190, 2022.</a:t>
            </a:r>
            <a:endParaRPr lang="en-US" sz="1300" dirty="0"/>
          </a:p>
          <a:p>
            <a:pPr indent="0" marL="0">
              <a:spcAft>
                <a:spcPts val="1000"/>
              </a:spcAft>
              <a:buNone/>
            </a:pPr>
            <a:r>
              <a:rPr lang="en-US" sz="1300" dirty="0">
                <a:solidFill>
                  <a:schemeClr val="tx1"/>
                </a:solidFill>
              </a:rPr>
              <a:t>[6] C. Xu et al., “RFLA: Gaussian Receptive Field Based Label Assignment for Tiny Object Detection,” ECCV, 2022.</a:t>
            </a:r>
            <a:endParaRPr lang="en-US" sz="1300" dirty="0"/>
          </a:p>
        </p:txBody>
      </p:sp>
      <p:sp>
        <p:nvSpPr>
          <p:cNvPr id="4" name="text-361"/>
          <p:cNvSpPr txBox="1"/>
          <p:nvPr/>
        </p:nvSpPr>
        <p:spPr>
          <a:xfrm>
            <a:off x="6245352" y="1371600"/>
            <a:ext cx="5394960" cy="457200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[7] Guan et al., “Gaussian Combined Distance,” IEEE GRSL, 2025.</a:t>
            </a:r>
            <a:endParaRPr lang="en-US" sz="1300" dirty="0"/>
          </a:p>
          <a:p>
            <a:pPr indent="0" marL="0">
              <a:spcAft>
                <a:spcPts val="1000"/>
              </a:spcAft>
              <a:buNone/>
            </a:pPr>
            <a:r>
              <a:rPr lang="en-US" sz="1300" dirty="0">
                <a:solidFill>
                  <a:schemeClr val="tx1"/>
                </a:solidFill>
              </a:rPr>
              <a:t>[8] “EARL: Elliptical Distribution aided Adaptive Rotation Label Assignment,” IEEE TGRS, vol. 61, 2023.</a:t>
            </a:r>
            <a:endParaRPr lang="en-US" sz="1300" dirty="0"/>
          </a:p>
          <a:p>
            <a:pPr indent="0" marL="0">
              <a:spcAft>
                <a:spcPts val="1000"/>
              </a:spcAft>
              <a:buNone/>
            </a:pPr>
            <a:r>
              <a:rPr lang="en-US" sz="1300" dirty="0">
                <a:solidFill>
                  <a:schemeClr val="tx1"/>
                </a:solidFill>
              </a:rPr>
              <a:t>[9] “SARFA-Net: Shape-Aware Label Assignment and Refined Feature Alignment,” IEEE JSTARS, vol. 18, 2025.</a:t>
            </a:r>
            <a:endParaRPr lang="en-US" sz="1300" dirty="0"/>
          </a:p>
          <a:p>
            <a:pPr indent="0" marL="0">
              <a:spcAft>
                <a:spcPts val="1000"/>
              </a:spcAft>
              <a:buNone/>
            </a:pPr>
            <a:r>
              <a:rPr lang="en-US" sz="1300" dirty="0">
                <a:solidFill>
                  <a:schemeClr val="tx1"/>
                </a:solidFill>
              </a:rPr>
              <a:t>[10] “RDCNet: Rotation-Aware Feature Representation and Aspect-Adaptive Label Assignment,” IEEE JSTARS, vol. 19, 2026.</a:t>
            </a:r>
            <a:endParaRPr lang="en-US" sz="1300" dirty="0"/>
          </a:p>
          <a:p>
            <a:pPr indent="0" marL="0">
              <a:spcAft>
                <a:spcPts val="1000"/>
              </a:spcAft>
              <a:buNone/>
            </a:pPr>
            <a:r>
              <a:rPr lang="en-US" sz="1300" dirty="0">
                <a:solidFill>
                  <a:schemeClr val="tx1"/>
                </a:solidFill>
              </a:rPr>
              <a:t>[14] C. Feng et al., “TOOD: Task-aligned One-stage Object Detection,” ICCV, 2021.</a:t>
            </a:r>
            <a:endParaRPr lang="en-US" sz="1300" dirty="0"/>
          </a:p>
          <a:p>
            <a:pPr indent="0" marL="0">
              <a:spcAft>
                <a:spcPts val="1000"/>
              </a:spcAft>
              <a:buNone/>
            </a:pPr>
            <a:r>
              <a:rPr lang="en-US" sz="1300" dirty="0">
                <a:solidFill>
                  <a:schemeClr val="tx1"/>
                </a:solidFill>
              </a:rPr>
              <a:t>[15] AI-TOD-R project and AITODReval evaluator, github.com/Chasel-Tsui/AI-TOD-R (accessed 08/10/2026).</a:t>
            </a:r>
            <a:endParaRPr lang="en-US" sz="1300" dirty="0"/>
          </a:p>
          <a:p>
            <a:pPr indent="0" marL="0">
              <a:spcAft>
                <a:spcPts val="1000"/>
              </a:spcAft>
              <a:buNone/>
            </a:pPr>
            <a:r>
              <a:rPr lang="en-US" sz="1300" dirty="0">
                <a:solidFill>
                  <a:schemeClr val="tx1"/>
                </a:solidFill>
              </a:rPr>
              <a:t>[16] J. Wang et al., “Tiny Object Detection in Aerial Images,” ICPR, 2020.</a:t>
            </a:r>
            <a:endParaRPr lang="en-US" sz="1300" dirty="0"/>
          </a:p>
          <a:p>
            <a:pPr indent="0" marL="0">
              <a:spcAft>
                <a:spcPts val="1000"/>
              </a:spcAft>
              <a:buNone/>
            </a:pPr>
            <a:r>
              <a:rPr lang="en-US" sz="1300" dirty="0">
                <a:solidFill>
                  <a:schemeClr val="tx1"/>
                </a:solidFill>
              </a:rPr>
              <a:t>[18] Kaggle documentation, Notebooks (accessed 08/10/2026).</a:t>
            </a:r>
            <a:endParaRPr lang="en-US" sz="1300" dirty="0"/>
          </a:p>
        </p:txBody>
      </p:sp>
      <p:sp>
        <p:nvSpPr>
          <p:cNvPr id="5" name="text-362"/>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Full list with links: Group7.pdf, References [1]–[19].</a:t>
            </a:r>
            <a:endParaRPr lang="en-US" sz="1100" dirty="0"/>
          </a:p>
        </p:txBody>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6766560" cy="1097280"/>
          </a:xfrm>
          <a:prstGeom prst="rect">
            <a:avLst/>
          </a:prstGeom>
          <a:noFill/>
          <a:ln/>
        </p:spPr>
        <p:txBody>
          <a:bodyPr wrap="square" lIns="0" tIns="0" rIns="0" bIns="0" rtlCol="0" anchor="t"/>
          <a:lstStyle/>
          <a:p>
            <a:pPr algn="l" indent="0" marL="0">
              <a:buNone/>
            </a:pPr>
            <a:r>
              <a:rPr lang="en-US" sz="4000" b="1" dirty="0">
                <a:solidFill>
                  <a:schemeClr val="bg1"/>
                </a:solidFill>
              </a:rPr>
              <a:t>Questions and discussion</a:t>
            </a:r>
            <a:endParaRPr lang="en-US" sz="4000" dirty="0"/>
          </a:p>
        </p:txBody>
      </p:sp>
      <p:sp>
        <p:nvSpPr>
          <p:cNvPr id="3" name="text-363"/>
          <p:cNvSpPr txBox="1"/>
          <p:nvPr/>
        </p:nvSpPr>
        <p:spPr>
          <a:xfrm>
            <a:off x="640080" y="2103120"/>
            <a:ext cx="6766560" cy="411480"/>
          </a:xfrm>
          <a:prstGeom prst="rect">
            <a:avLst/>
          </a:prstGeom>
          <a:noFill/>
          <a:ln/>
        </p:spPr>
        <p:txBody>
          <a:bodyPr wrap="square" lIns="0" tIns="0" rIns="0" bIns="0" rtlCol="0" anchor="t"/>
          <a:lstStyle/>
          <a:p>
            <a:pPr indent="0" marL="0">
              <a:buNone/>
            </a:pPr>
            <a:r>
              <a:rPr lang="en-US" sz="1600" dirty="0">
                <a:solidFill>
                  <a:srgbClr val="B9C7D6"/>
                </a:solidFill>
              </a:rPr>
              <a:t>Points where we would value the mentor’s and the class’s feedback:</a:t>
            </a:r>
            <a:endParaRPr lang="en-US" sz="1600" dirty="0"/>
          </a:p>
        </p:txBody>
      </p:sp>
      <p:sp>
        <p:nvSpPr>
          <p:cNvPr id="4" name="badge-364"/>
          <p:cNvSpPr/>
          <p:nvPr/>
        </p:nvSpPr>
        <p:spPr>
          <a:xfrm>
            <a:off x="640080" y="2743200"/>
            <a:ext cx="475488" cy="475488"/>
          </a:xfrm>
          <a:prstGeom prst="ellipse">
            <a:avLst/>
          </a:prstGeom>
          <a:solidFill>
            <a:schemeClr val="accent1"/>
          </a:solidFill>
          <a:ln w="12700">
            <a:solidFill>
              <a:schemeClr val="accent1"/>
            </a:solidFill>
            <a:prstDash val="solid"/>
          </a:ln>
        </p:spPr>
      </p:sp>
      <p:sp>
        <p:nvSpPr>
          <p:cNvPr id="5" name="text-365"/>
          <p:cNvSpPr txBox="1"/>
          <p:nvPr/>
        </p:nvSpPr>
        <p:spPr>
          <a:xfrm>
            <a:off x="640080" y="2743200"/>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366"/>
          <p:cNvSpPr txBox="1"/>
          <p:nvPr/>
        </p:nvSpPr>
        <p:spPr>
          <a:xfrm>
            <a:off x="1325880" y="2788920"/>
            <a:ext cx="6035040" cy="457200"/>
          </a:xfrm>
          <a:prstGeom prst="rect">
            <a:avLst/>
          </a:prstGeom>
          <a:noFill/>
          <a:ln/>
        </p:spPr>
        <p:txBody>
          <a:bodyPr wrap="square" lIns="0" tIns="0" rIns="0" bIns="0" rtlCol="0" anchor="ctr"/>
          <a:lstStyle/>
          <a:p>
            <a:pPr indent="0" marL="0">
              <a:buNone/>
            </a:pPr>
            <a:r>
              <a:rPr lang="en-US" sz="1800" dirty="0">
                <a:solidFill>
                  <a:schemeClr val="bg1"/>
                </a:solidFill>
              </a:rPr>
              <a:t>Is STAL-16, the current code, the right primary comparator?</a:t>
            </a:r>
            <a:endParaRPr lang="en-US" sz="1800" dirty="0"/>
          </a:p>
        </p:txBody>
      </p:sp>
      <p:sp>
        <p:nvSpPr>
          <p:cNvPr id="7" name="badge-367"/>
          <p:cNvSpPr/>
          <p:nvPr/>
        </p:nvSpPr>
        <p:spPr>
          <a:xfrm>
            <a:off x="640080" y="3657600"/>
            <a:ext cx="475488" cy="475488"/>
          </a:xfrm>
          <a:prstGeom prst="ellipse">
            <a:avLst/>
          </a:prstGeom>
          <a:solidFill>
            <a:schemeClr val="accent1"/>
          </a:solidFill>
          <a:ln w="12700">
            <a:solidFill>
              <a:schemeClr val="accent1"/>
            </a:solidFill>
            <a:prstDash val="solid"/>
          </a:ln>
        </p:spPr>
      </p:sp>
      <p:sp>
        <p:nvSpPr>
          <p:cNvPr id="8" name="text-368"/>
          <p:cNvSpPr txBox="1"/>
          <p:nvPr/>
        </p:nvSpPr>
        <p:spPr>
          <a:xfrm>
            <a:off x="640080" y="3657600"/>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369"/>
          <p:cNvSpPr txBox="1"/>
          <p:nvPr/>
        </p:nvSpPr>
        <p:spPr>
          <a:xfrm>
            <a:off x="1325880" y="3703320"/>
            <a:ext cx="6035040" cy="457200"/>
          </a:xfrm>
          <a:prstGeom prst="rect">
            <a:avLst/>
          </a:prstGeom>
          <a:noFill/>
          <a:ln/>
        </p:spPr>
        <p:txBody>
          <a:bodyPr wrap="square" lIns="0" tIns="0" rIns="0" bIns="0" rtlCol="0" anchor="ctr"/>
          <a:lstStyle/>
          <a:p>
            <a:pPr indent="0" marL="0">
              <a:buNone/>
            </a:pPr>
            <a:r>
              <a:rPr lang="en-US" sz="1800" dirty="0">
                <a:solidFill>
                  <a:schemeClr val="bg1"/>
                </a:solidFill>
              </a:rPr>
              <a:t>SODA-A or DOTA-v2.0 as the second dataset?</a:t>
            </a:r>
            <a:endParaRPr lang="en-US" sz="1800" dirty="0"/>
          </a:p>
        </p:txBody>
      </p:sp>
      <p:sp>
        <p:nvSpPr>
          <p:cNvPr id="10" name="badge-370"/>
          <p:cNvSpPr/>
          <p:nvPr/>
        </p:nvSpPr>
        <p:spPr>
          <a:xfrm>
            <a:off x="640080" y="4572000"/>
            <a:ext cx="475488" cy="475488"/>
          </a:xfrm>
          <a:prstGeom prst="ellipse">
            <a:avLst/>
          </a:prstGeom>
          <a:solidFill>
            <a:schemeClr val="accent1"/>
          </a:solidFill>
          <a:ln w="12700">
            <a:solidFill>
              <a:schemeClr val="accent1"/>
            </a:solidFill>
            <a:prstDash val="solid"/>
          </a:ln>
        </p:spPr>
      </p:sp>
      <p:sp>
        <p:nvSpPr>
          <p:cNvPr id="11" name="text-371"/>
          <p:cNvSpPr txBox="1"/>
          <p:nvPr/>
        </p:nvSpPr>
        <p:spPr>
          <a:xfrm>
            <a:off x="640080" y="4572000"/>
            <a:ext cx="475488" cy="47548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372"/>
          <p:cNvSpPr txBox="1"/>
          <p:nvPr/>
        </p:nvSpPr>
        <p:spPr>
          <a:xfrm>
            <a:off x="1325880" y="4617720"/>
            <a:ext cx="6035040" cy="457200"/>
          </a:xfrm>
          <a:prstGeom prst="rect">
            <a:avLst/>
          </a:prstGeom>
          <a:noFill/>
          <a:ln/>
        </p:spPr>
        <p:txBody>
          <a:bodyPr wrap="square" lIns="0" tIns="0" rIns="0" bIns="0" rtlCol="0" anchor="ctr"/>
          <a:lstStyle/>
          <a:p>
            <a:pPr indent="0" marL="0">
              <a:buNone/>
            </a:pPr>
            <a:r>
              <a:rPr lang="en-US" sz="1800" dirty="0">
                <a:solidFill>
                  <a:schemeClr val="bg1"/>
                </a:solidFill>
              </a:rPr>
              <a:t>Which minimal effect size should count as an improvement?</a:t>
            </a:r>
            <a:endParaRPr lang="en-US" sz="1800" dirty="0"/>
          </a:p>
        </p:txBody>
      </p:sp>
      <p:sp>
        <p:nvSpPr>
          <p:cNvPr id="13" name="text-373"/>
          <p:cNvSpPr txBox="1"/>
          <p:nvPr/>
        </p:nvSpPr>
        <p:spPr>
          <a:xfrm>
            <a:off x="640080" y="5989320"/>
            <a:ext cx="6766560" cy="320040"/>
          </a:xfrm>
          <a:prstGeom prst="rect">
            <a:avLst/>
          </a:prstGeom>
          <a:noFill/>
          <a:ln/>
        </p:spPr>
        <p:txBody>
          <a:bodyPr wrap="square" lIns="0" tIns="0" rIns="0" bIns="0" rtlCol="0" anchor="t"/>
          <a:lstStyle/>
          <a:p>
            <a:pPr indent="0" marL="0">
              <a:buNone/>
            </a:pPr>
            <a:r>
              <a:rPr lang="en-US" sz="1300" dirty="0">
                <a:solidFill>
                  <a:srgbClr val="B9C7D6"/>
                </a:solidFill>
              </a:rPr>
              <a:t>Group 7 · github.com/VoDucNhatku/nckh-group7-tiny-obb</a:t>
            </a:r>
            <a:endParaRPr lang="en-US" sz="1300" dirty="0"/>
          </a:p>
        </p:txBody>
      </p:sp>
      <p:sp>
        <p:nvSpPr>
          <p:cNvPr id="14" name="grid-dot-374"/>
          <p:cNvSpPr/>
          <p:nvPr/>
        </p:nvSpPr>
        <p:spPr>
          <a:xfrm>
            <a:off x="8138160" y="1371600"/>
            <a:ext cx="91440" cy="91440"/>
          </a:xfrm>
          <a:prstGeom prst="ellipse">
            <a:avLst/>
          </a:prstGeom>
          <a:solidFill>
            <a:srgbClr val="B9C7D6"/>
          </a:solidFill>
          <a:ln w="12700">
            <a:solidFill>
              <a:srgbClr val="B9C7D6"/>
            </a:solidFill>
            <a:prstDash val="solid"/>
          </a:ln>
        </p:spPr>
      </p:sp>
      <p:sp>
        <p:nvSpPr>
          <p:cNvPr id="15" name="grid-dot-375"/>
          <p:cNvSpPr/>
          <p:nvPr/>
        </p:nvSpPr>
        <p:spPr>
          <a:xfrm>
            <a:off x="8705088" y="1371600"/>
            <a:ext cx="91440" cy="91440"/>
          </a:xfrm>
          <a:prstGeom prst="ellipse">
            <a:avLst/>
          </a:prstGeom>
          <a:solidFill>
            <a:srgbClr val="B9C7D6"/>
          </a:solidFill>
          <a:ln w="12700">
            <a:solidFill>
              <a:srgbClr val="B9C7D6"/>
            </a:solidFill>
            <a:prstDash val="solid"/>
          </a:ln>
        </p:spPr>
      </p:sp>
      <p:sp>
        <p:nvSpPr>
          <p:cNvPr id="16" name="grid-dot-376"/>
          <p:cNvSpPr/>
          <p:nvPr/>
        </p:nvSpPr>
        <p:spPr>
          <a:xfrm>
            <a:off x="9272016" y="1371600"/>
            <a:ext cx="91440" cy="91440"/>
          </a:xfrm>
          <a:prstGeom prst="ellipse">
            <a:avLst/>
          </a:prstGeom>
          <a:solidFill>
            <a:srgbClr val="B9C7D6"/>
          </a:solidFill>
          <a:ln w="12700">
            <a:solidFill>
              <a:srgbClr val="B9C7D6"/>
            </a:solidFill>
            <a:prstDash val="solid"/>
          </a:ln>
        </p:spPr>
      </p:sp>
      <p:sp>
        <p:nvSpPr>
          <p:cNvPr id="17" name="grid-dot-377"/>
          <p:cNvSpPr/>
          <p:nvPr/>
        </p:nvSpPr>
        <p:spPr>
          <a:xfrm>
            <a:off x="9838944" y="1371600"/>
            <a:ext cx="91440" cy="91440"/>
          </a:xfrm>
          <a:prstGeom prst="ellipse">
            <a:avLst/>
          </a:prstGeom>
          <a:solidFill>
            <a:srgbClr val="B9C7D6"/>
          </a:solidFill>
          <a:ln w="12700">
            <a:solidFill>
              <a:srgbClr val="B9C7D6"/>
            </a:solidFill>
            <a:prstDash val="solid"/>
          </a:ln>
        </p:spPr>
      </p:sp>
      <p:sp>
        <p:nvSpPr>
          <p:cNvPr id="18" name="grid-dot-378"/>
          <p:cNvSpPr/>
          <p:nvPr/>
        </p:nvSpPr>
        <p:spPr>
          <a:xfrm>
            <a:off x="10405872" y="1371600"/>
            <a:ext cx="91440" cy="91440"/>
          </a:xfrm>
          <a:prstGeom prst="ellipse">
            <a:avLst/>
          </a:prstGeom>
          <a:solidFill>
            <a:srgbClr val="B9C7D6"/>
          </a:solidFill>
          <a:ln w="12700">
            <a:solidFill>
              <a:srgbClr val="B9C7D6"/>
            </a:solidFill>
            <a:prstDash val="solid"/>
          </a:ln>
        </p:spPr>
      </p:sp>
      <p:sp>
        <p:nvSpPr>
          <p:cNvPr id="19" name="grid-dot-379"/>
          <p:cNvSpPr/>
          <p:nvPr/>
        </p:nvSpPr>
        <p:spPr>
          <a:xfrm>
            <a:off x="10972800" y="1371600"/>
            <a:ext cx="91440" cy="91440"/>
          </a:xfrm>
          <a:prstGeom prst="ellipse">
            <a:avLst/>
          </a:prstGeom>
          <a:solidFill>
            <a:srgbClr val="B9C7D6"/>
          </a:solidFill>
          <a:ln w="12700">
            <a:solidFill>
              <a:srgbClr val="B9C7D6"/>
            </a:solidFill>
            <a:prstDash val="solid"/>
          </a:ln>
        </p:spPr>
      </p:sp>
      <p:sp>
        <p:nvSpPr>
          <p:cNvPr id="20" name="grid-dot-380"/>
          <p:cNvSpPr/>
          <p:nvPr/>
        </p:nvSpPr>
        <p:spPr>
          <a:xfrm>
            <a:off x="8138160" y="1938528"/>
            <a:ext cx="91440" cy="91440"/>
          </a:xfrm>
          <a:prstGeom prst="ellipse">
            <a:avLst/>
          </a:prstGeom>
          <a:solidFill>
            <a:srgbClr val="B9C7D6"/>
          </a:solidFill>
          <a:ln w="12700">
            <a:solidFill>
              <a:srgbClr val="B9C7D6"/>
            </a:solidFill>
            <a:prstDash val="solid"/>
          </a:ln>
        </p:spPr>
      </p:sp>
      <p:sp>
        <p:nvSpPr>
          <p:cNvPr id="21" name="grid-dot-381"/>
          <p:cNvSpPr/>
          <p:nvPr/>
        </p:nvSpPr>
        <p:spPr>
          <a:xfrm>
            <a:off x="8705088" y="1938528"/>
            <a:ext cx="91440" cy="91440"/>
          </a:xfrm>
          <a:prstGeom prst="ellipse">
            <a:avLst/>
          </a:prstGeom>
          <a:solidFill>
            <a:srgbClr val="B9C7D6"/>
          </a:solidFill>
          <a:ln w="12700">
            <a:solidFill>
              <a:srgbClr val="B9C7D6"/>
            </a:solidFill>
            <a:prstDash val="solid"/>
          </a:ln>
        </p:spPr>
      </p:sp>
      <p:sp>
        <p:nvSpPr>
          <p:cNvPr id="22" name="grid-dot-382"/>
          <p:cNvSpPr/>
          <p:nvPr/>
        </p:nvSpPr>
        <p:spPr>
          <a:xfrm>
            <a:off x="9272016" y="1938528"/>
            <a:ext cx="91440" cy="91440"/>
          </a:xfrm>
          <a:prstGeom prst="ellipse">
            <a:avLst/>
          </a:prstGeom>
          <a:solidFill>
            <a:srgbClr val="B9C7D6"/>
          </a:solidFill>
          <a:ln w="12700">
            <a:solidFill>
              <a:srgbClr val="B9C7D6"/>
            </a:solidFill>
            <a:prstDash val="solid"/>
          </a:ln>
        </p:spPr>
      </p:sp>
      <p:sp>
        <p:nvSpPr>
          <p:cNvPr id="23" name="grid-dot-383"/>
          <p:cNvSpPr/>
          <p:nvPr/>
        </p:nvSpPr>
        <p:spPr>
          <a:xfrm>
            <a:off x="9838944" y="1938528"/>
            <a:ext cx="91440" cy="91440"/>
          </a:xfrm>
          <a:prstGeom prst="ellipse">
            <a:avLst/>
          </a:prstGeom>
          <a:solidFill>
            <a:srgbClr val="B9C7D6"/>
          </a:solidFill>
          <a:ln w="12700">
            <a:solidFill>
              <a:srgbClr val="B9C7D6"/>
            </a:solidFill>
            <a:prstDash val="solid"/>
          </a:ln>
        </p:spPr>
      </p:sp>
      <p:sp>
        <p:nvSpPr>
          <p:cNvPr id="24" name="grid-dot-384"/>
          <p:cNvSpPr/>
          <p:nvPr/>
        </p:nvSpPr>
        <p:spPr>
          <a:xfrm>
            <a:off x="10405872" y="1938528"/>
            <a:ext cx="91440" cy="91440"/>
          </a:xfrm>
          <a:prstGeom prst="ellipse">
            <a:avLst/>
          </a:prstGeom>
          <a:solidFill>
            <a:srgbClr val="B9C7D6"/>
          </a:solidFill>
          <a:ln w="12700">
            <a:solidFill>
              <a:srgbClr val="B9C7D6"/>
            </a:solidFill>
            <a:prstDash val="solid"/>
          </a:ln>
        </p:spPr>
      </p:sp>
      <p:sp>
        <p:nvSpPr>
          <p:cNvPr id="25" name="grid-dot-385"/>
          <p:cNvSpPr/>
          <p:nvPr/>
        </p:nvSpPr>
        <p:spPr>
          <a:xfrm>
            <a:off x="10972800" y="1938528"/>
            <a:ext cx="91440" cy="91440"/>
          </a:xfrm>
          <a:prstGeom prst="ellipse">
            <a:avLst/>
          </a:prstGeom>
          <a:solidFill>
            <a:srgbClr val="B9C7D6"/>
          </a:solidFill>
          <a:ln w="12700">
            <a:solidFill>
              <a:srgbClr val="B9C7D6"/>
            </a:solidFill>
            <a:prstDash val="solid"/>
          </a:ln>
        </p:spPr>
      </p:sp>
      <p:sp>
        <p:nvSpPr>
          <p:cNvPr id="26" name="grid-dot-386"/>
          <p:cNvSpPr/>
          <p:nvPr/>
        </p:nvSpPr>
        <p:spPr>
          <a:xfrm>
            <a:off x="8138160" y="2505456"/>
            <a:ext cx="91440" cy="91440"/>
          </a:xfrm>
          <a:prstGeom prst="ellipse">
            <a:avLst/>
          </a:prstGeom>
          <a:solidFill>
            <a:srgbClr val="B9C7D6"/>
          </a:solidFill>
          <a:ln w="12700">
            <a:solidFill>
              <a:srgbClr val="B9C7D6"/>
            </a:solidFill>
            <a:prstDash val="solid"/>
          </a:ln>
        </p:spPr>
      </p:sp>
      <p:sp>
        <p:nvSpPr>
          <p:cNvPr id="27" name="grid-dot-387"/>
          <p:cNvSpPr/>
          <p:nvPr/>
        </p:nvSpPr>
        <p:spPr>
          <a:xfrm>
            <a:off x="8705088" y="2505456"/>
            <a:ext cx="91440" cy="91440"/>
          </a:xfrm>
          <a:prstGeom prst="ellipse">
            <a:avLst/>
          </a:prstGeom>
          <a:solidFill>
            <a:srgbClr val="B9C7D6"/>
          </a:solidFill>
          <a:ln w="12700">
            <a:solidFill>
              <a:srgbClr val="B9C7D6"/>
            </a:solidFill>
            <a:prstDash val="solid"/>
          </a:ln>
        </p:spPr>
      </p:sp>
      <p:sp>
        <p:nvSpPr>
          <p:cNvPr id="28" name="grid-dot-388"/>
          <p:cNvSpPr/>
          <p:nvPr/>
        </p:nvSpPr>
        <p:spPr>
          <a:xfrm>
            <a:off x="9272016" y="2505456"/>
            <a:ext cx="91440" cy="91440"/>
          </a:xfrm>
          <a:prstGeom prst="ellipse">
            <a:avLst/>
          </a:prstGeom>
          <a:solidFill>
            <a:srgbClr val="B9C7D6"/>
          </a:solidFill>
          <a:ln w="12700">
            <a:solidFill>
              <a:srgbClr val="B9C7D6"/>
            </a:solidFill>
            <a:prstDash val="solid"/>
          </a:ln>
        </p:spPr>
      </p:sp>
      <p:sp>
        <p:nvSpPr>
          <p:cNvPr id="29" name="grid-dot-389"/>
          <p:cNvSpPr/>
          <p:nvPr/>
        </p:nvSpPr>
        <p:spPr>
          <a:xfrm>
            <a:off x="9838944" y="2505456"/>
            <a:ext cx="91440" cy="91440"/>
          </a:xfrm>
          <a:prstGeom prst="ellipse">
            <a:avLst/>
          </a:prstGeom>
          <a:solidFill>
            <a:srgbClr val="B9C7D6"/>
          </a:solidFill>
          <a:ln w="12700">
            <a:solidFill>
              <a:srgbClr val="B9C7D6"/>
            </a:solidFill>
            <a:prstDash val="solid"/>
          </a:ln>
        </p:spPr>
      </p:sp>
      <p:sp>
        <p:nvSpPr>
          <p:cNvPr id="30" name="grid-dot-390"/>
          <p:cNvSpPr/>
          <p:nvPr/>
        </p:nvSpPr>
        <p:spPr>
          <a:xfrm>
            <a:off x="10405872" y="2505456"/>
            <a:ext cx="91440" cy="91440"/>
          </a:xfrm>
          <a:prstGeom prst="ellipse">
            <a:avLst/>
          </a:prstGeom>
          <a:solidFill>
            <a:srgbClr val="B9C7D6"/>
          </a:solidFill>
          <a:ln w="12700">
            <a:solidFill>
              <a:srgbClr val="B9C7D6"/>
            </a:solidFill>
            <a:prstDash val="solid"/>
          </a:ln>
        </p:spPr>
      </p:sp>
      <p:sp>
        <p:nvSpPr>
          <p:cNvPr id="31" name="grid-dot-391"/>
          <p:cNvSpPr/>
          <p:nvPr/>
        </p:nvSpPr>
        <p:spPr>
          <a:xfrm>
            <a:off x="10972800" y="2505456"/>
            <a:ext cx="91440" cy="91440"/>
          </a:xfrm>
          <a:prstGeom prst="ellipse">
            <a:avLst/>
          </a:prstGeom>
          <a:solidFill>
            <a:srgbClr val="B9C7D6"/>
          </a:solidFill>
          <a:ln w="12700">
            <a:solidFill>
              <a:srgbClr val="B9C7D6"/>
            </a:solidFill>
            <a:prstDash val="solid"/>
          </a:ln>
        </p:spPr>
      </p:sp>
      <p:sp>
        <p:nvSpPr>
          <p:cNvPr id="32" name="grid-dot-392"/>
          <p:cNvSpPr/>
          <p:nvPr/>
        </p:nvSpPr>
        <p:spPr>
          <a:xfrm>
            <a:off x="8138160" y="3072384"/>
            <a:ext cx="91440" cy="91440"/>
          </a:xfrm>
          <a:prstGeom prst="ellipse">
            <a:avLst/>
          </a:prstGeom>
          <a:solidFill>
            <a:srgbClr val="B9C7D6"/>
          </a:solidFill>
          <a:ln w="12700">
            <a:solidFill>
              <a:srgbClr val="B9C7D6"/>
            </a:solidFill>
            <a:prstDash val="solid"/>
          </a:ln>
        </p:spPr>
      </p:sp>
      <p:sp>
        <p:nvSpPr>
          <p:cNvPr id="33" name="grid-dot-393"/>
          <p:cNvSpPr/>
          <p:nvPr/>
        </p:nvSpPr>
        <p:spPr>
          <a:xfrm>
            <a:off x="8705088" y="3072384"/>
            <a:ext cx="91440" cy="91440"/>
          </a:xfrm>
          <a:prstGeom prst="ellipse">
            <a:avLst/>
          </a:prstGeom>
          <a:solidFill>
            <a:srgbClr val="B9C7D6"/>
          </a:solidFill>
          <a:ln w="12700">
            <a:solidFill>
              <a:srgbClr val="B9C7D6"/>
            </a:solidFill>
            <a:prstDash val="solid"/>
          </a:ln>
        </p:spPr>
      </p:sp>
      <p:sp>
        <p:nvSpPr>
          <p:cNvPr id="34" name="grid-dot-394"/>
          <p:cNvSpPr/>
          <p:nvPr/>
        </p:nvSpPr>
        <p:spPr>
          <a:xfrm>
            <a:off x="9272016" y="3072384"/>
            <a:ext cx="91440" cy="91440"/>
          </a:xfrm>
          <a:prstGeom prst="ellipse">
            <a:avLst/>
          </a:prstGeom>
          <a:solidFill>
            <a:srgbClr val="B9C7D6"/>
          </a:solidFill>
          <a:ln w="12700">
            <a:solidFill>
              <a:srgbClr val="B9C7D6"/>
            </a:solidFill>
            <a:prstDash val="solid"/>
          </a:ln>
        </p:spPr>
      </p:sp>
      <p:sp>
        <p:nvSpPr>
          <p:cNvPr id="35" name="grid-dot-395"/>
          <p:cNvSpPr/>
          <p:nvPr/>
        </p:nvSpPr>
        <p:spPr>
          <a:xfrm>
            <a:off x="9838944" y="3072384"/>
            <a:ext cx="91440" cy="91440"/>
          </a:xfrm>
          <a:prstGeom prst="ellipse">
            <a:avLst/>
          </a:prstGeom>
          <a:solidFill>
            <a:srgbClr val="B9C7D6"/>
          </a:solidFill>
          <a:ln w="12700">
            <a:solidFill>
              <a:srgbClr val="B9C7D6"/>
            </a:solidFill>
            <a:prstDash val="solid"/>
          </a:ln>
        </p:spPr>
      </p:sp>
      <p:sp>
        <p:nvSpPr>
          <p:cNvPr id="36" name="grid-dot-396"/>
          <p:cNvSpPr/>
          <p:nvPr/>
        </p:nvSpPr>
        <p:spPr>
          <a:xfrm>
            <a:off x="10405872" y="3072384"/>
            <a:ext cx="91440" cy="91440"/>
          </a:xfrm>
          <a:prstGeom prst="ellipse">
            <a:avLst/>
          </a:prstGeom>
          <a:solidFill>
            <a:srgbClr val="B9C7D6"/>
          </a:solidFill>
          <a:ln w="12700">
            <a:solidFill>
              <a:srgbClr val="B9C7D6"/>
            </a:solidFill>
            <a:prstDash val="solid"/>
          </a:ln>
        </p:spPr>
      </p:sp>
      <p:sp>
        <p:nvSpPr>
          <p:cNvPr id="37" name="grid-dot-397"/>
          <p:cNvSpPr/>
          <p:nvPr/>
        </p:nvSpPr>
        <p:spPr>
          <a:xfrm>
            <a:off x="10972800" y="3072384"/>
            <a:ext cx="91440" cy="91440"/>
          </a:xfrm>
          <a:prstGeom prst="ellipse">
            <a:avLst/>
          </a:prstGeom>
          <a:solidFill>
            <a:srgbClr val="B9C7D6"/>
          </a:solidFill>
          <a:ln w="12700">
            <a:solidFill>
              <a:srgbClr val="B9C7D6"/>
            </a:solidFill>
            <a:prstDash val="solid"/>
          </a:ln>
        </p:spPr>
      </p:sp>
      <p:sp>
        <p:nvSpPr>
          <p:cNvPr id="38" name="grid-dot-398"/>
          <p:cNvSpPr/>
          <p:nvPr/>
        </p:nvSpPr>
        <p:spPr>
          <a:xfrm>
            <a:off x="8138160" y="3639312"/>
            <a:ext cx="91440" cy="91440"/>
          </a:xfrm>
          <a:prstGeom prst="ellipse">
            <a:avLst/>
          </a:prstGeom>
          <a:solidFill>
            <a:srgbClr val="B9C7D6"/>
          </a:solidFill>
          <a:ln w="12700">
            <a:solidFill>
              <a:srgbClr val="B9C7D6"/>
            </a:solidFill>
            <a:prstDash val="solid"/>
          </a:ln>
        </p:spPr>
      </p:sp>
      <p:sp>
        <p:nvSpPr>
          <p:cNvPr id="39" name="grid-dot-399"/>
          <p:cNvSpPr/>
          <p:nvPr/>
        </p:nvSpPr>
        <p:spPr>
          <a:xfrm>
            <a:off x="8705088" y="3639312"/>
            <a:ext cx="91440" cy="91440"/>
          </a:xfrm>
          <a:prstGeom prst="ellipse">
            <a:avLst/>
          </a:prstGeom>
          <a:solidFill>
            <a:srgbClr val="B9C7D6"/>
          </a:solidFill>
          <a:ln w="12700">
            <a:solidFill>
              <a:srgbClr val="B9C7D6"/>
            </a:solidFill>
            <a:prstDash val="solid"/>
          </a:ln>
        </p:spPr>
      </p:sp>
      <p:sp>
        <p:nvSpPr>
          <p:cNvPr id="40" name="grid-dot-400"/>
          <p:cNvSpPr/>
          <p:nvPr/>
        </p:nvSpPr>
        <p:spPr>
          <a:xfrm>
            <a:off x="9272016" y="3639312"/>
            <a:ext cx="91440" cy="91440"/>
          </a:xfrm>
          <a:prstGeom prst="ellipse">
            <a:avLst/>
          </a:prstGeom>
          <a:solidFill>
            <a:srgbClr val="B9C7D6"/>
          </a:solidFill>
          <a:ln w="12700">
            <a:solidFill>
              <a:srgbClr val="B9C7D6"/>
            </a:solidFill>
            <a:prstDash val="solid"/>
          </a:ln>
        </p:spPr>
      </p:sp>
      <p:sp>
        <p:nvSpPr>
          <p:cNvPr id="41" name="grid-dot-401"/>
          <p:cNvSpPr/>
          <p:nvPr/>
        </p:nvSpPr>
        <p:spPr>
          <a:xfrm>
            <a:off x="9838944" y="3639312"/>
            <a:ext cx="91440" cy="91440"/>
          </a:xfrm>
          <a:prstGeom prst="ellipse">
            <a:avLst/>
          </a:prstGeom>
          <a:solidFill>
            <a:srgbClr val="B9C7D6"/>
          </a:solidFill>
          <a:ln w="12700">
            <a:solidFill>
              <a:srgbClr val="B9C7D6"/>
            </a:solidFill>
            <a:prstDash val="solid"/>
          </a:ln>
        </p:spPr>
      </p:sp>
      <p:sp>
        <p:nvSpPr>
          <p:cNvPr id="42" name="grid-dot-402"/>
          <p:cNvSpPr/>
          <p:nvPr/>
        </p:nvSpPr>
        <p:spPr>
          <a:xfrm>
            <a:off x="10405872" y="3639312"/>
            <a:ext cx="91440" cy="91440"/>
          </a:xfrm>
          <a:prstGeom prst="ellipse">
            <a:avLst/>
          </a:prstGeom>
          <a:solidFill>
            <a:srgbClr val="B9C7D6"/>
          </a:solidFill>
          <a:ln w="12700">
            <a:solidFill>
              <a:srgbClr val="B9C7D6"/>
            </a:solidFill>
            <a:prstDash val="solid"/>
          </a:ln>
        </p:spPr>
      </p:sp>
      <p:sp>
        <p:nvSpPr>
          <p:cNvPr id="43" name="grid-dot-403"/>
          <p:cNvSpPr/>
          <p:nvPr/>
        </p:nvSpPr>
        <p:spPr>
          <a:xfrm>
            <a:off x="10972800" y="3639312"/>
            <a:ext cx="91440" cy="91440"/>
          </a:xfrm>
          <a:prstGeom prst="ellipse">
            <a:avLst/>
          </a:prstGeom>
          <a:solidFill>
            <a:srgbClr val="B9C7D6"/>
          </a:solidFill>
          <a:ln w="12700">
            <a:solidFill>
              <a:srgbClr val="B9C7D6"/>
            </a:solidFill>
            <a:prstDash val="solid"/>
          </a:ln>
        </p:spPr>
      </p:sp>
      <p:sp>
        <p:nvSpPr>
          <p:cNvPr id="44" name="grid-dot-404"/>
          <p:cNvSpPr/>
          <p:nvPr/>
        </p:nvSpPr>
        <p:spPr>
          <a:xfrm>
            <a:off x="8138160" y="4206240"/>
            <a:ext cx="91440" cy="91440"/>
          </a:xfrm>
          <a:prstGeom prst="ellipse">
            <a:avLst/>
          </a:prstGeom>
          <a:solidFill>
            <a:srgbClr val="B9C7D6"/>
          </a:solidFill>
          <a:ln w="12700">
            <a:solidFill>
              <a:srgbClr val="B9C7D6"/>
            </a:solidFill>
            <a:prstDash val="solid"/>
          </a:ln>
        </p:spPr>
      </p:sp>
      <p:sp>
        <p:nvSpPr>
          <p:cNvPr id="45" name="grid-dot-405"/>
          <p:cNvSpPr/>
          <p:nvPr/>
        </p:nvSpPr>
        <p:spPr>
          <a:xfrm>
            <a:off x="8705088" y="4206240"/>
            <a:ext cx="91440" cy="91440"/>
          </a:xfrm>
          <a:prstGeom prst="ellipse">
            <a:avLst/>
          </a:prstGeom>
          <a:solidFill>
            <a:srgbClr val="B9C7D6"/>
          </a:solidFill>
          <a:ln w="12700">
            <a:solidFill>
              <a:srgbClr val="B9C7D6"/>
            </a:solidFill>
            <a:prstDash val="solid"/>
          </a:ln>
        </p:spPr>
      </p:sp>
      <p:sp>
        <p:nvSpPr>
          <p:cNvPr id="46" name="grid-dot-406"/>
          <p:cNvSpPr/>
          <p:nvPr/>
        </p:nvSpPr>
        <p:spPr>
          <a:xfrm>
            <a:off x="9272016" y="4206240"/>
            <a:ext cx="91440" cy="91440"/>
          </a:xfrm>
          <a:prstGeom prst="ellipse">
            <a:avLst/>
          </a:prstGeom>
          <a:solidFill>
            <a:srgbClr val="B9C7D6"/>
          </a:solidFill>
          <a:ln w="12700">
            <a:solidFill>
              <a:srgbClr val="B9C7D6"/>
            </a:solidFill>
            <a:prstDash val="solid"/>
          </a:ln>
        </p:spPr>
      </p:sp>
      <p:sp>
        <p:nvSpPr>
          <p:cNvPr id="47" name="grid-dot-407"/>
          <p:cNvSpPr/>
          <p:nvPr/>
        </p:nvSpPr>
        <p:spPr>
          <a:xfrm>
            <a:off x="9838944" y="4206240"/>
            <a:ext cx="91440" cy="91440"/>
          </a:xfrm>
          <a:prstGeom prst="ellipse">
            <a:avLst/>
          </a:prstGeom>
          <a:solidFill>
            <a:srgbClr val="B9C7D6"/>
          </a:solidFill>
          <a:ln w="12700">
            <a:solidFill>
              <a:srgbClr val="B9C7D6"/>
            </a:solidFill>
            <a:prstDash val="solid"/>
          </a:ln>
        </p:spPr>
      </p:sp>
      <p:sp>
        <p:nvSpPr>
          <p:cNvPr id="48" name="grid-dot-408"/>
          <p:cNvSpPr/>
          <p:nvPr/>
        </p:nvSpPr>
        <p:spPr>
          <a:xfrm>
            <a:off x="10405872" y="4206240"/>
            <a:ext cx="91440" cy="91440"/>
          </a:xfrm>
          <a:prstGeom prst="ellipse">
            <a:avLst/>
          </a:prstGeom>
          <a:solidFill>
            <a:srgbClr val="B9C7D6"/>
          </a:solidFill>
          <a:ln w="12700">
            <a:solidFill>
              <a:srgbClr val="B9C7D6"/>
            </a:solidFill>
            <a:prstDash val="solid"/>
          </a:ln>
        </p:spPr>
      </p:sp>
      <p:sp>
        <p:nvSpPr>
          <p:cNvPr id="49" name="grid-dot-409"/>
          <p:cNvSpPr/>
          <p:nvPr/>
        </p:nvSpPr>
        <p:spPr>
          <a:xfrm>
            <a:off x="10972800" y="4206240"/>
            <a:ext cx="91440" cy="91440"/>
          </a:xfrm>
          <a:prstGeom prst="ellipse">
            <a:avLst/>
          </a:prstGeom>
          <a:solidFill>
            <a:srgbClr val="B9C7D6"/>
          </a:solidFill>
          <a:ln w="12700">
            <a:solidFill>
              <a:srgbClr val="B9C7D6"/>
            </a:solidFill>
            <a:prstDash val="solid"/>
          </a:ln>
        </p:spPr>
      </p:sp>
      <p:sp>
        <p:nvSpPr>
          <p:cNvPr id="50" name="grid-dot-410"/>
          <p:cNvSpPr/>
          <p:nvPr/>
        </p:nvSpPr>
        <p:spPr>
          <a:xfrm>
            <a:off x="8138160" y="4773168"/>
            <a:ext cx="91440" cy="91440"/>
          </a:xfrm>
          <a:prstGeom prst="ellipse">
            <a:avLst/>
          </a:prstGeom>
          <a:solidFill>
            <a:srgbClr val="B9C7D6"/>
          </a:solidFill>
          <a:ln w="12700">
            <a:solidFill>
              <a:srgbClr val="B9C7D6"/>
            </a:solidFill>
            <a:prstDash val="solid"/>
          </a:ln>
        </p:spPr>
      </p:sp>
      <p:sp>
        <p:nvSpPr>
          <p:cNvPr id="51" name="grid-dot-411"/>
          <p:cNvSpPr/>
          <p:nvPr/>
        </p:nvSpPr>
        <p:spPr>
          <a:xfrm>
            <a:off x="8705088" y="4773168"/>
            <a:ext cx="91440" cy="91440"/>
          </a:xfrm>
          <a:prstGeom prst="ellipse">
            <a:avLst/>
          </a:prstGeom>
          <a:solidFill>
            <a:srgbClr val="B9C7D6"/>
          </a:solidFill>
          <a:ln w="12700">
            <a:solidFill>
              <a:srgbClr val="B9C7D6"/>
            </a:solidFill>
            <a:prstDash val="solid"/>
          </a:ln>
        </p:spPr>
      </p:sp>
      <p:sp>
        <p:nvSpPr>
          <p:cNvPr id="52" name="grid-dot-412"/>
          <p:cNvSpPr/>
          <p:nvPr/>
        </p:nvSpPr>
        <p:spPr>
          <a:xfrm>
            <a:off x="9272016" y="4773168"/>
            <a:ext cx="91440" cy="91440"/>
          </a:xfrm>
          <a:prstGeom prst="ellipse">
            <a:avLst/>
          </a:prstGeom>
          <a:solidFill>
            <a:srgbClr val="B9C7D6"/>
          </a:solidFill>
          <a:ln w="12700">
            <a:solidFill>
              <a:srgbClr val="B9C7D6"/>
            </a:solidFill>
            <a:prstDash val="solid"/>
          </a:ln>
        </p:spPr>
      </p:sp>
      <p:sp>
        <p:nvSpPr>
          <p:cNvPr id="53" name="grid-dot-413"/>
          <p:cNvSpPr/>
          <p:nvPr/>
        </p:nvSpPr>
        <p:spPr>
          <a:xfrm>
            <a:off x="9838944" y="4773168"/>
            <a:ext cx="91440" cy="91440"/>
          </a:xfrm>
          <a:prstGeom prst="ellipse">
            <a:avLst/>
          </a:prstGeom>
          <a:solidFill>
            <a:srgbClr val="B9C7D6"/>
          </a:solidFill>
          <a:ln w="12700">
            <a:solidFill>
              <a:srgbClr val="B9C7D6"/>
            </a:solidFill>
            <a:prstDash val="solid"/>
          </a:ln>
        </p:spPr>
      </p:sp>
      <p:sp>
        <p:nvSpPr>
          <p:cNvPr id="54" name="grid-dot-414"/>
          <p:cNvSpPr/>
          <p:nvPr/>
        </p:nvSpPr>
        <p:spPr>
          <a:xfrm>
            <a:off x="10405872" y="4773168"/>
            <a:ext cx="91440" cy="91440"/>
          </a:xfrm>
          <a:prstGeom prst="ellipse">
            <a:avLst/>
          </a:prstGeom>
          <a:solidFill>
            <a:srgbClr val="B9C7D6"/>
          </a:solidFill>
          <a:ln w="12700">
            <a:solidFill>
              <a:srgbClr val="B9C7D6"/>
            </a:solidFill>
            <a:prstDash val="solid"/>
          </a:ln>
        </p:spPr>
      </p:sp>
      <p:sp>
        <p:nvSpPr>
          <p:cNvPr id="55" name="grid-dot-415"/>
          <p:cNvSpPr/>
          <p:nvPr/>
        </p:nvSpPr>
        <p:spPr>
          <a:xfrm>
            <a:off x="10972800" y="4773168"/>
            <a:ext cx="91440" cy="91440"/>
          </a:xfrm>
          <a:prstGeom prst="ellipse">
            <a:avLst/>
          </a:prstGeom>
          <a:solidFill>
            <a:srgbClr val="B9C7D6"/>
          </a:solidFill>
          <a:ln w="12700">
            <a:solidFill>
              <a:srgbClr val="B9C7D6"/>
            </a:solidFill>
            <a:prstDash val="solid"/>
          </a:ln>
        </p:spPr>
      </p:sp>
      <p:sp>
        <p:nvSpPr>
          <p:cNvPr id="56" name="candidate-region-416"/>
          <p:cNvSpPr/>
          <p:nvPr/>
        </p:nvSpPr>
        <p:spPr>
          <a:xfrm rot="-1200000">
            <a:off x="8915400" y="2990088"/>
            <a:ext cx="1371600" cy="822960"/>
          </a:xfrm>
          <a:prstGeom prst="rect">
            <a:avLst/>
          </a:prstGeom>
          <a:noFill/>
          <a:ln w="22225">
            <a:solidFill>
              <a:schemeClr val="accent1"/>
            </a:solidFill>
            <a:prstDash val="dash"/>
          </a:ln>
        </p:spPr>
      </p:sp>
      <p:sp>
        <p:nvSpPr>
          <p:cNvPr id="57" name="captured-anchor-417"/>
          <p:cNvSpPr/>
          <p:nvPr/>
        </p:nvSpPr>
        <p:spPr>
          <a:xfrm>
            <a:off x="9253728" y="3054096"/>
            <a:ext cx="128016" cy="128016"/>
          </a:xfrm>
          <a:prstGeom prst="ellipse">
            <a:avLst/>
          </a:prstGeom>
          <a:solidFill>
            <a:schemeClr val="accent1"/>
          </a:solidFill>
          <a:ln w="12700">
            <a:solidFill>
              <a:schemeClr val="accent1"/>
            </a:solidFill>
            <a:prstDash val="solid"/>
          </a:ln>
        </p:spPr>
      </p:sp>
      <p:sp>
        <p:nvSpPr>
          <p:cNvPr id="58" name="captured-anchor-418"/>
          <p:cNvSpPr/>
          <p:nvPr/>
        </p:nvSpPr>
        <p:spPr>
          <a:xfrm>
            <a:off x="9820656" y="3054096"/>
            <a:ext cx="128016" cy="128016"/>
          </a:xfrm>
          <a:prstGeom prst="ellipse">
            <a:avLst/>
          </a:prstGeom>
          <a:solidFill>
            <a:schemeClr val="accent1"/>
          </a:solidFill>
          <a:ln w="12700">
            <a:solidFill>
              <a:schemeClr val="accent1"/>
            </a:solidFill>
            <a:prstDash val="solid"/>
          </a:ln>
        </p:spPr>
      </p:sp>
      <p:sp>
        <p:nvSpPr>
          <p:cNvPr id="59" name="captured-anchor-419"/>
          <p:cNvSpPr/>
          <p:nvPr/>
        </p:nvSpPr>
        <p:spPr>
          <a:xfrm>
            <a:off x="9253728" y="3621024"/>
            <a:ext cx="128016" cy="128016"/>
          </a:xfrm>
          <a:prstGeom prst="ellipse">
            <a:avLst/>
          </a:prstGeom>
          <a:solidFill>
            <a:schemeClr val="accent1"/>
          </a:solidFill>
          <a:ln w="12700">
            <a:solidFill>
              <a:schemeClr val="accent1"/>
            </a:solidFill>
            <a:prstDash val="solid"/>
          </a:ln>
        </p:spPr>
      </p:sp>
      <p:sp>
        <p:nvSpPr>
          <p:cNvPr id="60" name="captured-anchor-420"/>
          <p:cNvSpPr/>
          <p:nvPr/>
        </p:nvSpPr>
        <p:spPr>
          <a:xfrm>
            <a:off x="9820656" y="3621024"/>
            <a:ext cx="128016" cy="128016"/>
          </a:xfrm>
          <a:prstGeom prst="ellipse">
            <a:avLst/>
          </a:prstGeom>
          <a:solidFill>
            <a:schemeClr val="accent1"/>
          </a:solidFill>
          <a:ln w="12700">
            <a:solidFill>
              <a:schemeClr val="accent1"/>
            </a:solidFill>
            <a:prstDash val="solid"/>
          </a:ln>
        </p:spPr>
      </p:sp>
      <p:sp>
        <p:nvSpPr>
          <p:cNvPr id="61" name="tiny-box-421"/>
          <p:cNvSpPr/>
          <p:nvPr/>
        </p:nvSpPr>
        <p:spPr>
          <a:xfrm rot="-1200000">
            <a:off x="9317736" y="3300984"/>
            <a:ext cx="566928" cy="201168"/>
          </a:xfrm>
          <a:prstGeom prst="rect">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183112" y="6400800"/>
            <a:ext cx="45720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B9C7D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Group7 Tiny OBB">
  <a:themeElements>
    <a:clrScheme name="Group7 Tiny OBB">
      <a:dk1>
        <a:srgbClr val="102A43"/>
      </a:dk1>
      <a:lt1>
        <a:srgbClr val="FFFFFF"/>
      </a:lt1>
      <a:dk2>
        <a:srgbClr val="1D3B5A"/>
      </a:dk2>
      <a:lt2>
        <a:srgbClr val="F2F5F8"/>
      </a:lt2>
      <a:accent1>
        <a:srgbClr val="F47920"/>
      </a:accent1>
      <a:accent2>
        <a:srgbClr val="B4500A"/>
      </a:accent2>
      <a:accent3>
        <a:srgbClr val="007CB6"/>
      </a:accent3>
      <a:accent4>
        <a:srgbClr val="00807B"/>
      </a:accent4>
      <a:accent5>
        <a:srgbClr val="C8553D"/>
      </a:accent5>
      <a:accent6>
        <a:srgbClr val="526575"/>
      </a:accent6>
      <a:hlink>
        <a:srgbClr val="007CB6"/>
      </a:hlink>
      <a:folHlink>
        <a:srgbClr val="526575"/>
      </a:folHlink>
    </a:clrScheme>
    <a:fontScheme name="Group7 Tiny OB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Do Tiny Oriented Objects Lose Their Training Signal? — Research proposal</dc:title>
  <dc:subject>PptxGenJS Presentation</dc:subject>
  <dc:creator>Group 7</dc:creator>
  <cp:lastModifiedBy>Group 7</cp:lastModifiedBy>
  <cp:revision>1</cp:revision>
  <dcterms:created xsi:type="dcterms:W3CDTF">2026-10-08T16:27:30Z</dcterms:created>
  <dcterms:modified xsi:type="dcterms:W3CDTF">2026-10-08T16:27:30Z</dcterms:modified>
</cp:coreProperties>
</file>